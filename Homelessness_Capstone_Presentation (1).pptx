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Roboto Black"/>
      <p:bold r:id="rId49"/>
      <p:boldItalic r:id="rId50"/>
    </p:embeddedFont>
    <p:embeddedFont>
      <p:font typeface="Red Hat Display SemiBold"/>
      <p:regular r:id="rId51"/>
      <p:bold r:id="rId52"/>
      <p:italic r:id="rId53"/>
      <p:boldItalic r:id="rId54"/>
    </p:embeddedFont>
    <p:embeddedFont>
      <p:font typeface="Roboto"/>
      <p:regular r:id="rId55"/>
      <p:bold r:id="rId56"/>
      <p:italic r:id="rId57"/>
      <p:boldItalic r:id="rId58"/>
    </p:embeddedFont>
    <p:embeddedFont>
      <p:font typeface="Roboto Medium"/>
      <p:regular r:id="rId59"/>
      <p:bold r:id="rId60"/>
      <p:italic r:id="rId61"/>
      <p:boldItalic r:id="rId62"/>
    </p:embeddedFont>
    <p:embeddedFont>
      <p:font typeface="Days One"/>
      <p:regular r:id="rId63"/>
    </p:embeddedFont>
    <p:embeddedFont>
      <p:font typeface="Red Hat Display"/>
      <p:regular r:id="rId64"/>
      <p:bold r:id="rId65"/>
      <p:italic r:id="rId66"/>
      <p:boldItalic r:id="rId67"/>
    </p:embeddedFont>
    <p:embeddedFont>
      <p:font typeface="Roboto Light"/>
      <p:regular r:id="rId68"/>
      <p:bold r:id="rId69"/>
      <p:italic r:id="rId70"/>
      <p:boldItalic r:id="rId71"/>
    </p:embeddedFont>
    <p:embeddedFont>
      <p:font typeface="Albert Sans"/>
      <p:regular r:id="rId72"/>
      <p:bold r:id="rId73"/>
      <p:italic r:id="rId74"/>
      <p:boldItalic r:id="rId75"/>
    </p:embeddedFont>
    <p:embeddedFont>
      <p:font typeface="Oswald"/>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302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3DC652-8713-4B50-A93F-D350B0A785AA}">
  <a:tblStyle styleId="{103DC652-8713-4B50-A93F-D350B0A785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8417AAB-C598-4093-861E-54810CBB32D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02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Roboto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AlbertSans-bold.fntdata"/><Relationship Id="rId72" Type="http://schemas.openxmlformats.org/officeDocument/2006/relationships/font" Target="fonts/AlbertSans-regular.fntdata"/><Relationship Id="rId31" Type="http://schemas.openxmlformats.org/officeDocument/2006/relationships/slide" Target="slides/slide25.xml"/><Relationship Id="rId75" Type="http://schemas.openxmlformats.org/officeDocument/2006/relationships/font" Target="fonts/AlbertSans-boldItalic.fntdata"/><Relationship Id="rId30" Type="http://schemas.openxmlformats.org/officeDocument/2006/relationships/slide" Target="slides/slide24.xml"/><Relationship Id="rId74" Type="http://schemas.openxmlformats.org/officeDocument/2006/relationships/font" Target="fonts/AlbertSans-italic.fntdata"/><Relationship Id="rId33" Type="http://schemas.openxmlformats.org/officeDocument/2006/relationships/slide" Target="slides/slide27.xml"/><Relationship Id="rId77" Type="http://schemas.openxmlformats.org/officeDocument/2006/relationships/font" Target="fonts/Oswald-bold.fntdata"/><Relationship Id="rId32" Type="http://schemas.openxmlformats.org/officeDocument/2006/relationships/slide" Target="slides/slide26.xml"/><Relationship Id="rId76" Type="http://schemas.openxmlformats.org/officeDocument/2006/relationships/font" Target="fonts/Oswald-regular.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Light-boldItalic.fntdata"/><Relationship Id="rId70" Type="http://schemas.openxmlformats.org/officeDocument/2006/relationships/font" Target="fonts/RobotoLight-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boldItalic.fntdata"/><Relationship Id="rId61" Type="http://schemas.openxmlformats.org/officeDocument/2006/relationships/font" Target="fonts/RobotoMedium-italic.fntdata"/><Relationship Id="rId20" Type="http://schemas.openxmlformats.org/officeDocument/2006/relationships/slide" Target="slides/slide14.xml"/><Relationship Id="rId64" Type="http://schemas.openxmlformats.org/officeDocument/2006/relationships/font" Target="fonts/RedHatDisplay-regular.fntdata"/><Relationship Id="rId63" Type="http://schemas.openxmlformats.org/officeDocument/2006/relationships/font" Target="fonts/DaysOne-regular.fntdata"/><Relationship Id="rId22" Type="http://schemas.openxmlformats.org/officeDocument/2006/relationships/slide" Target="slides/slide16.xml"/><Relationship Id="rId66" Type="http://schemas.openxmlformats.org/officeDocument/2006/relationships/font" Target="fonts/RedHatDisplay-italic.fntdata"/><Relationship Id="rId21" Type="http://schemas.openxmlformats.org/officeDocument/2006/relationships/slide" Target="slides/slide15.xml"/><Relationship Id="rId65" Type="http://schemas.openxmlformats.org/officeDocument/2006/relationships/font" Target="fonts/RedHatDisplay-bold.fntdata"/><Relationship Id="rId24" Type="http://schemas.openxmlformats.org/officeDocument/2006/relationships/slide" Target="slides/slide18.xml"/><Relationship Id="rId68" Type="http://schemas.openxmlformats.org/officeDocument/2006/relationships/font" Target="fonts/RobotoLight-regular.fntdata"/><Relationship Id="rId23" Type="http://schemas.openxmlformats.org/officeDocument/2006/relationships/slide" Target="slides/slide17.xml"/><Relationship Id="rId67" Type="http://schemas.openxmlformats.org/officeDocument/2006/relationships/font" Target="fonts/RedHatDisplay-boldItalic.fntdata"/><Relationship Id="rId60" Type="http://schemas.openxmlformats.org/officeDocument/2006/relationships/font" Target="fonts/RobotoMedium-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Ligh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edHatDisplaySemiBold-regular.fntdata"/><Relationship Id="rId50" Type="http://schemas.openxmlformats.org/officeDocument/2006/relationships/font" Target="fonts/RobotoBlack-boldItalic.fntdata"/><Relationship Id="rId53" Type="http://schemas.openxmlformats.org/officeDocument/2006/relationships/font" Target="fonts/RedHatDisplaySemiBold-italic.fntdata"/><Relationship Id="rId52" Type="http://schemas.openxmlformats.org/officeDocument/2006/relationships/font" Target="fonts/RedHatDisplaySemiBold-bold.fntdata"/><Relationship Id="rId11" Type="http://schemas.openxmlformats.org/officeDocument/2006/relationships/slide" Target="slides/slide5.xml"/><Relationship Id="rId55" Type="http://schemas.openxmlformats.org/officeDocument/2006/relationships/font" Target="fonts/Roboto-regular.fntdata"/><Relationship Id="rId10" Type="http://schemas.openxmlformats.org/officeDocument/2006/relationships/slide" Target="slides/slide4.xml"/><Relationship Id="rId54" Type="http://schemas.openxmlformats.org/officeDocument/2006/relationships/font" Target="fonts/RedHatDisplaySemiBold-boldItalic.fntdata"/><Relationship Id="rId13" Type="http://schemas.openxmlformats.org/officeDocument/2006/relationships/slide" Target="slides/slide7.xml"/><Relationship Id="rId57" Type="http://schemas.openxmlformats.org/officeDocument/2006/relationships/font" Target="fonts/Roboto-italic.fntdata"/><Relationship Id="rId12" Type="http://schemas.openxmlformats.org/officeDocument/2006/relationships/slide" Target="slides/slide6.xml"/><Relationship Id="rId56" Type="http://schemas.openxmlformats.org/officeDocument/2006/relationships/font" Target="fonts/Roboto-bold.fntdata"/><Relationship Id="rId15" Type="http://schemas.openxmlformats.org/officeDocument/2006/relationships/slide" Target="slides/slide9.xml"/><Relationship Id="rId59" Type="http://schemas.openxmlformats.org/officeDocument/2006/relationships/font" Target="fonts/RobotoMedium-regular.fntdata"/><Relationship Id="rId14" Type="http://schemas.openxmlformats.org/officeDocument/2006/relationships/slide" Target="slides/slide8.xml"/><Relationship Id="rId58" Type="http://schemas.openxmlformats.org/officeDocument/2006/relationships/font" Target="fonts/Robo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151343d8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151343d8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began this capstone with a simple goal: investigate a question that matters to professionals working directly in homelessness services.</a:t>
            </a:r>
            <a:endParaRPr/>
          </a:p>
          <a:p>
            <a:pPr indent="0" lvl="0" marL="0" rtl="0" algn="l">
              <a:lnSpc>
                <a:spcPct val="115000"/>
              </a:lnSpc>
              <a:spcBef>
                <a:spcPts val="1200"/>
              </a:spcBef>
              <a:spcAft>
                <a:spcPts val="0"/>
              </a:spcAft>
              <a:buClr>
                <a:schemeClr val="dk1"/>
              </a:buClr>
              <a:buSzPts val="1100"/>
              <a:buFont typeface="Arial"/>
              <a:buNone/>
            </a:pPr>
            <a:r>
              <a:rPr lang="en"/>
              <a:t>Rather than starting with a dataset, we started with a real-world problem and asked whether public data could help us understand it.</a:t>
            </a:r>
            <a:endParaRPr/>
          </a:p>
          <a:p>
            <a:pPr indent="0" lvl="0" marL="0" rtl="0" algn="l">
              <a:lnSpc>
                <a:spcPct val="115000"/>
              </a:lnSpc>
              <a:spcBef>
                <a:spcPts val="1200"/>
              </a:spcBef>
              <a:spcAft>
                <a:spcPts val="0"/>
              </a:spcAft>
              <a:buClr>
                <a:schemeClr val="dk1"/>
              </a:buClr>
              <a:buSzPts val="1100"/>
              <a:buFont typeface="Arial"/>
              <a:buNone/>
            </a:pPr>
            <a:r>
              <a:rPr lang="en"/>
              <a:t>What we discovered ultimately changed the direction of the project.</a:t>
            </a:r>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151343d8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f151343d8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ef6cb18ed2_4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ef6cb18ed2_4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dd4be07bb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edd4be07bb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ef2a2bbb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ef2a2bbb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edd4be07bb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edd4be07bb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E101A"/>
              </a:solidFill>
              <a:latin typeface="Roboto Light"/>
              <a:ea typeface="Roboto Light"/>
              <a:cs typeface="Roboto Light"/>
              <a:sym typeface="Roboto 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13507450b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f13507450b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154ac4bf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f154ac4bf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800">
              <a:solidFill>
                <a:srgbClr val="0E101A"/>
              </a:solidFill>
              <a:latin typeface="Roboto Light"/>
              <a:ea typeface="Roboto Light"/>
              <a:cs typeface="Roboto Light"/>
              <a:sym typeface="Roboto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ef6cb18ed2_4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ef6cb18ed2_4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dd4be07bb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edd4be07bb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ef5710040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ef5710040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f151343d8c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f151343d8c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f13507450b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f13507450b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represents two different kinds of missing pieces. First, some of the public datasets we used were incomplete. For example, the County Health Rankings provider data included a Site Subtype field, but those labels were missing for New Mexico. This prevented us from distinguishing among different types of healthcare facilities and services.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Second, more detailed homelessness data may exist through systems such as HMIS and through local studies including PICKUP and HOMES, but those data were not publicly accessible to our team. Without individual-level or longitudinal information, we could not connect healthcare use, service participation, and later housing outcomes.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ef6cb18ed2_4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ef6cb18ed2_4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ef6cb18ed2_4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ef6cb18ed2_4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ef6cb18ed2_4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ef6cb18ed2_4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ef6cb18ed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ef6cb18ed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f27b17304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f27b17304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edfe31450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edfe31450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of these categories–supervised and unsupervised–were covered in this course.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edfe31450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edfe31450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dfe314509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edfe314509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edfe314509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edfe314509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of these categories–supervised and unsupervised–were covered in this course.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edfe31450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edfe31450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of these categories–supervised and unsupervised–were covered in this course.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edd4be07b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edd4be07b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ef6708c22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3ef6708c22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ef6708c220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ef6708c220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ef6cb18ed2_5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ef6cb18ed2_5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ef6708c220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ef6708c220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f6708c220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ef6708c220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ef5710040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ef57100408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f6cb18ed2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ef6cb18ed2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ef6708c22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ef6708c220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f6708c22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ef6708c22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edfe31450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edfe31450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edd4be07bb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edd4be07bb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151343d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f151343d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Our initial plan was straightforward.</a:t>
            </a:r>
            <a:endParaRPr/>
          </a:p>
          <a:p>
            <a:pPr indent="0" lvl="0" marL="0" rtl="0" algn="l">
              <a:lnSpc>
                <a:spcPct val="100000"/>
              </a:lnSpc>
              <a:spcBef>
                <a:spcPts val="0"/>
              </a:spcBef>
              <a:spcAft>
                <a:spcPts val="0"/>
              </a:spcAft>
              <a:buNone/>
            </a:pPr>
            <a:r>
              <a:rPr lang="en"/>
              <a:t>We identified multiple public datasets that appeared relevant to the question and began evaluating how they could be combined.</a:t>
            </a:r>
            <a:endParaRPr/>
          </a:p>
          <a:p>
            <a:pPr indent="0" lvl="0" marL="0" rtl="0" algn="l">
              <a:lnSpc>
                <a:spcPct val="100000"/>
              </a:lnSpc>
              <a:spcBef>
                <a:spcPts val="0"/>
              </a:spcBef>
              <a:spcAft>
                <a:spcPts val="0"/>
              </a:spcAft>
              <a:buNone/>
            </a:pPr>
            <a:r>
              <a:rPr lang="en"/>
              <a:t>We collected homelessness data, healthcare access measures, provider information, and demographic indicators.</a:t>
            </a:r>
            <a:endParaRPr/>
          </a:p>
          <a:p>
            <a:pPr indent="0" lvl="0" marL="0" rtl="0" algn="l">
              <a:lnSpc>
                <a:spcPct val="100000"/>
              </a:lnSpc>
              <a:spcBef>
                <a:spcPts val="0"/>
              </a:spcBef>
              <a:spcAft>
                <a:spcPts val="0"/>
              </a:spcAft>
              <a:buNone/>
            </a:pPr>
            <a:r>
              <a:rPr lang="en"/>
              <a:t>At this point in the project, we believed the primary challenge would be analysis.</a:t>
            </a:r>
            <a:endParaRPr/>
          </a:p>
          <a:p>
            <a:pPr indent="0" lvl="0" marL="0" rtl="0" algn="l">
              <a:lnSpc>
                <a:spcPct val="100000"/>
              </a:lnSpc>
              <a:spcBef>
                <a:spcPts val="0"/>
              </a:spcBef>
              <a:spcAft>
                <a:spcPts val="0"/>
              </a:spcAft>
              <a:buClr>
                <a:schemeClr val="dk1"/>
              </a:buClr>
              <a:buSzPts val="1100"/>
              <a:buFont typeface="Arial"/>
              <a:buNone/>
            </a:pPr>
            <a:r>
              <a:rPr lang="en"/>
              <a:t>We soon discovered that the real challenge was the data itself.</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13507450b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3f13507450b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f13507450b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f13507450b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conducted an informational interview with Korina, Executive Director of Healthcare for the Homeless at La Familia in Santa Fe. Together we discussed questions professionals in the field would like answered. One question stood out: Is there a measurable relationship between healthcare access and housing stability outcomes?"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f151343d8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3f151343d8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conducted an informational interview with Korina, Executive Director of Healthcare for the Homeless at La Familia in Santa Fe. Together we discussed questions professionals in the field would like answered. One question stood out: Is there a measurable relationship between healthcare access and housing stability outcomes?"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f151343d8c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3f151343d8c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f13507450b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f13507450b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began this capstone with a simple goal: investigate a question that matters to professionals working directly in homelessness services.</a:t>
            </a:r>
            <a:endParaRPr/>
          </a:p>
          <a:p>
            <a:pPr indent="0" lvl="0" marL="0" rtl="0" algn="l">
              <a:lnSpc>
                <a:spcPct val="115000"/>
              </a:lnSpc>
              <a:spcBef>
                <a:spcPts val="1200"/>
              </a:spcBef>
              <a:spcAft>
                <a:spcPts val="0"/>
              </a:spcAft>
              <a:buClr>
                <a:schemeClr val="dk1"/>
              </a:buClr>
              <a:buSzPts val="1100"/>
              <a:buFont typeface="Arial"/>
              <a:buNone/>
            </a:pPr>
            <a:r>
              <a:rPr lang="en"/>
              <a:t>Rather than starting with a dataset, we started with a real-world problem and asked whether public data could help us understand it.</a:t>
            </a:r>
            <a:endParaRPr/>
          </a:p>
          <a:p>
            <a:pPr indent="0" lvl="0" marL="0" rtl="0" algn="l">
              <a:lnSpc>
                <a:spcPct val="115000"/>
              </a:lnSpc>
              <a:spcBef>
                <a:spcPts val="1200"/>
              </a:spcBef>
              <a:spcAft>
                <a:spcPts val="0"/>
              </a:spcAft>
              <a:buClr>
                <a:schemeClr val="dk1"/>
              </a:buClr>
              <a:buSzPts val="1100"/>
              <a:buFont typeface="Arial"/>
              <a:buNone/>
            </a:pPr>
            <a:r>
              <a:rPr lang="en"/>
              <a:t>What we discovered ultimately changed the direction of the project.</a:t>
            </a:r>
            <a:endParaRPr/>
          </a:p>
          <a:p>
            <a:pPr indent="0" lvl="0" marL="0" rtl="0" algn="l">
              <a:spcBef>
                <a:spcPts val="120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f154ac4bf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3f154ac4bf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section dividers">
  <p:cSld name="CUSTOM_1">
    <p:spTree>
      <p:nvGrpSpPr>
        <p:cNvPr id="9" name="Shape 9"/>
        <p:cNvGrpSpPr/>
        <p:nvPr/>
      </p:nvGrpSpPr>
      <p:grpSpPr>
        <a:xfrm>
          <a:off x="0" y="0"/>
          <a:ext cx="0" cy="0"/>
          <a:chOff x="0" y="0"/>
          <a:chExt cx="0" cy="0"/>
        </a:xfrm>
      </p:grpSpPr>
      <p:sp>
        <p:nvSpPr>
          <p:cNvPr id="10" name="Google Shape;10;p2"/>
          <p:cNvSpPr txBox="1"/>
          <p:nvPr>
            <p:ph idx="1" type="subTitle"/>
          </p:nvPr>
        </p:nvSpPr>
        <p:spPr>
          <a:xfrm>
            <a:off x="723675" y="3913000"/>
            <a:ext cx="3575700" cy="732300"/>
          </a:xfrm>
          <a:prstGeom prst="rect">
            <a:avLst/>
          </a:prstGeom>
        </p:spPr>
        <p:txBody>
          <a:bodyPr anchorCtr="0" anchor="t" bIns="91425" lIns="91425" spcFirstLastPara="1" rIns="91425" wrap="square" tIns="91425">
            <a:spAutoFit/>
          </a:bodyPr>
          <a:lstStyle>
            <a:lvl1pPr lvl="0">
              <a:spcBef>
                <a:spcPts val="0"/>
              </a:spcBef>
              <a:spcAft>
                <a:spcPts val="0"/>
              </a:spcAft>
              <a:buSzPts val="1300"/>
              <a:buFont typeface="Roboto Light"/>
              <a:buNone/>
              <a:defRPr sz="1300">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2"/>
          <p:cNvSpPr txBox="1"/>
          <p:nvPr>
            <p:ph idx="2" type="subTitle"/>
          </p:nvPr>
        </p:nvSpPr>
        <p:spPr>
          <a:xfrm>
            <a:off x="723675" y="3518125"/>
            <a:ext cx="3272400" cy="732300"/>
          </a:xfrm>
          <a:prstGeom prst="rect">
            <a:avLst/>
          </a:prstGeom>
        </p:spPr>
        <p:txBody>
          <a:bodyPr anchorCtr="0" anchor="t" bIns="91425" lIns="91425" spcFirstLastPara="1" rIns="91425" wrap="square" tIns="91425">
            <a:spAutoFit/>
          </a:bodyPr>
          <a:lstStyle>
            <a:lvl1pPr lvl="0">
              <a:spcBef>
                <a:spcPts val="0"/>
              </a:spcBef>
              <a:spcAft>
                <a:spcPts val="0"/>
              </a:spcAft>
              <a:buSzPts val="23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3" type="subTitle"/>
          </p:nvPr>
        </p:nvSpPr>
        <p:spPr>
          <a:xfrm>
            <a:off x="4695750" y="3913000"/>
            <a:ext cx="2665500" cy="732300"/>
          </a:xfrm>
          <a:prstGeom prst="rect">
            <a:avLst/>
          </a:prstGeom>
        </p:spPr>
        <p:txBody>
          <a:bodyPr anchorCtr="0" anchor="t" bIns="91425" lIns="91425" spcFirstLastPara="1" rIns="91425" wrap="square" tIns="91425">
            <a:spAutoFit/>
          </a:bodyPr>
          <a:lstStyle>
            <a:lvl1pPr lvl="0">
              <a:spcBef>
                <a:spcPts val="0"/>
              </a:spcBef>
              <a:spcAft>
                <a:spcPts val="0"/>
              </a:spcAft>
              <a:buSzPts val="1300"/>
              <a:buFont typeface="Roboto Light"/>
              <a:buNone/>
              <a:defRPr sz="1300">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title"/>
          </p:nvPr>
        </p:nvSpPr>
        <p:spPr>
          <a:xfrm>
            <a:off x="619550" y="304425"/>
            <a:ext cx="6442800" cy="14058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 name="Google Shape;15;p2"/>
          <p:cNvSpPr txBox="1"/>
          <p:nvPr>
            <p:ph idx="5"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 name="Google Shape;16;p2"/>
          <p:cNvSpPr txBox="1"/>
          <p:nvPr>
            <p:ph idx="6" type="subTitle"/>
          </p:nvPr>
        </p:nvSpPr>
        <p:spPr>
          <a:xfrm rot="-5400000">
            <a:off x="7076550" y="4568500"/>
            <a:ext cx="822900" cy="2457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 name="Google Shape;17;p2"/>
          <p:cNvSpPr txBox="1"/>
          <p:nvPr>
            <p:ph idx="7" type="subTitle"/>
          </p:nvPr>
        </p:nvSpPr>
        <p:spPr>
          <a:xfrm rot="-5400000">
            <a:off x="7071825"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 name="Google Shape;18;p2"/>
          <p:cNvSpPr txBox="1"/>
          <p:nvPr>
            <p:ph idx="8" type="subTitle"/>
          </p:nvPr>
        </p:nvSpPr>
        <p:spPr>
          <a:xfrm rot="-5400000">
            <a:off x="7331117"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 name="Google Shape;19;p2"/>
          <p:cNvSpPr txBox="1"/>
          <p:nvPr>
            <p:ph idx="9" type="subTitle"/>
          </p:nvPr>
        </p:nvSpPr>
        <p:spPr>
          <a:xfrm rot="-5400000">
            <a:off x="7294517"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 name="Google Shape;20;p2"/>
          <p:cNvSpPr txBox="1"/>
          <p:nvPr>
            <p:ph idx="13" type="subTitle"/>
          </p:nvPr>
        </p:nvSpPr>
        <p:spPr>
          <a:xfrm rot="-5400000">
            <a:off x="7584608"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 name="Google Shape;21;p2"/>
          <p:cNvSpPr txBox="1"/>
          <p:nvPr>
            <p:ph idx="14" type="subTitle"/>
          </p:nvPr>
        </p:nvSpPr>
        <p:spPr>
          <a:xfrm rot="-5400000">
            <a:off x="7170763"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 name="Google Shape;22;p2"/>
          <p:cNvSpPr txBox="1"/>
          <p:nvPr>
            <p:ph idx="15" type="subTitle"/>
          </p:nvPr>
        </p:nvSpPr>
        <p:spPr>
          <a:xfrm rot="-5400000">
            <a:off x="7548008"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 name="Google Shape;23;p2"/>
          <p:cNvSpPr txBox="1"/>
          <p:nvPr>
            <p:ph idx="16" type="subTitle"/>
          </p:nvPr>
        </p:nvSpPr>
        <p:spPr>
          <a:xfrm rot="-5400000">
            <a:off x="7838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 name="Google Shape;24;p2"/>
          <p:cNvSpPr txBox="1"/>
          <p:nvPr>
            <p:ph idx="17" type="subTitle"/>
          </p:nvPr>
        </p:nvSpPr>
        <p:spPr>
          <a:xfrm rot="-5400000">
            <a:off x="78015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5" name="Google Shape;25;p2"/>
          <p:cNvSpPr txBox="1"/>
          <p:nvPr>
            <p:ph idx="18"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6" name="Google Shape;26;p2"/>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7" name="Google Shape;27;p2"/>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8" name="Google Shape;28;p2"/>
          <p:cNvSpPr txBox="1"/>
          <p:nvPr>
            <p:ph idx="21" type="subTitle"/>
          </p:nvPr>
        </p:nvSpPr>
        <p:spPr>
          <a:xfrm rot="-5400000">
            <a:off x="8348950" y="4567150"/>
            <a:ext cx="822900" cy="2484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9" name="Google Shape;29;p2"/>
          <p:cNvSpPr txBox="1"/>
          <p:nvPr>
            <p:ph idx="22"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0" name="Google Shape;30;p2"/>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1" name="Google Shape;31;p2"/>
          <p:cNvSpPr txBox="1"/>
          <p:nvPr>
            <p:ph idx="24" type="subTitle"/>
          </p:nvPr>
        </p:nvSpPr>
        <p:spPr>
          <a:xfrm rot="-5400000">
            <a:off x="80915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2" name="Google Shape;32;p2"/>
          <p:cNvSpPr txBox="1"/>
          <p:nvPr>
            <p:ph idx="25" type="subTitle"/>
          </p:nvPr>
        </p:nvSpPr>
        <p:spPr>
          <a:xfrm rot="-5400000">
            <a:off x="80549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3" name="Google Shape;33;p2"/>
          <p:cNvSpPr txBox="1"/>
          <p:nvPr>
            <p:ph idx="26"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4" name="Google Shape;34;p2"/>
          <p:cNvSpPr txBox="1"/>
          <p:nvPr>
            <p:ph idx="27" type="subTitle"/>
          </p:nvPr>
        </p:nvSpPr>
        <p:spPr>
          <a:xfrm rot="-5400000">
            <a:off x="6668850" y="2448450"/>
            <a:ext cx="1642800" cy="2466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5" name="Google Shape;35;p2"/>
          <p:cNvSpPr txBox="1"/>
          <p:nvPr>
            <p:ph idx="28" type="subTitle"/>
          </p:nvPr>
        </p:nvSpPr>
        <p:spPr>
          <a:xfrm rot="-5400000">
            <a:off x="6930126" y="2447400"/>
            <a:ext cx="1642800" cy="2487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6" name="Google Shape;36;p2"/>
          <p:cNvSpPr txBox="1"/>
          <p:nvPr>
            <p:ph idx="29" type="subTitle"/>
          </p:nvPr>
        </p:nvSpPr>
        <p:spPr>
          <a:xfrm rot="-5400000">
            <a:off x="7435629" y="2445450"/>
            <a:ext cx="1642800" cy="2526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7" name="Google Shape;37;p2"/>
          <p:cNvSpPr txBox="1"/>
          <p:nvPr>
            <p:ph idx="30" type="subTitle"/>
          </p:nvPr>
        </p:nvSpPr>
        <p:spPr>
          <a:xfrm rot="-5400000">
            <a:off x="76908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797">
          <p15:clr>
            <a:srgbClr val="E46962"/>
          </p15:clr>
        </p15:guide>
        <p15:guide id="6" pos="4956">
          <p15:clr>
            <a:srgbClr val="E46962"/>
          </p15:clr>
        </p15:guide>
        <p15:guide id="7" pos="5116">
          <p15:clr>
            <a:srgbClr val="E46962"/>
          </p15:clr>
        </p15:guide>
        <p15:guide id="8" pos="5276">
          <p15:clr>
            <a:srgbClr val="E46962"/>
          </p15:clr>
        </p15:guide>
        <p15:guide id="9" pos="5442">
          <p15:clr>
            <a:srgbClr val="E46962"/>
          </p15:clr>
        </p15:guide>
        <p15:guide id="10" pos="5595">
          <p15:clr>
            <a:srgbClr val="E46962"/>
          </p15:clr>
        </p15:guide>
        <p15:guide id="11" pos="390">
          <p15:clr>
            <a:srgbClr val="E46962"/>
          </p15:clr>
        </p15:guide>
        <p15:guide id="12" pos="5760">
          <p15:clr>
            <a:srgbClr val="E46962"/>
          </p15:clr>
        </p15:guide>
        <p15:guide id="13" orient="horz" pos="168">
          <p15:clr>
            <a:srgbClr val="E46962"/>
          </p15:clr>
        </p15:guide>
        <p15:guide id="14" orient="horz" pos="31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with section dividers">
  <p:cSld name="CUSTOM_1_1">
    <p:spTree>
      <p:nvGrpSpPr>
        <p:cNvPr id="38" name="Shape 38"/>
        <p:cNvGrpSpPr/>
        <p:nvPr/>
      </p:nvGrpSpPr>
      <p:grpSpPr>
        <a:xfrm>
          <a:off x="0" y="0"/>
          <a:ext cx="0" cy="0"/>
          <a:chOff x="0" y="0"/>
          <a:chExt cx="0" cy="0"/>
        </a:xfrm>
      </p:grpSpPr>
      <p:sp>
        <p:nvSpPr>
          <p:cNvPr id="39" name="Google Shape;39;p3"/>
          <p:cNvSpPr txBox="1"/>
          <p:nvPr>
            <p:ph idx="1" type="subTitle"/>
          </p:nvPr>
        </p:nvSpPr>
        <p:spPr>
          <a:xfrm>
            <a:off x="923475" y="1557650"/>
            <a:ext cx="2942700" cy="1051800"/>
          </a:xfrm>
          <a:prstGeom prst="rect">
            <a:avLst/>
          </a:prstGeom>
        </p:spPr>
        <p:txBody>
          <a:bodyPr anchorCtr="0" anchor="t" bIns="91425" lIns="91425" spcFirstLastPara="1" rIns="91425" wrap="square" tIns="91425">
            <a:spAutoFit/>
          </a:bodyPr>
          <a:lstStyle>
            <a:lvl1pPr lvl="0">
              <a:spcBef>
                <a:spcPts val="0"/>
              </a:spcBef>
              <a:spcAft>
                <a:spcPts val="0"/>
              </a:spcAft>
              <a:buSzPts val="4900"/>
              <a:buNone/>
              <a:defRPr sz="4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
          <p:cNvSpPr txBox="1"/>
          <p:nvPr>
            <p:ph idx="2" type="subTitle"/>
          </p:nvPr>
        </p:nvSpPr>
        <p:spPr>
          <a:xfrm>
            <a:off x="923475" y="2455725"/>
            <a:ext cx="2755800" cy="1051800"/>
          </a:xfrm>
          <a:prstGeom prst="rect">
            <a:avLst/>
          </a:prstGeom>
        </p:spPr>
        <p:txBody>
          <a:bodyPr anchorCtr="0" anchor="t" bIns="91425" lIns="91425" spcFirstLastPara="1" rIns="91425" wrap="square" tIns="91425">
            <a:spAutoFit/>
          </a:bodyPr>
          <a:lstStyle>
            <a:lvl1pPr lvl="0">
              <a:spcBef>
                <a:spcPts val="0"/>
              </a:spcBef>
              <a:spcAft>
                <a:spcPts val="0"/>
              </a:spcAft>
              <a:buSzPts val="1300"/>
              <a:buFont typeface="Roboto Light"/>
              <a:buNone/>
              <a:defRPr sz="1300">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
          <p:cNvSpPr/>
          <p:nvPr>
            <p:ph idx="3" type="pic"/>
          </p:nvPr>
        </p:nvSpPr>
        <p:spPr>
          <a:xfrm>
            <a:off x="4163550" y="479400"/>
            <a:ext cx="3071400" cy="3433200"/>
          </a:xfrm>
          <a:prstGeom prst="roundRect">
            <a:avLst>
              <a:gd fmla="val 7131" name="adj"/>
            </a:avLst>
          </a:prstGeom>
          <a:noFill/>
          <a:ln>
            <a:noFill/>
          </a:ln>
        </p:spPr>
      </p:sp>
      <p:sp>
        <p:nvSpPr>
          <p:cNvPr id="42" name="Google Shape;42;p3"/>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3" name="Google Shape;43;p3"/>
          <p:cNvSpPr txBox="1"/>
          <p:nvPr>
            <p:ph idx="5"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4" name="Google Shape;44;p3"/>
          <p:cNvSpPr txBox="1"/>
          <p:nvPr>
            <p:ph idx="6"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5" name="Google Shape;45;p3"/>
          <p:cNvSpPr txBox="1"/>
          <p:nvPr>
            <p:ph idx="7"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6" name="Google Shape;46;p3"/>
          <p:cNvSpPr txBox="1"/>
          <p:nvPr>
            <p:ph idx="8" type="subTitle"/>
          </p:nvPr>
        </p:nvSpPr>
        <p:spPr>
          <a:xfrm rot="-5400000">
            <a:off x="7331117"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7" name="Google Shape;47;p3"/>
          <p:cNvSpPr txBox="1"/>
          <p:nvPr>
            <p:ph idx="9" type="subTitle"/>
          </p:nvPr>
        </p:nvSpPr>
        <p:spPr>
          <a:xfrm rot="-5400000">
            <a:off x="7294517"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8" name="Google Shape;48;p3"/>
          <p:cNvSpPr txBox="1"/>
          <p:nvPr>
            <p:ph idx="13" type="subTitle"/>
          </p:nvPr>
        </p:nvSpPr>
        <p:spPr>
          <a:xfrm rot="-5400000">
            <a:off x="7584608"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49" name="Google Shape;49;p3"/>
          <p:cNvSpPr txBox="1"/>
          <p:nvPr>
            <p:ph idx="14" type="subTitle"/>
          </p:nvPr>
        </p:nvSpPr>
        <p:spPr>
          <a:xfrm rot="-5400000">
            <a:off x="7173022"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0" name="Google Shape;50;p3"/>
          <p:cNvSpPr txBox="1"/>
          <p:nvPr>
            <p:ph idx="15" type="subTitle"/>
          </p:nvPr>
        </p:nvSpPr>
        <p:spPr>
          <a:xfrm rot="-5400000">
            <a:off x="7548008"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1" name="Google Shape;51;p3"/>
          <p:cNvSpPr txBox="1"/>
          <p:nvPr>
            <p:ph idx="16" type="subTitle"/>
          </p:nvPr>
        </p:nvSpPr>
        <p:spPr>
          <a:xfrm rot="-5400000">
            <a:off x="7838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2" name="Google Shape;52;p3"/>
          <p:cNvSpPr txBox="1"/>
          <p:nvPr>
            <p:ph idx="17" type="subTitle"/>
          </p:nvPr>
        </p:nvSpPr>
        <p:spPr>
          <a:xfrm rot="-5400000">
            <a:off x="78015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3" name="Google Shape;53;p3"/>
          <p:cNvSpPr txBox="1"/>
          <p:nvPr>
            <p:ph idx="18"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4" name="Google Shape;54;p3"/>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5" name="Google Shape;55;p3"/>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6" name="Google Shape;56;p3"/>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7" name="Google Shape;57;p3"/>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8" name="Google Shape;58;p3"/>
          <p:cNvSpPr txBox="1"/>
          <p:nvPr>
            <p:ph idx="23" type="subTitle"/>
          </p:nvPr>
        </p:nvSpPr>
        <p:spPr>
          <a:xfrm rot="-5400000">
            <a:off x="80915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59" name="Google Shape;59;p3"/>
          <p:cNvSpPr txBox="1"/>
          <p:nvPr>
            <p:ph idx="24" type="subTitle"/>
          </p:nvPr>
        </p:nvSpPr>
        <p:spPr>
          <a:xfrm rot="-5400000">
            <a:off x="80549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0" name="Google Shape;60;p3"/>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1" name="Google Shape;61;p3"/>
          <p:cNvSpPr txBox="1"/>
          <p:nvPr>
            <p:ph idx="2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2" name="Google Shape;62;p3"/>
          <p:cNvSpPr txBox="1"/>
          <p:nvPr>
            <p:ph idx="27" type="subTitle"/>
          </p:nvPr>
        </p:nvSpPr>
        <p:spPr>
          <a:xfrm rot="-5400000">
            <a:off x="6932746"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3" name="Google Shape;63;p3"/>
          <p:cNvSpPr txBox="1"/>
          <p:nvPr>
            <p:ph idx="28" type="subTitle"/>
          </p:nvPr>
        </p:nvSpPr>
        <p:spPr>
          <a:xfrm rot="-5400000">
            <a:off x="74274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4" name="Google Shape;64;p3"/>
          <p:cNvSpPr txBox="1"/>
          <p:nvPr>
            <p:ph idx="29" type="subTitle"/>
          </p:nvPr>
        </p:nvSpPr>
        <p:spPr>
          <a:xfrm rot="-5400000">
            <a:off x="76908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5" name="Google Shape;65;p3"/>
          <p:cNvSpPr txBox="1"/>
          <p:nvPr>
            <p:ph idx="30" type="subTitle"/>
          </p:nvPr>
        </p:nvSpPr>
        <p:spPr>
          <a:xfrm rot="-5400000">
            <a:off x="8340546" y="4567150"/>
            <a:ext cx="822900" cy="2484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6" name="Google Shape;66;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67" name="Shape 67"/>
        <p:cNvGrpSpPr/>
        <p:nvPr/>
      </p:nvGrpSpPr>
      <p:grpSpPr>
        <a:xfrm>
          <a:off x="0" y="0"/>
          <a:ext cx="0" cy="0"/>
          <a:chOff x="0" y="0"/>
          <a:chExt cx="0" cy="0"/>
        </a:xfrm>
      </p:grpSpPr>
      <p:sp>
        <p:nvSpPr>
          <p:cNvPr id="68" name="Google Shape;68;p4"/>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9" name="Google Shape;69;p4"/>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0" name="Google Shape;70;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1" name="Shape 71"/>
        <p:cNvGrpSpPr/>
        <p:nvPr/>
      </p:nvGrpSpPr>
      <p:grpSpPr>
        <a:xfrm>
          <a:off x="0" y="0"/>
          <a:ext cx="0" cy="0"/>
          <a:chOff x="0" y="0"/>
          <a:chExt cx="0" cy="0"/>
        </a:xfrm>
      </p:grpSpPr>
      <p:sp>
        <p:nvSpPr>
          <p:cNvPr id="72" name="Google Shape;72;p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4" name="Google Shape;74;p5"/>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5" name="Google Shape;75;p5"/>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section dividers">
  <p:cSld name="CUSTOM_1_1_1">
    <p:spTree>
      <p:nvGrpSpPr>
        <p:cNvPr id="77" name="Shape 77"/>
        <p:cNvGrpSpPr/>
        <p:nvPr/>
      </p:nvGrpSpPr>
      <p:grpSpPr>
        <a:xfrm>
          <a:off x="0" y="0"/>
          <a:ext cx="0" cy="0"/>
          <a:chOff x="0" y="0"/>
          <a:chExt cx="0" cy="0"/>
        </a:xfrm>
      </p:grpSpPr>
      <p:sp>
        <p:nvSpPr>
          <p:cNvPr id="78" name="Google Shape;78;p6"/>
          <p:cNvSpPr txBox="1"/>
          <p:nvPr>
            <p:ph type="title"/>
          </p:nvPr>
        </p:nvSpPr>
        <p:spPr>
          <a:xfrm>
            <a:off x="1031075" y="114300"/>
            <a:ext cx="6442800" cy="14058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6"/>
          <p:cNvSpPr txBox="1"/>
          <p:nvPr>
            <p:ph idx="1" type="subTitle"/>
          </p:nvPr>
        </p:nvSpPr>
        <p:spPr>
          <a:xfrm>
            <a:off x="1031075" y="1235275"/>
            <a:ext cx="3575700" cy="1338300"/>
          </a:xfrm>
          <a:prstGeom prst="rect">
            <a:avLst/>
          </a:prstGeom>
        </p:spPr>
        <p:txBody>
          <a:bodyPr anchorCtr="0" anchor="t" bIns="91425" lIns="91425" spcFirstLastPara="1" rIns="91425" wrap="square" tIns="91425">
            <a:spAutoFit/>
          </a:bodyPr>
          <a:lstStyle>
            <a:lvl1pPr lvl="0">
              <a:spcBef>
                <a:spcPts val="0"/>
              </a:spcBef>
              <a:spcAft>
                <a:spcPts val="0"/>
              </a:spcAft>
              <a:buSzPts val="1900"/>
              <a:buFont typeface="Roboto Light"/>
              <a:buNone/>
              <a:defRPr sz="1900">
                <a:latin typeface="Roboto Light"/>
                <a:ea typeface="Roboto Light"/>
                <a:cs typeface="Roboto Light"/>
                <a:sym typeface="Roboto Light"/>
              </a:defRPr>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sp>
        <p:nvSpPr>
          <p:cNvPr id="80" name="Google Shape;80;p6"/>
          <p:cNvSpPr txBox="1"/>
          <p:nvPr>
            <p:ph idx="2" type="subTitle"/>
          </p:nvPr>
        </p:nvSpPr>
        <p:spPr>
          <a:xfrm>
            <a:off x="5578299" y="3182825"/>
            <a:ext cx="2303700" cy="794400"/>
          </a:xfrm>
          <a:prstGeom prst="rect">
            <a:avLst/>
          </a:prstGeom>
        </p:spPr>
        <p:txBody>
          <a:bodyPr anchorCtr="0" anchor="t" bIns="91425" lIns="91425" spcFirstLastPara="1" rIns="91425" wrap="square" tIns="91425">
            <a:sp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 name="Google Shape;81;p6"/>
          <p:cNvSpPr txBox="1"/>
          <p:nvPr>
            <p:ph idx="3" type="subTitle"/>
          </p:nvPr>
        </p:nvSpPr>
        <p:spPr>
          <a:xfrm>
            <a:off x="5578300" y="3600525"/>
            <a:ext cx="2080200" cy="14058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
          <p:cNvSpPr txBox="1"/>
          <p:nvPr>
            <p:ph idx="4" type="subTitle"/>
          </p:nvPr>
        </p:nvSpPr>
        <p:spPr>
          <a:xfrm>
            <a:off x="3304687" y="3182825"/>
            <a:ext cx="2303700" cy="794400"/>
          </a:xfrm>
          <a:prstGeom prst="rect">
            <a:avLst/>
          </a:prstGeom>
        </p:spPr>
        <p:txBody>
          <a:bodyPr anchorCtr="0" anchor="t" bIns="91425" lIns="91425" spcFirstLastPara="1" rIns="91425" wrap="square" tIns="91425">
            <a:sp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 name="Google Shape;83;p6"/>
          <p:cNvSpPr txBox="1"/>
          <p:nvPr>
            <p:ph idx="5" type="subTitle"/>
          </p:nvPr>
        </p:nvSpPr>
        <p:spPr>
          <a:xfrm>
            <a:off x="3304687" y="3600525"/>
            <a:ext cx="2080200" cy="14058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6"/>
          <p:cNvSpPr txBox="1"/>
          <p:nvPr>
            <p:ph idx="6" type="subTitle"/>
          </p:nvPr>
        </p:nvSpPr>
        <p:spPr>
          <a:xfrm>
            <a:off x="1031075" y="3182825"/>
            <a:ext cx="2303700" cy="794400"/>
          </a:xfrm>
          <a:prstGeom prst="rect">
            <a:avLst/>
          </a:prstGeom>
        </p:spPr>
        <p:txBody>
          <a:bodyPr anchorCtr="0" anchor="t" bIns="91425" lIns="91425" spcFirstLastPara="1" rIns="91425" wrap="square" tIns="91425">
            <a:sp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 name="Google Shape;85;p6"/>
          <p:cNvSpPr txBox="1"/>
          <p:nvPr>
            <p:ph idx="7" type="subTitle"/>
          </p:nvPr>
        </p:nvSpPr>
        <p:spPr>
          <a:xfrm>
            <a:off x="1031075" y="3600525"/>
            <a:ext cx="2080200" cy="14058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6"/>
          <p:cNvSpPr txBox="1"/>
          <p:nvPr>
            <p:ph idx="8"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87" name="Google Shape;87;p6"/>
          <p:cNvSpPr txBox="1"/>
          <p:nvPr>
            <p:ph idx="9"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88" name="Google Shape;88;p6"/>
          <p:cNvSpPr txBox="1"/>
          <p:nvPr>
            <p:ph idx="13"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89" name="Google Shape;89;p6"/>
          <p:cNvSpPr txBox="1"/>
          <p:nvPr>
            <p:ph idx="14"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0" name="Google Shape;90;p6"/>
          <p:cNvSpPr txBox="1"/>
          <p:nvPr>
            <p:ph idx="15"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1" name="Google Shape;91;p6"/>
          <p:cNvSpPr txBox="1"/>
          <p:nvPr>
            <p:ph idx="16"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2" name="Google Shape;92;p6"/>
          <p:cNvSpPr txBox="1"/>
          <p:nvPr>
            <p:ph idx="17" type="subTitle"/>
          </p:nvPr>
        </p:nvSpPr>
        <p:spPr>
          <a:xfrm rot="-5400000">
            <a:off x="7584608"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3" name="Google Shape;93;p6"/>
          <p:cNvSpPr txBox="1"/>
          <p:nvPr>
            <p:ph idx="18" type="subTitle"/>
          </p:nvPr>
        </p:nvSpPr>
        <p:spPr>
          <a:xfrm rot="-5400000">
            <a:off x="7173022"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4" name="Google Shape;94;p6"/>
          <p:cNvSpPr txBox="1"/>
          <p:nvPr>
            <p:ph idx="19" type="subTitle"/>
          </p:nvPr>
        </p:nvSpPr>
        <p:spPr>
          <a:xfrm rot="-5400000">
            <a:off x="7548008"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5" name="Google Shape;95;p6"/>
          <p:cNvSpPr txBox="1"/>
          <p:nvPr>
            <p:ph idx="20" type="subTitle"/>
          </p:nvPr>
        </p:nvSpPr>
        <p:spPr>
          <a:xfrm rot="-5400000">
            <a:off x="7838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6" name="Google Shape;96;p6"/>
          <p:cNvSpPr txBox="1"/>
          <p:nvPr>
            <p:ph idx="21" type="subTitle"/>
          </p:nvPr>
        </p:nvSpPr>
        <p:spPr>
          <a:xfrm rot="-5400000">
            <a:off x="78015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7" name="Google Shape;97;p6"/>
          <p:cNvSpPr txBox="1"/>
          <p:nvPr>
            <p:ph idx="22"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8" name="Google Shape;98;p6"/>
          <p:cNvSpPr txBox="1"/>
          <p:nvPr>
            <p:ph idx="23"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9" name="Google Shape;99;p6"/>
          <p:cNvSpPr txBox="1"/>
          <p:nvPr>
            <p:ph idx="24"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0" name="Google Shape;100;p6"/>
          <p:cNvSpPr txBox="1"/>
          <p:nvPr>
            <p:ph idx="25" type="subTitle"/>
          </p:nvPr>
        </p:nvSpPr>
        <p:spPr>
          <a:xfrm rot="-5400000">
            <a:off x="8345233"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1" name="Google Shape;101;p6"/>
          <p:cNvSpPr txBox="1"/>
          <p:nvPr>
            <p:ph idx="26"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2" name="Google Shape;102;p6"/>
          <p:cNvSpPr txBox="1"/>
          <p:nvPr>
            <p:ph idx="27" type="subTitle"/>
          </p:nvPr>
        </p:nvSpPr>
        <p:spPr>
          <a:xfrm rot="-5400000">
            <a:off x="8308483"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3" name="Google Shape;103;p6"/>
          <p:cNvSpPr txBox="1"/>
          <p:nvPr>
            <p:ph idx="28" type="subTitle"/>
          </p:nvPr>
        </p:nvSpPr>
        <p:spPr>
          <a:xfrm rot="-5400000">
            <a:off x="80915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4" name="Google Shape;104;p6"/>
          <p:cNvSpPr txBox="1"/>
          <p:nvPr>
            <p:ph idx="29" type="subTitle"/>
          </p:nvPr>
        </p:nvSpPr>
        <p:spPr>
          <a:xfrm rot="-5400000">
            <a:off x="80549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5" name="Google Shape;105;p6"/>
          <p:cNvSpPr txBox="1"/>
          <p:nvPr>
            <p:ph idx="30"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6" name="Google Shape;106;p6"/>
          <p:cNvSpPr txBox="1"/>
          <p:nvPr>
            <p:ph idx="31"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7" name="Google Shape;107;p6"/>
          <p:cNvSpPr txBox="1"/>
          <p:nvPr>
            <p:ph idx="32"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8" name="Google Shape;108;p6"/>
          <p:cNvSpPr txBox="1"/>
          <p:nvPr>
            <p:ph idx="33" type="subTitle"/>
          </p:nvPr>
        </p:nvSpPr>
        <p:spPr>
          <a:xfrm rot="-5400000">
            <a:off x="74274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09" name="Google Shape;109;p6"/>
          <p:cNvSpPr txBox="1"/>
          <p:nvPr>
            <p:ph idx="34" type="subTitle"/>
          </p:nvPr>
        </p:nvSpPr>
        <p:spPr>
          <a:xfrm rot="-5400000">
            <a:off x="76908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10" name="Google Shape;110;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33">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with section dividers">
  <p:cSld name="CUSTOM_1_1_1_1">
    <p:spTree>
      <p:nvGrpSpPr>
        <p:cNvPr id="111" name="Shape 111"/>
        <p:cNvGrpSpPr/>
        <p:nvPr/>
      </p:nvGrpSpPr>
      <p:grpSpPr>
        <a:xfrm>
          <a:off x="0" y="0"/>
          <a:ext cx="0" cy="0"/>
          <a:chOff x="0" y="0"/>
          <a:chExt cx="0" cy="0"/>
        </a:xfrm>
      </p:grpSpPr>
      <p:sp>
        <p:nvSpPr>
          <p:cNvPr id="112" name="Google Shape;112;p7"/>
          <p:cNvSpPr txBox="1"/>
          <p:nvPr>
            <p:ph type="title"/>
          </p:nvPr>
        </p:nvSpPr>
        <p:spPr>
          <a:xfrm>
            <a:off x="1324713" y="121125"/>
            <a:ext cx="6442800" cy="22017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7"/>
          <p:cNvSpPr/>
          <p:nvPr>
            <p:ph idx="2" type="pic"/>
          </p:nvPr>
        </p:nvSpPr>
        <p:spPr>
          <a:xfrm>
            <a:off x="1324713" y="1715450"/>
            <a:ext cx="1441800" cy="1611600"/>
          </a:xfrm>
          <a:prstGeom prst="roundRect">
            <a:avLst>
              <a:gd fmla="val 7131" name="adj"/>
            </a:avLst>
          </a:prstGeom>
          <a:noFill/>
          <a:ln>
            <a:noFill/>
          </a:ln>
        </p:spPr>
      </p:sp>
      <p:sp>
        <p:nvSpPr>
          <p:cNvPr id="114" name="Google Shape;114;p7"/>
          <p:cNvSpPr/>
          <p:nvPr>
            <p:ph idx="3" type="pic"/>
          </p:nvPr>
        </p:nvSpPr>
        <p:spPr>
          <a:xfrm>
            <a:off x="3625350" y="1715450"/>
            <a:ext cx="1441800" cy="1611600"/>
          </a:xfrm>
          <a:prstGeom prst="roundRect">
            <a:avLst>
              <a:gd fmla="val 7131" name="adj"/>
            </a:avLst>
          </a:prstGeom>
          <a:noFill/>
          <a:ln>
            <a:noFill/>
          </a:ln>
        </p:spPr>
      </p:sp>
      <p:sp>
        <p:nvSpPr>
          <p:cNvPr id="115" name="Google Shape;115;p7"/>
          <p:cNvSpPr/>
          <p:nvPr>
            <p:ph idx="4" type="pic"/>
          </p:nvPr>
        </p:nvSpPr>
        <p:spPr>
          <a:xfrm>
            <a:off x="5925988" y="1715450"/>
            <a:ext cx="1441800" cy="1611600"/>
          </a:xfrm>
          <a:prstGeom prst="roundRect">
            <a:avLst>
              <a:gd fmla="val 7131" name="adj"/>
            </a:avLst>
          </a:prstGeom>
          <a:noFill/>
          <a:ln>
            <a:noFill/>
          </a:ln>
        </p:spPr>
      </p:sp>
      <p:sp>
        <p:nvSpPr>
          <p:cNvPr id="116" name="Google Shape;116;p7"/>
          <p:cNvSpPr txBox="1"/>
          <p:nvPr>
            <p:ph idx="1" type="subTitle"/>
          </p:nvPr>
        </p:nvSpPr>
        <p:spPr>
          <a:xfrm>
            <a:off x="1324713" y="3492200"/>
            <a:ext cx="2088000" cy="7944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117" name="Google Shape;117;p7"/>
          <p:cNvSpPr txBox="1"/>
          <p:nvPr>
            <p:ph idx="5" type="subTitle"/>
          </p:nvPr>
        </p:nvSpPr>
        <p:spPr>
          <a:xfrm>
            <a:off x="3637156" y="3492200"/>
            <a:ext cx="2088000" cy="7944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118" name="Google Shape;118;p7"/>
          <p:cNvSpPr txBox="1"/>
          <p:nvPr>
            <p:ph idx="6" type="subTitle"/>
          </p:nvPr>
        </p:nvSpPr>
        <p:spPr>
          <a:xfrm>
            <a:off x="5925988" y="3492200"/>
            <a:ext cx="2088000" cy="7944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sz="2200"/>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119" name="Google Shape;119;p7"/>
          <p:cNvSpPr txBox="1"/>
          <p:nvPr>
            <p:ph idx="7" type="subTitle"/>
          </p:nvPr>
        </p:nvSpPr>
        <p:spPr>
          <a:xfrm>
            <a:off x="1324713" y="4040125"/>
            <a:ext cx="1998000" cy="9891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7"/>
          <p:cNvSpPr txBox="1"/>
          <p:nvPr>
            <p:ph idx="8" type="subTitle"/>
          </p:nvPr>
        </p:nvSpPr>
        <p:spPr>
          <a:xfrm>
            <a:off x="3637147" y="4040125"/>
            <a:ext cx="2163600" cy="9891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7"/>
          <p:cNvSpPr txBox="1"/>
          <p:nvPr>
            <p:ph idx="9" type="subTitle"/>
          </p:nvPr>
        </p:nvSpPr>
        <p:spPr>
          <a:xfrm>
            <a:off x="5925988" y="4040125"/>
            <a:ext cx="2060400" cy="989100"/>
          </a:xfrm>
          <a:prstGeom prst="rect">
            <a:avLst/>
          </a:prstGeom>
        </p:spPr>
        <p:txBody>
          <a:bodyPr anchorCtr="0" anchor="t" bIns="91425" lIns="91425" spcFirstLastPara="1" rIns="91425" wrap="square" tIns="91425">
            <a:spAutoFit/>
          </a:bodyPr>
          <a:lstStyle>
            <a:lvl1pPr lvl="0">
              <a:spcBef>
                <a:spcPts val="0"/>
              </a:spcBef>
              <a:spcAft>
                <a:spcPts val="0"/>
              </a:spcAft>
              <a:buSzPts val="1000"/>
              <a:buFont typeface="Roboto Light"/>
              <a:buNone/>
              <a:defRPr>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7"/>
          <p:cNvSpPr txBox="1"/>
          <p:nvPr>
            <p:ph idx="13"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3" name="Google Shape;123;p7"/>
          <p:cNvSpPr txBox="1"/>
          <p:nvPr>
            <p:ph idx="14"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4" name="Google Shape;124;p7"/>
          <p:cNvSpPr txBox="1"/>
          <p:nvPr>
            <p:ph idx="15"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5" name="Google Shape;125;p7"/>
          <p:cNvSpPr txBox="1"/>
          <p:nvPr>
            <p:ph idx="16"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6" name="Google Shape;126;p7"/>
          <p:cNvSpPr txBox="1"/>
          <p:nvPr>
            <p:ph idx="17"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7" name="Google Shape;127;p7"/>
          <p:cNvSpPr txBox="1"/>
          <p:nvPr>
            <p:ph idx="18"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8" name="Google Shape;128;p7"/>
          <p:cNvSpPr txBox="1"/>
          <p:nvPr>
            <p:ph idx="19" type="subTitle"/>
          </p:nvPr>
        </p:nvSpPr>
        <p:spPr>
          <a:xfrm rot="-5400000">
            <a:off x="513446"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29" name="Google Shape;129;p7"/>
          <p:cNvSpPr txBox="1"/>
          <p:nvPr>
            <p:ph idx="20" type="subTitle"/>
          </p:nvPr>
        </p:nvSpPr>
        <p:spPr>
          <a:xfrm rot="-5400000">
            <a:off x="93229"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0" name="Google Shape;130;p7"/>
          <p:cNvSpPr txBox="1"/>
          <p:nvPr>
            <p:ph idx="21" type="subTitle"/>
          </p:nvPr>
        </p:nvSpPr>
        <p:spPr>
          <a:xfrm rot="-5400000">
            <a:off x="476846"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1" name="Google Shape;131;p7"/>
          <p:cNvSpPr txBox="1"/>
          <p:nvPr>
            <p:ph idx="22" type="subTitle"/>
          </p:nvPr>
        </p:nvSpPr>
        <p:spPr>
          <a:xfrm rot="-5400000">
            <a:off x="7838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2" name="Google Shape;132;p7"/>
          <p:cNvSpPr txBox="1"/>
          <p:nvPr>
            <p:ph idx="23" type="subTitle"/>
          </p:nvPr>
        </p:nvSpPr>
        <p:spPr>
          <a:xfrm rot="-5400000">
            <a:off x="78015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3" name="Google Shape;133;p7"/>
          <p:cNvSpPr txBox="1"/>
          <p:nvPr>
            <p:ph idx="24"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4" name="Google Shape;134;p7"/>
          <p:cNvSpPr txBox="1"/>
          <p:nvPr>
            <p:ph idx="25"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5" name="Google Shape;135;p7"/>
          <p:cNvSpPr txBox="1"/>
          <p:nvPr>
            <p:ph idx="26"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6" name="Google Shape;136;p7"/>
          <p:cNvSpPr txBox="1"/>
          <p:nvPr>
            <p:ph idx="27" type="subTitle"/>
          </p:nvPr>
        </p:nvSpPr>
        <p:spPr>
          <a:xfrm rot="-5400000">
            <a:off x="8345233"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7" name="Google Shape;137;p7"/>
          <p:cNvSpPr txBox="1"/>
          <p:nvPr>
            <p:ph idx="28"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8" name="Google Shape;138;p7"/>
          <p:cNvSpPr txBox="1"/>
          <p:nvPr>
            <p:ph idx="29" type="subTitle"/>
          </p:nvPr>
        </p:nvSpPr>
        <p:spPr>
          <a:xfrm rot="-5400000">
            <a:off x="8308483"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9" name="Google Shape;139;p7"/>
          <p:cNvSpPr txBox="1"/>
          <p:nvPr>
            <p:ph idx="30" type="subTitle"/>
          </p:nvPr>
        </p:nvSpPr>
        <p:spPr>
          <a:xfrm rot="-5400000">
            <a:off x="80915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0" name="Google Shape;140;p7"/>
          <p:cNvSpPr txBox="1"/>
          <p:nvPr>
            <p:ph idx="31" type="subTitle"/>
          </p:nvPr>
        </p:nvSpPr>
        <p:spPr>
          <a:xfrm rot="-5400000">
            <a:off x="80549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1" name="Google Shape;141;p7"/>
          <p:cNvSpPr txBox="1"/>
          <p:nvPr>
            <p:ph idx="32"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2" name="Google Shape;142;p7"/>
          <p:cNvSpPr txBox="1"/>
          <p:nvPr>
            <p:ph idx="33"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3" name="Google Shape;143;p7"/>
          <p:cNvSpPr txBox="1"/>
          <p:nvPr>
            <p:ph idx="34"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4" name="Google Shape;144;p7"/>
          <p:cNvSpPr txBox="1"/>
          <p:nvPr>
            <p:ph idx="35" type="subTitle"/>
          </p:nvPr>
        </p:nvSpPr>
        <p:spPr>
          <a:xfrm rot="-5400000">
            <a:off x="74274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5" name="Google Shape;145;p7"/>
          <p:cNvSpPr txBox="1"/>
          <p:nvPr>
            <p:ph idx="36" type="subTitle"/>
          </p:nvPr>
        </p:nvSpPr>
        <p:spPr>
          <a:xfrm rot="-5400000">
            <a:off x="76908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46" name="Google Shape;146;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with section dividers">
  <p:cSld name="CUSTOM_1_1_1_1_1">
    <p:spTree>
      <p:nvGrpSpPr>
        <p:cNvPr id="147" name="Shape 147"/>
        <p:cNvGrpSpPr/>
        <p:nvPr/>
      </p:nvGrpSpPr>
      <p:grpSpPr>
        <a:xfrm>
          <a:off x="0" y="0"/>
          <a:ext cx="0" cy="0"/>
          <a:chOff x="0" y="0"/>
          <a:chExt cx="0" cy="0"/>
        </a:xfrm>
      </p:grpSpPr>
      <p:sp>
        <p:nvSpPr>
          <p:cNvPr id="148" name="Google Shape;148;p8"/>
          <p:cNvSpPr txBox="1"/>
          <p:nvPr>
            <p:ph type="title"/>
          </p:nvPr>
        </p:nvSpPr>
        <p:spPr>
          <a:xfrm>
            <a:off x="1640675" y="114300"/>
            <a:ext cx="6442800" cy="19002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8"/>
          <p:cNvSpPr txBox="1"/>
          <p:nvPr>
            <p:ph idx="1" type="subTitle"/>
          </p:nvPr>
        </p:nvSpPr>
        <p:spPr>
          <a:xfrm>
            <a:off x="1640675" y="2646375"/>
            <a:ext cx="3575700" cy="732300"/>
          </a:xfrm>
          <a:prstGeom prst="rect">
            <a:avLst/>
          </a:prstGeom>
        </p:spPr>
        <p:txBody>
          <a:bodyPr anchorCtr="0" anchor="t" bIns="91425" lIns="91425" spcFirstLastPara="1" rIns="91425" wrap="square" tIns="91425">
            <a:spAutoFit/>
          </a:bodyPr>
          <a:lstStyle>
            <a:lvl1pPr lvl="0">
              <a:spcBef>
                <a:spcPts val="0"/>
              </a:spcBef>
              <a:spcAft>
                <a:spcPts val="0"/>
              </a:spcAft>
              <a:buSzPts val="1900"/>
              <a:buFont typeface="Roboto Light"/>
              <a:buNone/>
              <a:defRPr sz="1900">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8"/>
          <p:cNvSpPr txBox="1"/>
          <p:nvPr>
            <p:ph idx="2" type="subTitle"/>
          </p:nvPr>
        </p:nvSpPr>
        <p:spPr>
          <a:xfrm>
            <a:off x="1640675" y="2205700"/>
            <a:ext cx="5533800" cy="896100"/>
          </a:xfrm>
          <a:prstGeom prst="rect">
            <a:avLst/>
          </a:prstGeom>
        </p:spPr>
        <p:txBody>
          <a:bodyPr anchorCtr="0" anchor="t" bIns="91425" lIns="91425" spcFirstLastPara="1" rIns="91425" wrap="square" tIns="91425">
            <a:spAutoFit/>
          </a:bodyPr>
          <a:lstStyle>
            <a:lvl1pPr lvl="0">
              <a:spcBef>
                <a:spcPts val="0"/>
              </a:spcBef>
              <a:spcAft>
                <a:spcPts val="0"/>
              </a:spcAft>
              <a:buSzPts val="23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8"/>
          <p:cNvSpPr txBox="1"/>
          <p:nvPr>
            <p:ph idx="3"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2" name="Google Shape;152;p8"/>
          <p:cNvSpPr txBox="1"/>
          <p:nvPr>
            <p:ph idx="4"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3" name="Google Shape;153;p8"/>
          <p:cNvSpPr txBox="1"/>
          <p:nvPr>
            <p:ph idx="5"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4" name="Google Shape;154;p8"/>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5" name="Google Shape;155;p8"/>
          <p:cNvSpPr txBox="1"/>
          <p:nvPr>
            <p:ph idx="7"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6" name="Google Shape;156;p8"/>
          <p:cNvSpPr txBox="1"/>
          <p:nvPr>
            <p:ph idx="8"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7" name="Google Shape;157;p8"/>
          <p:cNvSpPr txBox="1"/>
          <p:nvPr>
            <p:ph idx="9" type="subTitle"/>
          </p:nvPr>
        </p:nvSpPr>
        <p:spPr>
          <a:xfrm rot="-5400000">
            <a:off x="513446"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8" name="Google Shape;158;p8"/>
          <p:cNvSpPr txBox="1"/>
          <p:nvPr>
            <p:ph idx="13" type="subTitle"/>
          </p:nvPr>
        </p:nvSpPr>
        <p:spPr>
          <a:xfrm rot="-5400000">
            <a:off x="93229"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59" name="Google Shape;159;p8"/>
          <p:cNvSpPr txBox="1"/>
          <p:nvPr>
            <p:ph idx="14" type="subTitle"/>
          </p:nvPr>
        </p:nvSpPr>
        <p:spPr>
          <a:xfrm rot="-5400000">
            <a:off x="476846"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0" name="Google Shape;160;p8"/>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1" name="Google Shape;161;p8"/>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2" name="Google Shape;162;p8"/>
          <p:cNvSpPr txBox="1"/>
          <p:nvPr>
            <p:ph idx="17"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3" name="Google Shape;163;p8"/>
          <p:cNvSpPr txBox="1"/>
          <p:nvPr>
            <p:ph idx="18"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4" name="Google Shape;164;p8"/>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5" name="Google Shape;165;p8"/>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6" name="Google Shape;166;p8"/>
          <p:cNvSpPr txBox="1"/>
          <p:nvPr>
            <p:ph idx="21" type="subTitle"/>
          </p:nvPr>
        </p:nvSpPr>
        <p:spPr>
          <a:xfrm rot="-5400000">
            <a:off x="8345233"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7" name="Google Shape;167;p8"/>
          <p:cNvSpPr txBox="1"/>
          <p:nvPr>
            <p:ph idx="22"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8" name="Google Shape;168;p8"/>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9" name="Google Shape;169;p8"/>
          <p:cNvSpPr txBox="1"/>
          <p:nvPr>
            <p:ph idx="24" type="subTitle"/>
          </p:nvPr>
        </p:nvSpPr>
        <p:spPr>
          <a:xfrm rot="-5400000">
            <a:off x="80915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0" name="Google Shape;170;p8"/>
          <p:cNvSpPr txBox="1"/>
          <p:nvPr>
            <p:ph idx="25" type="subTitle"/>
          </p:nvPr>
        </p:nvSpPr>
        <p:spPr>
          <a:xfrm rot="-5400000">
            <a:off x="80549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1" name="Google Shape;171;p8"/>
          <p:cNvSpPr txBox="1"/>
          <p:nvPr>
            <p:ph idx="26" type="subTitle"/>
          </p:nvPr>
        </p:nvSpPr>
        <p:spPr>
          <a:xfrm rot="-5400000">
            <a:off x="76908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2" name="Google Shape;172;p8"/>
          <p:cNvSpPr txBox="1"/>
          <p:nvPr>
            <p:ph idx="27" type="subTitle"/>
          </p:nvPr>
        </p:nvSpPr>
        <p:spPr>
          <a:xfrm rot="-5400000">
            <a:off x="7608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3" name="Google Shape;173;p8"/>
          <p:cNvSpPr txBox="1"/>
          <p:nvPr>
            <p:ph idx="28" type="subTitle"/>
          </p:nvPr>
        </p:nvSpPr>
        <p:spPr>
          <a:xfrm rot="-5400000">
            <a:off x="7242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4" name="Google Shape;174;p8"/>
          <p:cNvSpPr txBox="1"/>
          <p:nvPr>
            <p:ph idx="29" type="subTitle"/>
          </p:nvPr>
        </p:nvSpPr>
        <p:spPr>
          <a:xfrm rot="-5400000">
            <a:off x="3501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12">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section dividers">
  <p:cSld name="CUSTOM_1_1_1_1_1_1">
    <p:spTree>
      <p:nvGrpSpPr>
        <p:cNvPr id="175" name="Shape 175"/>
        <p:cNvGrpSpPr/>
        <p:nvPr/>
      </p:nvGrpSpPr>
      <p:grpSpPr>
        <a:xfrm>
          <a:off x="0" y="0"/>
          <a:ext cx="0" cy="0"/>
          <a:chOff x="0" y="0"/>
          <a:chExt cx="0" cy="0"/>
        </a:xfrm>
      </p:grpSpPr>
      <p:sp>
        <p:nvSpPr>
          <p:cNvPr id="176" name="Google Shape;176;p9"/>
          <p:cNvSpPr txBox="1"/>
          <p:nvPr>
            <p:ph idx="1"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7" name="Google Shape;177;p9"/>
          <p:cNvSpPr txBox="1"/>
          <p:nvPr>
            <p:ph idx="2"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8" name="Google Shape;178;p9"/>
          <p:cNvSpPr txBox="1"/>
          <p:nvPr>
            <p:ph idx="3"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79" name="Google Shape;179;p9"/>
          <p:cNvSpPr txBox="1"/>
          <p:nvPr>
            <p:ph idx="4" type="subTitle"/>
          </p:nvPr>
        </p:nvSpPr>
        <p:spPr>
          <a:xfrm rot="-5400000">
            <a:off x="8345233"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0" name="Google Shape;180;p9"/>
          <p:cNvSpPr txBox="1"/>
          <p:nvPr>
            <p:ph idx="5"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1" name="Google Shape;181;p9"/>
          <p:cNvSpPr txBox="1"/>
          <p:nvPr>
            <p:ph idx="6" type="subTitle"/>
          </p:nvPr>
        </p:nvSpPr>
        <p:spPr>
          <a:xfrm rot="-5400000">
            <a:off x="8308483"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2" name="Google Shape;182;p9"/>
          <p:cNvSpPr txBox="1"/>
          <p:nvPr>
            <p:ph idx="7" type="subTitle"/>
          </p:nvPr>
        </p:nvSpPr>
        <p:spPr>
          <a:xfrm rot="-5400000">
            <a:off x="10192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3" name="Google Shape;183;p9"/>
          <p:cNvSpPr txBox="1"/>
          <p:nvPr>
            <p:ph idx="8" type="subTitle"/>
          </p:nvPr>
        </p:nvSpPr>
        <p:spPr>
          <a:xfrm rot="-5400000">
            <a:off x="9826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4" name="Google Shape;184;p9"/>
          <p:cNvSpPr txBox="1"/>
          <p:nvPr>
            <p:ph idx="9" type="subTitle"/>
          </p:nvPr>
        </p:nvSpPr>
        <p:spPr>
          <a:xfrm rot="-5400000">
            <a:off x="6185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5" name="Google Shape;185;p9"/>
          <p:cNvSpPr txBox="1"/>
          <p:nvPr>
            <p:ph idx="13"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6" name="Google Shape;186;p9"/>
          <p:cNvSpPr txBox="1"/>
          <p:nvPr>
            <p:ph idx="14"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7" name="Google Shape;187;p9"/>
          <p:cNvSpPr txBox="1"/>
          <p:nvPr>
            <p:ph idx="15"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8" name="Google Shape;188;p9"/>
          <p:cNvSpPr txBox="1"/>
          <p:nvPr>
            <p:ph idx="16"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89" name="Google Shape;189;p9"/>
          <p:cNvSpPr txBox="1"/>
          <p:nvPr>
            <p:ph idx="17"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0" name="Google Shape;190;p9"/>
          <p:cNvSpPr txBox="1"/>
          <p:nvPr>
            <p:ph idx="18"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1" name="Google Shape;191;p9"/>
          <p:cNvSpPr txBox="1"/>
          <p:nvPr>
            <p:ph idx="19" type="subTitle"/>
          </p:nvPr>
        </p:nvSpPr>
        <p:spPr>
          <a:xfrm rot="-5400000">
            <a:off x="513446"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2" name="Google Shape;192;p9"/>
          <p:cNvSpPr txBox="1"/>
          <p:nvPr>
            <p:ph idx="20" type="subTitle"/>
          </p:nvPr>
        </p:nvSpPr>
        <p:spPr>
          <a:xfrm rot="-5400000">
            <a:off x="93229"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3" name="Google Shape;193;p9"/>
          <p:cNvSpPr txBox="1"/>
          <p:nvPr>
            <p:ph idx="21" type="subTitle"/>
          </p:nvPr>
        </p:nvSpPr>
        <p:spPr>
          <a:xfrm rot="-5400000">
            <a:off x="476846"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4" name="Google Shape;194;p9"/>
          <p:cNvSpPr txBox="1"/>
          <p:nvPr>
            <p:ph idx="22"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5" name="Google Shape;195;p9"/>
          <p:cNvSpPr txBox="1"/>
          <p:nvPr>
            <p:ph idx="23"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6" name="Google Shape;196;p9"/>
          <p:cNvSpPr txBox="1"/>
          <p:nvPr>
            <p:ph idx="24"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7" name="Google Shape;197;p9"/>
          <p:cNvSpPr txBox="1"/>
          <p:nvPr>
            <p:ph idx="25" type="subTitle"/>
          </p:nvPr>
        </p:nvSpPr>
        <p:spPr>
          <a:xfrm rot="-5400000">
            <a:off x="7608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8" name="Google Shape;198;p9"/>
          <p:cNvSpPr txBox="1"/>
          <p:nvPr>
            <p:ph idx="26" type="subTitle"/>
          </p:nvPr>
        </p:nvSpPr>
        <p:spPr>
          <a:xfrm rot="-5400000">
            <a:off x="7242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9" name="Google Shape;199;p9"/>
          <p:cNvSpPr txBox="1"/>
          <p:nvPr>
            <p:ph idx="27" type="subTitle"/>
          </p:nvPr>
        </p:nvSpPr>
        <p:spPr>
          <a:xfrm rot="-5400000">
            <a:off x="3501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section dividers">
  <p:cSld name="CUSTOM_1_1_1_1_1_1_1">
    <p:spTree>
      <p:nvGrpSpPr>
        <p:cNvPr id="200" name="Shape 200"/>
        <p:cNvGrpSpPr/>
        <p:nvPr/>
      </p:nvGrpSpPr>
      <p:grpSpPr>
        <a:xfrm>
          <a:off x="0" y="0"/>
          <a:ext cx="0" cy="0"/>
          <a:chOff x="0" y="0"/>
          <a:chExt cx="0" cy="0"/>
        </a:xfrm>
      </p:grpSpPr>
      <p:sp>
        <p:nvSpPr>
          <p:cNvPr id="201" name="Google Shape;201;p10"/>
          <p:cNvSpPr txBox="1"/>
          <p:nvPr>
            <p:ph type="title"/>
          </p:nvPr>
        </p:nvSpPr>
        <p:spPr>
          <a:xfrm>
            <a:off x="2338150" y="114300"/>
            <a:ext cx="6442800" cy="24999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10"/>
          <p:cNvSpPr txBox="1"/>
          <p:nvPr>
            <p:ph idx="1" type="subTitle"/>
          </p:nvPr>
        </p:nvSpPr>
        <p:spPr>
          <a:xfrm>
            <a:off x="2338150" y="3498725"/>
            <a:ext cx="5812500" cy="1530600"/>
          </a:xfrm>
          <a:prstGeom prst="rect">
            <a:avLst/>
          </a:prstGeom>
        </p:spPr>
        <p:txBody>
          <a:bodyPr anchorCtr="0" anchor="t" bIns="91425" lIns="91425" spcFirstLastPara="1" rIns="91425" wrap="square" tIns="91425">
            <a:spAutoFit/>
          </a:bodyPr>
          <a:lstStyle>
            <a:lvl1pPr lvl="0">
              <a:spcBef>
                <a:spcPts val="0"/>
              </a:spcBef>
              <a:spcAft>
                <a:spcPts val="0"/>
              </a:spcAft>
              <a:buSzPts val="50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10"/>
          <p:cNvSpPr txBox="1"/>
          <p:nvPr>
            <p:ph idx="2" type="subTitle"/>
          </p:nvPr>
        </p:nvSpPr>
        <p:spPr>
          <a:xfrm rot="-5400000">
            <a:off x="86094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4" name="Google Shape;204;p10"/>
          <p:cNvSpPr txBox="1"/>
          <p:nvPr>
            <p:ph idx="3"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5" name="Google Shape;205;p10"/>
          <p:cNvSpPr txBox="1"/>
          <p:nvPr>
            <p:ph idx="4" type="subTitle"/>
          </p:nvPr>
        </p:nvSpPr>
        <p:spPr>
          <a:xfrm rot="-5400000">
            <a:off x="85728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6" name="Google Shape;206;p10"/>
          <p:cNvSpPr txBox="1"/>
          <p:nvPr>
            <p:ph idx="5" type="subTitle"/>
          </p:nvPr>
        </p:nvSpPr>
        <p:spPr>
          <a:xfrm rot="-5400000">
            <a:off x="1283021"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7" name="Google Shape;207;p10"/>
          <p:cNvSpPr txBox="1"/>
          <p:nvPr>
            <p:ph idx="6" type="subTitle"/>
          </p:nvPr>
        </p:nvSpPr>
        <p:spPr>
          <a:xfrm rot="-5400000">
            <a:off x="875292"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8" name="Google Shape;208;p10"/>
          <p:cNvSpPr txBox="1"/>
          <p:nvPr>
            <p:ph idx="7" type="subTitle"/>
          </p:nvPr>
        </p:nvSpPr>
        <p:spPr>
          <a:xfrm rot="-5400000">
            <a:off x="1246271"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09" name="Google Shape;209;p10"/>
          <p:cNvSpPr txBox="1"/>
          <p:nvPr>
            <p:ph idx="8" type="subTitle"/>
          </p:nvPr>
        </p:nvSpPr>
        <p:spPr>
          <a:xfrm rot="-5400000">
            <a:off x="10192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0" name="Google Shape;210;p10"/>
          <p:cNvSpPr txBox="1"/>
          <p:nvPr>
            <p:ph idx="9" type="subTitle"/>
          </p:nvPr>
        </p:nvSpPr>
        <p:spPr>
          <a:xfrm rot="-5400000">
            <a:off x="9826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1" name="Google Shape;211;p10"/>
          <p:cNvSpPr txBox="1"/>
          <p:nvPr>
            <p:ph idx="13" type="subTitle"/>
          </p:nvPr>
        </p:nvSpPr>
        <p:spPr>
          <a:xfrm rot="-5400000">
            <a:off x="6185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2" name="Google Shape;212;p10"/>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3" name="Google Shape;213;p10"/>
          <p:cNvSpPr txBox="1"/>
          <p:nvPr>
            <p:ph idx="15"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4" name="Google Shape;214;p10"/>
          <p:cNvSpPr txBox="1"/>
          <p:nvPr>
            <p:ph idx="16"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5" name="Google Shape;215;p10"/>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6" name="Google Shape;216;p10"/>
          <p:cNvSpPr txBox="1"/>
          <p:nvPr>
            <p:ph idx="18"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7" name="Google Shape;217;p10"/>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8" name="Google Shape;218;p10"/>
          <p:cNvSpPr txBox="1"/>
          <p:nvPr>
            <p:ph idx="20" type="subTitle"/>
          </p:nvPr>
        </p:nvSpPr>
        <p:spPr>
          <a:xfrm rot="-5400000">
            <a:off x="513446"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19" name="Google Shape;219;p10"/>
          <p:cNvSpPr txBox="1"/>
          <p:nvPr>
            <p:ph idx="21" type="subTitle"/>
          </p:nvPr>
        </p:nvSpPr>
        <p:spPr>
          <a:xfrm rot="-5400000">
            <a:off x="93229"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0" name="Google Shape;220;p10"/>
          <p:cNvSpPr txBox="1"/>
          <p:nvPr>
            <p:ph idx="22" type="subTitle"/>
          </p:nvPr>
        </p:nvSpPr>
        <p:spPr>
          <a:xfrm rot="-5400000">
            <a:off x="476846"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1" name="Google Shape;221;p10"/>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2" name="Google Shape;222;p10"/>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3" name="Google Shape;223;p10"/>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4" name="Google Shape;224;p10"/>
          <p:cNvSpPr txBox="1"/>
          <p:nvPr>
            <p:ph idx="26" type="subTitle"/>
          </p:nvPr>
        </p:nvSpPr>
        <p:spPr>
          <a:xfrm rot="-5400000">
            <a:off x="7608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5" name="Google Shape;225;p10"/>
          <p:cNvSpPr txBox="1"/>
          <p:nvPr>
            <p:ph idx="27" type="subTitle"/>
          </p:nvPr>
        </p:nvSpPr>
        <p:spPr>
          <a:xfrm rot="-5400000">
            <a:off x="7242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6" name="Google Shape;226;p10"/>
          <p:cNvSpPr txBox="1"/>
          <p:nvPr>
            <p:ph idx="28" type="subTitle"/>
          </p:nvPr>
        </p:nvSpPr>
        <p:spPr>
          <a:xfrm rot="-5400000">
            <a:off x="3501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guide id="17" orient="horz" pos="2204">
          <p15:clr>
            <a:srgbClr val="E46962"/>
          </p15:clr>
        </p15:guide>
        <p15:guide id="18" orient="horz" pos="262">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ection binding">
  <p:cSld name="CUSTOM_1_1_1_1_1_1_1_1">
    <p:spTree>
      <p:nvGrpSpPr>
        <p:cNvPr id="227" name="Shape 227"/>
        <p:cNvGrpSpPr/>
        <p:nvPr/>
      </p:nvGrpSpPr>
      <p:grpSpPr>
        <a:xfrm>
          <a:off x="0" y="0"/>
          <a:ext cx="0" cy="0"/>
          <a:chOff x="0" y="0"/>
          <a:chExt cx="0" cy="0"/>
        </a:xfrm>
      </p:grpSpPr>
      <p:sp>
        <p:nvSpPr>
          <p:cNvPr id="228" name="Google Shape;228;p11"/>
          <p:cNvSpPr/>
          <p:nvPr/>
        </p:nvSpPr>
        <p:spPr>
          <a:xfrm>
            <a:off x="1818000" y="-33075"/>
            <a:ext cx="7326300" cy="5204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229" name="Google Shape;229;p11"/>
          <p:cNvSpPr txBox="1"/>
          <p:nvPr>
            <p:ph type="title"/>
          </p:nvPr>
        </p:nvSpPr>
        <p:spPr>
          <a:xfrm>
            <a:off x="2338150" y="114300"/>
            <a:ext cx="6442800" cy="2499900"/>
          </a:xfrm>
          <a:prstGeom prst="rect">
            <a:avLst/>
          </a:prstGeom>
        </p:spPr>
        <p:txBody>
          <a:bodyPr anchorCtr="0" anchor="t" bIns="91425" lIns="91425" spcFirstLastPara="1" rIns="91425" wrap="square" tIns="91425">
            <a:spAutoFit/>
          </a:bodyPr>
          <a:lstStyle>
            <a:lvl1pPr lvl="0">
              <a:spcBef>
                <a:spcPts val="0"/>
              </a:spcBef>
              <a:spcAft>
                <a:spcPts val="0"/>
              </a:spcAft>
              <a:buSzPts val="8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11"/>
          <p:cNvSpPr txBox="1"/>
          <p:nvPr>
            <p:ph idx="1" type="subTitle"/>
          </p:nvPr>
        </p:nvSpPr>
        <p:spPr>
          <a:xfrm rot="-5400000">
            <a:off x="101929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1" name="Google Shape;231;p11"/>
          <p:cNvSpPr txBox="1"/>
          <p:nvPr>
            <p:ph idx="2" type="subTitle"/>
          </p:nvPr>
        </p:nvSpPr>
        <p:spPr>
          <a:xfrm rot="-5400000">
            <a:off x="982692"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2" name="Google Shape;232;p11"/>
          <p:cNvSpPr txBox="1"/>
          <p:nvPr>
            <p:ph idx="3" type="subTitle"/>
          </p:nvPr>
        </p:nvSpPr>
        <p:spPr>
          <a:xfrm rot="-5400000">
            <a:off x="618596"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3" name="Google Shape;233;p11"/>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4" name="Google Shape;234;p11"/>
          <p:cNvSpPr txBox="1"/>
          <p:nvPr>
            <p:ph idx="5" type="subTitle"/>
          </p:nvPr>
        </p:nvSpPr>
        <p:spPr>
          <a:xfrm rot="-5400000">
            <a:off x="-2835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5" name="Google Shape;235;p11"/>
          <p:cNvSpPr txBox="1"/>
          <p:nvPr>
            <p:ph idx="6" type="subTitle"/>
          </p:nvPr>
        </p:nvSpPr>
        <p:spPr>
          <a:xfrm rot="-5400000">
            <a:off x="-231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6" name="Google Shape;236;p11"/>
          <p:cNvSpPr txBox="1"/>
          <p:nvPr>
            <p:ph idx="7" type="subTitle"/>
          </p:nvPr>
        </p:nvSpPr>
        <p:spPr>
          <a:xfrm rot="-5400000">
            <a:off x="-22800" y="328625"/>
            <a:ext cx="8223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7" name="Google Shape;237;p11"/>
          <p:cNvSpPr txBox="1"/>
          <p:nvPr>
            <p:ph idx="8" type="subTitle"/>
          </p:nvPr>
        </p:nvSpPr>
        <p:spPr>
          <a:xfrm rot="-5400000">
            <a:off x="226242"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8" name="Google Shape;238;p11"/>
          <p:cNvSpPr txBox="1"/>
          <p:nvPr>
            <p:ph idx="9" type="subTitle"/>
          </p:nvPr>
        </p:nvSpPr>
        <p:spPr>
          <a:xfrm rot="-5400000">
            <a:off x="189642" y="36792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39" name="Google Shape;239;p11"/>
          <p:cNvSpPr txBox="1"/>
          <p:nvPr>
            <p:ph idx="13" type="subTitle"/>
          </p:nvPr>
        </p:nvSpPr>
        <p:spPr>
          <a:xfrm rot="-5400000">
            <a:off x="513446"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0" name="Google Shape;240;p11"/>
          <p:cNvSpPr txBox="1"/>
          <p:nvPr>
            <p:ph idx="14" type="subTitle"/>
          </p:nvPr>
        </p:nvSpPr>
        <p:spPr>
          <a:xfrm rot="-5400000">
            <a:off x="93229" y="2436750"/>
            <a:ext cx="1645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1" name="Google Shape;241;p11"/>
          <p:cNvSpPr txBox="1"/>
          <p:nvPr>
            <p:ph idx="15" type="subTitle"/>
          </p:nvPr>
        </p:nvSpPr>
        <p:spPr>
          <a:xfrm rot="-5400000">
            <a:off x="476846"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2" name="Google Shape;242;p11"/>
          <p:cNvSpPr txBox="1"/>
          <p:nvPr>
            <p:ph idx="16" type="subTitle"/>
          </p:nvPr>
        </p:nvSpPr>
        <p:spPr>
          <a:xfrm rot="-5400000">
            <a:off x="-694050" y="2443800"/>
            <a:ext cx="16440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3" name="Google Shape;243;p11"/>
          <p:cNvSpPr txBox="1"/>
          <p:nvPr>
            <p:ph idx="17" type="subTitle"/>
          </p:nvPr>
        </p:nvSpPr>
        <p:spPr>
          <a:xfrm rot="-5400000">
            <a:off x="-42112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4" name="Google Shape;244;p11"/>
          <p:cNvSpPr txBox="1"/>
          <p:nvPr>
            <p:ph idx="18" type="subTitle"/>
          </p:nvPr>
        </p:nvSpPr>
        <p:spPr>
          <a:xfrm rot="-5400000">
            <a:off x="-172129"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5" name="Google Shape;245;p11"/>
          <p:cNvSpPr txBox="1"/>
          <p:nvPr>
            <p:ph idx="19" type="subTitle"/>
          </p:nvPr>
        </p:nvSpPr>
        <p:spPr>
          <a:xfrm rot="-5400000">
            <a:off x="7608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6" name="Google Shape;246;p11"/>
          <p:cNvSpPr txBox="1"/>
          <p:nvPr>
            <p:ph idx="20" type="subTitle"/>
          </p:nvPr>
        </p:nvSpPr>
        <p:spPr>
          <a:xfrm rot="-5400000">
            <a:off x="7242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7" name="Google Shape;247;p11"/>
          <p:cNvSpPr txBox="1"/>
          <p:nvPr>
            <p:ph idx="21" type="subTitle"/>
          </p:nvPr>
        </p:nvSpPr>
        <p:spPr>
          <a:xfrm rot="-5400000">
            <a:off x="350188" y="2442000"/>
            <a:ext cx="1642800" cy="259500"/>
          </a:xfrm>
          <a:prstGeom prst="rect">
            <a:avLst/>
          </a:prstGeom>
        </p:spPr>
        <p:txBody>
          <a:bodyPr anchorCtr="0" anchor="t" bIns="45700" lIns="45700" spcFirstLastPara="1" rIns="45700" wrap="square" tIns="45700">
            <a:sp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8" name="Google Shape;248;p11"/>
          <p:cNvSpPr txBox="1"/>
          <p:nvPr>
            <p:ph idx="22" type="subTitle"/>
          </p:nvPr>
        </p:nvSpPr>
        <p:spPr>
          <a:xfrm rot="-5400000">
            <a:off x="1278600"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49" name="Google Shape;249;p11"/>
          <p:cNvSpPr txBox="1"/>
          <p:nvPr>
            <p:ph idx="23" type="subTitle"/>
          </p:nvPr>
        </p:nvSpPr>
        <p:spPr>
          <a:xfrm rot="-5400000">
            <a:off x="868650"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50" name="Google Shape;250;p11"/>
          <p:cNvSpPr txBox="1"/>
          <p:nvPr>
            <p:ph idx="24" type="subTitle"/>
          </p:nvPr>
        </p:nvSpPr>
        <p:spPr>
          <a:xfrm rot="-5400000">
            <a:off x="1242000"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51" name="Google Shape;251;p11"/>
          <p:cNvSpPr txBox="1"/>
          <p:nvPr>
            <p:ph idx="25" type="subTitle"/>
          </p:nvPr>
        </p:nvSpPr>
        <p:spPr>
          <a:xfrm rot="-5400000">
            <a:off x="1550525" y="4563400"/>
            <a:ext cx="822900" cy="255900"/>
          </a:xfrm>
          <a:prstGeom prst="rect">
            <a:avLst/>
          </a:prstGeom>
        </p:spPr>
        <p:txBody>
          <a:bodyPr anchorCtr="0" anchor="t" bIns="73150" lIns="91425" spcFirstLastPara="1" rIns="91425" wrap="square" tIns="73150">
            <a:noAutofit/>
          </a:bodyPr>
          <a:lstStyle>
            <a:lvl1pPr lvl="0">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52" name="Google Shape;252;p11"/>
          <p:cNvSpPr txBox="1"/>
          <p:nvPr>
            <p:ph idx="26" type="subTitle"/>
          </p:nvPr>
        </p:nvSpPr>
        <p:spPr>
          <a:xfrm rot="-5400000">
            <a:off x="1140575" y="2443800"/>
            <a:ext cx="1642800" cy="255900"/>
          </a:xfrm>
          <a:prstGeom prst="rect">
            <a:avLst/>
          </a:prstGeom>
        </p:spPr>
        <p:txBody>
          <a:bodyPr anchorCtr="0" anchor="t" bIns="45700" lIns="45700" spcFirstLastPara="1" rIns="45700" wrap="square" tIns="45700">
            <a:noAutofit/>
          </a:bodyPr>
          <a:lstStyle>
            <a:lvl1pPr lvl="0" algn="ctr">
              <a:spcBef>
                <a:spcPts val="0"/>
              </a:spcBef>
              <a:spcAft>
                <a:spcPts val="0"/>
              </a:spcAft>
              <a:buSzPts val="10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53" name="Google Shape;253;p11"/>
          <p:cNvSpPr txBox="1"/>
          <p:nvPr>
            <p:ph idx="27" type="subTitle"/>
          </p:nvPr>
        </p:nvSpPr>
        <p:spPr>
          <a:xfrm rot="-5400000">
            <a:off x="1513925" y="362375"/>
            <a:ext cx="896100" cy="255900"/>
          </a:xfrm>
          <a:prstGeom prst="rect">
            <a:avLst/>
          </a:prstGeom>
        </p:spPr>
        <p:txBody>
          <a:bodyPr anchorCtr="0" anchor="t" bIns="73150" lIns="91425" spcFirstLastPara="1" rIns="91425" wrap="square" tIns="73150">
            <a:noAutofit/>
          </a:bodyPr>
          <a:lstStyle>
            <a:lvl1pPr lvl="0" algn="r">
              <a:spcBef>
                <a:spcPts val="0"/>
              </a:spcBef>
              <a:spcAft>
                <a:spcPts val="0"/>
              </a:spcAft>
              <a:buSzPts val="800"/>
              <a:buFont typeface="Roboto"/>
              <a:buNone/>
              <a:defRPr sz="800">
                <a:latin typeface="Roboto"/>
                <a:ea typeface="Roboto"/>
                <a:cs typeface="Roboto"/>
                <a:sym typeface="Roboto"/>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2">
    <p:spTree>
      <p:nvGrpSpPr>
        <p:cNvPr id="254" name="Shape 254"/>
        <p:cNvGrpSpPr/>
        <p:nvPr/>
      </p:nvGrpSpPr>
      <p:grpSpPr>
        <a:xfrm>
          <a:off x="0" y="0"/>
          <a:ext cx="0" cy="0"/>
          <a:chOff x="0" y="0"/>
          <a:chExt cx="0" cy="0"/>
        </a:xfrm>
      </p:grpSpPr>
      <p:sp>
        <p:nvSpPr>
          <p:cNvPr id="255" name="Google Shape;255;p12"/>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56" name="Google Shape;256;p12"/>
          <p:cNvSpPr txBox="1"/>
          <p:nvPr>
            <p:ph idx="1" type="subTitle"/>
          </p:nvPr>
        </p:nvSpPr>
        <p:spPr>
          <a:xfrm>
            <a:off x="118125" y="2589425"/>
            <a:ext cx="52776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9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2">
    <p:bg>
      <p:bgPr>
        <a:solidFill>
          <a:schemeClr val="dk2"/>
        </a:solidFill>
      </p:bgPr>
    </p:bg>
    <p:spTree>
      <p:nvGrpSpPr>
        <p:cNvPr id="257" name="Shape 257"/>
        <p:cNvGrpSpPr/>
        <p:nvPr/>
      </p:nvGrpSpPr>
      <p:grpSpPr>
        <a:xfrm>
          <a:off x="0" y="0"/>
          <a:ext cx="0" cy="0"/>
          <a:chOff x="0" y="0"/>
          <a:chExt cx="0" cy="0"/>
        </a:xfrm>
      </p:grpSpPr>
      <p:sp>
        <p:nvSpPr>
          <p:cNvPr id="258" name="Google Shape;258;p13"/>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2">
    <p:bg>
      <p:bgPr>
        <a:solidFill>
          <a:schemeClr val="lt2"/>
        </a:solidFill>
      </p:bgPr>
    </p:bg>
    <p:spTree>
      <p:nvGrpSpPr>
        <p:cNvPr id="259" name="Shape 259"/>
        <p:cNvGrpSpPr/>
        <p:nvPr/>
      </p:nvGrpSpPr>
      <p:grpSpPr>
        <a:xfrm>
          <a:off x="0" y="0"/>
          <a:ext cx="0" cy="0"/>
          <a:chOff x="0" y="0"/>
          <a:chExt cx="0" cy="0"/>
        </a:xfrm>
      </p:grpSpPr>
      <p:sp>
        <p:nvSpPr>
          <p:cNvPr id="260" name="Google Shape;260;p14"/>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61" name="Google Shape;261;p14"/>
          <p:cNvSpPr txBox="1"/>
          <p:nvPr>
            <p:ph idx="1" type="body"/>
          </p:nvPr>
        </p:nvSpPr>
        <p:spPr>
          <a:xfrm>
            <a:off x="118125" y="2342475"/>
            <a:ext cx="8889900" cy="2359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2">
    <p:bg>
      <p:bgPr>
        <a:solidFill>
          <a:schemeClr val="accent1"/>
        </a:solidFill>
      </p:bgPr>
    </p:bg>
    <p:spTree>
      <p:nvGrpSpPr>
        <p:cNvPr id="262" name="Shape 262"/>
        <p:cNvGrpSpPr/>
        <p:nvPr/>
      </p:nvGrpSpPr>
      <p:grpSpPr>
        <a:xfrm>
          <a:off x="0" y="0"/>
          <a:ext cx="0" cy="0"/>
          <a:chOff x="0" y="0"/>
          <a:chExt cx="0" cy="0"/>
        </a:xfrm>
      </p:grpSpPr>
      <p:sp>
        <p:nvSpPr>
          <p:cNvPr id="263" name="Google Shape;263;p15"/>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64" name="Google Shape;264;p15"/>
          <p:cNvSpPr txBox="1"/>
          <p:nvPr>
            <p:ph idx="1" type="body"/>
          </p:nvPr>
        </p:nvSpPr>
        <p:spPr>
          <a:xfrm>
            <a:off x="118125" y="2342475"/>
            <a:ext cx="4014600" cy="2359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265" name="Google Shape;265;p15"/>
          <p:cNvSpPr txBox="1"/>
          <p:nvPr>
            <p:ph idx="2" type="body"/>
          </p:nvPr>
        </p:nvSpPr>
        <p:spPr>
          <a:xfrm>
            <a:off x="4993425" y="2342475"/>
            <a:ext cx="4014600" cy="2359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2">
    <p:bg>
      <p:bgPr>
        <a:solidFill>
          <a:schemeClr val="accent2"/>
        </a:solidFill>
      </p:bgPr>
    </p:bg>
    <p:spTree>
      <p:nvGrpSpPr>
        <p:cNvPr id="266" name="Shape 266"/>
        <p:cNvGrpSpPr/>
        <p:nvPr/>
      </p:nvGrpSpPr>
      <p:grpSpPr>
        <a:xfrm>
          <a:off x="0" y="0"/>
          <a:ext cx="0" cy="0"/>
          <a:chOff x="0" y="0"/>
          <a:chExt cx="0" cy="0"/>
        </a:xfrm>
      </p:grpSpPr>
      <p:sp>
        <p:nvSpPr>
          <p:cNvPr id="267" name="Google Shape;267;p16"/>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8000"/>
              <a:buFont typeface="Roboto Black"/>
              <a:buNone/>
              <a:defRPr/>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2">
    <p:bg>
      <p:bgPr>
        <a:solidFill>
          <a:schemeClr val="accent3"/>
        </a:solidFill>
      </p:bgPr>
    </p:bg>
    <p:spTree>
      <p:nvGrpSpPr>
        <p:cNvPr id="268" name="Shape 268"/>
        <p:cNvGrpSpPr/>
        <p:nvPr/>
      </p:nvGrpSpPr>
      <p:grpSpPr>
        <a:xfrm>
          <a:off x="0" y="0"/>
          <a:ext cx="0" cy="0"/>
          <a:chOff x="0" y="0"/>
          <a:chExt cx="0" cy="0"/>
        </a:xfrm>
      </p:grpSpPr>
      <p:sp>
        <p:nvSpPr>
          <p:cNvPr id="269" name="Google Shape;269;p17"/>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70" name="Google Shape;270;p17"/>
          <p:cNvSpPr txBox="1"/>
          <p:nvPr>
            <p:ph idx="1" type="body"/>
          </p:nvPr>
        </p:nvSpPr>
        <p:spPr>
          <a:xfrm>
            <a:off x="118125" y="3285000"/>
            <a:ext cx="72429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271" name="Google Shape;271;p17"/>
          <p:cNvSpPr txBox="1"/>
          <p:nvPr>
            <p:ph idx="2" type="subTitle"/>
          </p:nvPr>
        </p:nvSpPr>
        <p:spPr>
          <a:xfrm>
            <a:off x="118125" y="2589425"/>
            <a:ext cx="52776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2">
    <p:bg>
      <p:bgPr>
        <a:solidFill>
          <a:schemeClr val="accent4"/>
        </a:solidFill>
      </p:bgPr>
    </p:bg>
    <p:spTree>
      <p:nvGrpSpPr>
        <p:cNvPr id="272" name="Shape 272"/>
        <p:cNvGrpSpPr/>
        <p:nvPr/>
      </p:nvGrpSpPr>
      <p:grpSpPr>
        <a:xfrm>
          <a:off x="0" y="0"/>
          <a:ext cx="0" cy="0"/>
          <a:chOff x="0" y="0"/>
          <a:chExt cx="0" cy="0"/>
        </a:xfrm>
      </p:grpSpPr>
      <p:sp>
        <p:nvSpPr>
          <p:cNvPr id="273" name="Google Shape;273;p18"/>
          <p:cNvSpPr txBox="1"/>
          <p:nvPr>
            <p:ph type="title"/>
          </p:nvPr>
        </p:nvSpPr>
        <p:spPr>
          <a:xfrm>
            <a:off x="127050" y="1227600"/>
            <a:ext cx="8889900" cy="26883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2">
    <p:bg>
      <p:bgPr>
        <a:solidFill>
          <a:schemeClr val="accent5"/>
        </a:solidFill>
      </p:bgPr>
    </p:bg>
    <p:spTree>
      <p:nvGrpSpPr>
        <p:cNvPr id="274" name="Shape 274"/>
        <p:cNvGrpSpPr/>
        <p:nvPr/>
      </p:nvGrpSpPr>
      <p:grpSpPr>
        <a:xfrm>
          <a:off x="0" y="0"/>
          <a:ext cx="0" cy="0"/>
          <a:chOff x="0" y="0"/>
          <a:chExt cx="0" cy="0"/>
        </a:xfrm>
      </p:grpSpPr>
      <p:sp>
        <p:nvSpPr>
          <p:cNvPr id="275" name="Google Shape;275;p19"/>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76" name="Google Shape;276;p19"/>
          <p:cNvSpPr txBox="1"/>
          <p:nvPr>
            <p:ph idx="1" type="subTitle"/>
          </p:nvPr>
        </p:nvSpPr>
        <p:spPr>
          <a:xfrm>
            <a:off x="118125" y="2589425"/>
            <a:ext cx="52776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2_1">
    <p:spTree>
      <p:nvGrpSpPr>
        <p:cNvPr id="277" name="Shape 277"/>
        <p:cNvGrpSpPr/>
        <p:nvPr/>
      </p:nvGrpSpPr>
      <p:grpSpPr>
        <a:xfrm>
          <a:off x="0" y="0"/>
          <a:ext cx="0" cy="0"/>
          <a:chOff x="0" y="0"/>
          <a:chExt cx="0" cy="0"/>
        </a:xfrm>
      </p:grpSpPr>
      <p:sp>
        <p:nvSpPr>
          <p:cNvPr id="278" name="Google Shape;278;p20"/>
          <p:cNvSpPr txBox="1"/>
          <p:nvPr>
            <p:ph idx="1" type="body"/>
          </p:nvPr>
        </p:nvSpPr>
        <p:spPr>
          <a:xfrm>
            <a:off x="118125" y="1150325"/>
            <a:ext cx="8908500" cy="3910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9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2_1">
    <p:bg>
      <p:bgPr>
        <a:solidFill>
          <a:schemeClr val="dk2"/>
        </a:solidFill>
      </p:bgPr>
    </p:bg>
    <p:spTree>
      <p:nvGrpSpPr>
        <p:cNvPr id="279" name="Shape 279"/>
        <p:cNvGrpSpPr/>
        <p:nvPr/>
      </p:nvGrpSpPr>
      <p:grpSpPr>
        <a:xfrm>
          <a:off x="0" y="0"/>
          <a:ext cx="0" cy="0"/>
          <a:chOff x="0" y="0"/>
          <a:chExt cx="0" cy="0"/>
        </a:xfrm>
      </p:grpSpPr>
      <p:sp>
        <p:nvSpPr>
          <p:cNvPr id="280" name="Google Shape;280;p21"/>
          <p:cNvSpPr txBox="1"/>
          <p:nvPr>
            <p:ph type="title"/>
          </p:nvPr>
        </p:nvSpPr>
        <p:spPr>
          <a:xfrm>
            <a:off x="118125" y="1642500"/>
            <a:ext cx="3090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81" name="Google Shape;281;p21"/>
          <p:cNvSpPr txBox="1"/>
          <p:nvPr>
            <p:ph idx="1" type="body"/>
          </p:nvPr>
        </p:nvSpPr>
        <p:spPr>
          <a:xfrm>
            <a:off x="4457450" y="1642500"/>
            <a:ext cx="4251000" cy="1858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2_2">
    <p:spTree>
      <p:nvGrpSpPr>
        <p:cNvPr id="282" name="Shape 282"/>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9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_1_1_2_2">
    <p:bg>
      <p:bgPr>
        <a:solidFill>
          <a:schemeClr val="dk2"/>
        </a:solidFill>
      </p:bgPr>
    </p:bg>
    <p:spTree>
      <p:nvGrpSpPr>
        <p:cNvPr id="283" name="Shape 283"/>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CUSTOM_1_1_1_2_1">
    <p:bg>
      <p:bgPr>
        <a:solidFill>
          <a:schemeClr val="lt2"/>
        </a:solidFill>
      </p:bgPr>
    </p:bg>
    <p:spTree>
      <p:nvGrpSpPr>
        <p:cNvPr id="284" name="Shape 284"/>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4">
  <p:cSld name="CUSTOM_1_1_1_1_2_1">
    <p:bg>
      <p:bgPr>
        <a:solidFill>
          <a:schemeClr val="accent1"/>
        </a:solidFill>
      </p:bgPr>
    </p:bg>
    <p:spTree>
      <p:nvGrpSpPr>
        <p:cNvPr id="285" name="Shape 285"/>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5">
  <p:cSld name="CUSTOM_1_1_1_1_1_2_1">
    <p:bg>
      <p:bgPr>
        <a:solidFill>
          <a:schemeClr val="accent2"/>
        </a:solidFill>
      </p:bgPr>
    </p:bg>
    <p:spTree>
      <p:nvGrpSpPr>
        <p:cNvPr id="286" name="Shape 286"/>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6">
  <p:cSld name="CUSTOM_1_1_1_1_1_1_2_1">
    <p:bg>
      <p:bgPr>
        <a:solidFill>
          <a:schemeClr val="accent3"/>
        </a:solidFill>
      </p:bgPr>
    </p:bg>
    <p:spTree>
      <p:nvGrpSpPr>
        <p:cNvPr id="287" name="Shape 287"/>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7">
  <p:cSld name="CUSTOM_1_1_1_1_1_1_1_2_1">
    <p:bg>
      <p:bgPr>
        <a:solidFill>
          <a:schemeClr val="accent4"/>
        </a:solidFill>
      </p:bgPr>
    </p:bg>
    <p:spTree>
      <p:nvGrpSpPr>
        <p:cNvPr id="288" name="Shape 288"/>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8">
  <p:cSld name="CUSTOM_1_1_1_1_1_1_1_1_2_1">
    <p:bg>
      <p:bgPr>
        <a:solidFill>
          <a:schemeClr val="accent5"/>
        </a:solidFill>
      </p:bgPr>
    </p:bg>
    <p:spTree>
      <p:nvGrpSpPr>
        <p:cNvPr id="289" name="Shape 289"/>
        <p:cNvGrpSpPr/>
        <p:nvPr/>
      </p:nvGrpSpPr>
      <p:grpSpPr>
        <a:xfrm>
          <a:off x="0" y="0"/>
          <a:ext cx="0" cy="0"/>
          <a:chOff x="0" y="0"/>
          <a:chExt cx="0" cy="0"/>
        </a:xfrm>
      </p:grpSpPr>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2_1_1">
    <p:bg>
      <p:bgPr>
        <a:solidFill>
          <a:schemeClr val="lt2"/>
        </a:solidFill>
      </p:bgPr>
    </p:bg>
    <p:spTree>
      <p:nvGrpSpPr>
        <p:cNvPr id="290" name="Shape 290"/>
        <p:cNvGrpSpPr/>
        <p:nvPr/>
      </p:nvGrpSpPr>
      <p:grpSpPr>
        <a:xfrm>
          <a:off x="0" y="0"/>
          <a:ext cx="0" cy="0"/>
          <a:chOff x="0" y="0"/>
          <a:chExt cx="0" cy="0"/>
        </a:xfrm>
      </p:grpSpPr>
      <p:sp>
        <p:nvSpPr>
          <p:cNvPr id="291" name="Google Shape;291;p30"/>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2" name="Google Shape;292;p30"/>
          <p:cNvSpPr txBox="1"/>
          <p:nvPr>
            <p:ph idx="1" type="subTitle"/>
          </p:nvPr>
        </p:nvSpPr>
        <p:spPr>
          <a:xfrm>
            <a:off x="118125" y="2589425"/>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3" name="Google Shape;293;p30"/>
          <p:cNvSpPr txBox="1"/>
          <p:nvPr>
            <p:ph idx="2" type="subTitle"/>
          </p:nvPr>
        </p:nvSpPr>
        <p:spPr>
          <a:xfrm>
            <a:off x="3153878" y="2589425"/>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4" name="Google Shape;294;p30"/>
          <p:cNvSpPr txBox="1"/>
          <p:nvPr>
            <p:ph idx="3" type="subTitle"/>
          </p:nvPr>
        </p:nvSpPr>
        <p:spPr>
          <a:xfrm>
            <a:off x="6189630" y="2589425"/>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5" name="Google Shape;295;p30"/>
          <p:cNvSpPr txBox="1"/>
          <p:nvPr>
            <p:ph idx="4" type="subTitle"/>
          </p:nvPr>
        </p:nvSpPr>
        <p:spPr>
          <a:xfrm>
            <a:off x="118125" y="3875300"/>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6" name="Google Shape;296;p30"/>
          <p:cNvSpPr txBox="1"/>
          <p:nvPr>
            <p:ph idx="5" type="subTitle"/>
          </p:nvPr>
        </p:nvSpPr>
        <p:spPr>
          <a:xfrm>
            <a:off x="3153878" y="3875300"/>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97" name="Google Shape;297;p30"/>
          <p:cNvSpPr txBox="1"/>
          <p:nvPr>
            <p:ph idx="6" type="subTitle"/>
          </p:nvPr>
        </p:nvSpPr>
        <p:spPr>
          <a:xfrm>
            <a:off x="6189630" y="3875300"/>
            <a:ext cx="2818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2_1_1">
    <p:bg>
      <p:bgPr>
        <a:solidFill>
          <a:schemeClr val="accent1"/>
        </a:solidFill>
      </p:bgPr>
    </p:bg>
    <p:spTree>
      <p:nvGrpSpPr>
        <p:cNvPr id="298" name="Shape 298"/>
        <p:cNvGrpSpPr/>
        <p:nvPr/>
      </p:nvGrpSpPr>
      <p:grpSpPr>
        <a:xfrm>
          <a:off x="0" y="0"/>
          <a:ext cx="0" cy="0"/>
          <a:chOff x="0" y="0"/>
          <a:chExt cx="0" cy="0"/>
        </a:xfrm>
      </p:grpSpPr>
      <p:sp>
        <p:nvSpPr>
          <p:cNvPr id="299" name="Google Shape;299;p31"/>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00" name="Google Shape;300;p31"/>
          <p:cNvSpPr txBox="1"/>
          <p:nvPr>
            <p:ph idx="1" type="body"/>
          </p:nvPr>
        </p:nvSpPr>
        <p:spPr>
          <a:xfrm>
            <a:off x="118125" y="2124100"/>
            <a:ext cx="2616600" cy="2359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01" name="Google Shape;301;p31"/>
          <p:cNvSpPr/>
          <p:nvPr>
            <p:ph idx="2" type="pic"/>
          </p:nvPr>
        </p:nvSpPr>
        <p:spPr>
          <a:xfrm>
            <a:off x="2921875" y="2124100"/>
            <a:ext cx="6086100" cy="29052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2_1_1">
    <p:bg>
      <p:bgPr>
        <a:solidFill>
          <a:schemeClr val="accent2"/>
        </a:solidFill>
      </p:bgPr>
    </p:bg>
    <p:spTree>
      <p:nvGrpSpPr>
        <p:cNvPr id="302" name="Shape 302"/>
        <p:cNvGrpSpPr/>
        <p:nvPr/>
      </p:nvGrpSpPr>
      <p:grpSpPr>
        <a:xfrm>
          <a:off x="0" y="0"/>
          <a:ext cx="0" cy="0"/>
          <a:chOff x="0" y="0"/>
          <a:chExt cx="0" cy="0"/>
        </a:xfrm>
      </p:grpSpPr>
      <p:sp>
        <p:nvSpPr>
          <p:cNvPr id="303" name="Google Shape;303;p32"/>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04" name="Google Shape;304;p32"/>
          <p:cNvSpPr txBox="1"/>
          <p:nvPr>
            <p:ph idx="1" type="subTitle"/>
          </p:nvPr>
        </p:nvSpPr>
        <p:spPr>
          <a:xfrm>
            <a:off x="638963" y="2031450"/>
            <a:ext cx="3571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05" name="Google Shape;305;p32"/>
          <p:cNvSpPr txBox="1"/>
          <p:nvPr>
            <p:ph idx="2" type="body"/>
          </p:nvPr>
        </p:nvSpPr>
        <p:spPr>
          <a:xfrm>
            <a:off x="638963" y="3285000"/>
            <a:ext cx="35715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06" name="Google Shape;306;p32"/>
          <p:cNvSpPr txBox="1"/>
          <p:nvPr>
            <p:ph idx="3" type="subTitle"/>
          </p:nvPr>
        </p:nvSpPr>
        <p:spPr>
          <a:xfrm>
            <a:off x="5008438" y="2031450"/>
            <a:ext cx="35715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07" name="Google Shape;307;p32"/>
          <p:cNvSpPr txBox="1"/>
          <p:nvPr>
            <p:ph idx="4" type="body"/>
          </p:nvPr>
        </p:nvSpPr>
        <p:spPr>
          <a:xfrm>
            <a:off x="5008438" y="3285000"/>
            <a:ext cx="35715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2_1_1">
    <p:bg>
      <p:bgPr>
        <a:solidFill>
          <a:schemeClr val="accent3"/>
        </a:solidFill>
      </p:bgPr>
    </p:bg>
    <p:spTree>
      <p:nvGrpSpPr>
        <p:cNvPr id="308" name="Shape 308"/>
        <p:cNvGrpSpPr/>
        <p:nvPr/>
      </p:nvGrpSpPr>
      <p:grpSpPr>
        <a:xfrm>
          <a:off x="0" y="0"/>
          <a:ext cx="0" cy="0"/>
          <a:chOff x="0" y="0"/>
          <a:chExt cx="0" cy="0"/>
        </a:xfrm>
      </p:grpSpPr>
      <p:sp>
        <p:nvSpPr>
          <p:cNvPr id="309" name="Google Shape;309;p33"/>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0" name="Google Shape;310;p33"/>
          <p:cNvSpPr txBox="1"/>
          <p:nvPr>
            <p:ph idx="1" type="subTitle"/>
          </p:nvPr>
        </p:nvSpPr>
        <p:spPr>
          <a:xfrm>
            <a:off x="638963" y="2031450"/>
            <a:ext cx="22683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1" name="Google Shape;311;p33"/>
          <p:cNvSpPr txBox="1"/>
          <p:nvPr>
            <p:ph idx="2" type="body"/>
          </p:nvPr>
        </p:nvSpPr>
        <p:spPr>
          <a:xfrm>
            <a:off x="638963" y="3285000"/>
            <a:ext cx="22683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12" name="Google Shape;312;p33"/>
          <p:cNvSpPr txBox="1"/>
          <p:nvPr>
            <p:ph idx="3" type="subTitle"/>
          </p:nvPr>
        </p:nvSpPr>
        <p:spPr>
          <a:xfrm>
            <a:off x="3448098" y="2031450"/>
            <a:ext cx="22683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3" name="Google Shape;313;p33"/>
          <p:cNvSpPr txBox="1"/>
          <p:nvPr>
            <p:ph idx="4" type="body"/>
          </p:nvPr>
        </p:nvSpPr>
        <p:spPr>
          <a:xfrm>
            <a:off x="3448098" y="3285000"/>
            <a:ext cx="22683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14" name="Google Shape;314;p33"/>
          <p:cNvSpPr txBox="1"/>
          <p:nvPr>
            <p:ph idx="5" type="subTitle"/>
          </p:nvPr>
        </p:nvSpPr>
        <p:spPr>
          <a:xfrm>
            <a:off x="6202551" y="2031450"/>
            <a:ext cx="22683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5" name="Google Shape;315;p33"/>
          <p:cNvSpPr txBox="1"/>
          <p:nvPr>
            <p:ph idx="6" type="body"/>
          </p:nvPr>
        </p:nvSpPr>
        <p:spPr>
          <a:xfrm>
            <a:off x="6202551" y="3285000"/>
            <a:ext cx="22683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_1_1_1_1_1_1_2_1_1">
    <p:bg>
      <p:bgPr>
        <a:solidFill>
          <a:schemeClr val="accent4"/>
        </a:solidFill>
      </p:bgPr>
    </p:bg>
    <p:spTree>
      <p:nvGrpSpPr>
        <p:cNvPr id="316" name="Shape 316"/>
        <p:cNvGrpSpPr/>
        <p:nvPr/>
      </p:nvGrpSpPr>
      <p:grpSpPr>
        <a:xfrm>
          <a:off x="0" y="0"/>
          <a:ext cx="0" cy="0"/>
          <a:chOff x="0" y="0"/>
          <a:chExt cx="0" cy="0"/>
        </a:xfrm>
      </p:grpSpPr>
      <p:sp>
        <p:nvSpPr>
          <p:cNvPr id="317" name="Google Shape;317;p34"/>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8" name="Google Shape;318;p34"/>
          <p:cNvSpPr txBox="1"/>
          <p:nvPr>
            <p:ph idx="1" type="subTitle"/>
          </p:nvPr>
        </p:nvSpPr>
        <p:spPr>
          <a:xfrm>
            <a:off x="541175" y="2031450"/>
            <a:ext cx="17331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19" name="Google Shape;319;p34"/>
          <p:cNvSpPr txBox="1"/>
          <p:nvPr>
            <p:ph idx="2" type="body"/>
          </p:nvPr>
        </p:nvSpPr>
        <p:spPr>
          <a:xfrm>
            <a:off x="541175" y="3285000"/>
            <a:ext cx="17331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20" name="Google Shape;320;p34"/>
          <p:cNvSpPr txBox="1"/>
          <p:nvPr>
            <p:ph idx="3" type="subTitle"/>
          </p:nvPr>
        </p:nvSpPr>
        <p:spPr>
          <a:xfrm>
            <a:off x="2661138" y="2031450"/>
            <a:ext cx="17331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21" name="Google Shape;321;p34"/>
          <p:cNvSpPr txBox="1"/>
          <p:nvPr>
            <p:ph idx="4" type="body"/>
          </p:nvPr>
        </p:nvSpPr>
        <p:spPr>
          <a:xfrm>
            <a:off x="2661138" y="3285000"/>
            <a:ext cx="17331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22" name="Google Shape;322;p34"/>
          <p:cNvSpPr txBox="1"/>
          <p:nvPr>
            <p:ph idx="5" type="subTitle"/>
          </p:nvPr>
        </p:nvSpPr>
        <p:spPr>
          <a:xfrm>
            <a:off x="4765435" y="2031450"/>
            <a:ext cx="17331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23" name="Google Shape;323;p34"/>
          <p:cNvSpPr txBox="1"/>
          <p:nvPr>
            <p:ph idx="6" type="body"/>
          </p:nvPr>
        </p:nvSpPr>
        <p:spPr>
          <a:xfrm>
            <a:off x="4765435" y="3285000"/>
            <a:ext cx="17331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24" name="Google Shape;324;p34"/>
          <p:cNvSpPr txBox="1"/>
          <p:nvPr>
            <p:ph idx="7" type="subTitle"/>
          </p:nvPr>
        </p:nvSpPr>
        <p:spPr>
          <a:xfrm>
            <a:off x="6869735" y="2031450"/>
            <a:ext cx="17331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25" name="Google Shape;325;p34"/>
          <p:cNvSpPr txBox="1"/>
          <p:nvPr>
            <p:ph idx="8" type="body"/>
          </p:nvPr>
        </p:nvSpPr>
        <p:spPr>
          <a:xfrm>
            <a:off x="6869735" y="3285000"/>
            <a:ext cx="1733100" cy="17442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2_1_1">
    <p:bg>
      <p:bgPr>
        <a:solidFill>
          <a:schemeClr val="accent5"/>
        </a:solidFill>
      </p:bgPr>
    </p:bg>
    <p:spTree>
      <p:nvGrpSpPr>
        <p:cNvPr id="326" name="Shape 326"/>
        <p:cNvGrpSpPr/>
        <p:nvPr/>
      </p:nvGrpSpPr>
      <p:grpSpPr>
        <a:xfrm>
          <a:off x="0" y="0"/>
          <a:ext cx="0" cy="0"/>
          <a:chOff x="0" y="0"/>
          <a:chExt cx="0" cy="0"/>
        </a:xfrm>
      </p:grpSpPr>
      <p:sp>
        <p:nvSpPr>
          <p:cNvPr id="327" name="Google Shape;327;p35"/>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28" name="Google Shape;328;p35"/>
          <p:cNvSpPr/>
          <p:nvPr>
            <p:ph idx="2" type="pic"/>
          </p:nvPr>
        </p:nvSpPr>
        <p:spPr>
          <a:xfrm>
            <a:off x="118075" y="1318850"/>
            <a:ext cx="8889900" cy="37104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guide id="13" pos="656">
          <p15:clr>
            <a:srgbClr val="E46962"/>
          </p15:clr>
        </p15:guide>
        <p15:guide id="14" pos="812">
          <p15:clr>
            <a:srgbClr val="E46962"/>
          </p15:clr>
        </p15:guide>
        <p15:guide id="15" pos="985">
          <p15:clr>
            <a:srgbClr val="E46962"/>
          </p15:clr>
        </p15:guide>
        <p15:guide id="16" pos="1552">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2_3">
    <p:spTree>
      <p:nvGrpSpPr>
        <p:cNvPr id="329" name="Shape 329"/>
        <p:cNvGrpSpPr/>
        <p:nvPr/>
      </p:nvGrpSpPr>
      <p:grpSpPr>
        <a:xfrm>
          <a:off x="0" y="0"/>
          <a:ext cx="0" cy="0"/>
          <a:chOff x="0" y="0"/>
          <a:chExt cx="0" cy="0"/>
        </a:xfrm>
      </p:grpSpPr>
      <p:sp>
        <p:nvSpPr>
          <p:cNvPr id="330" name="Google Shape;330;p36"/>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31" name="Google Shape;331;p36"/>
          <p:cNvSpPr txBox="1"/>
          <p:nvPr>
            <p:ph idx="1" type="subTitle"/>
          </p:nvPr>
        </p:nvSpPr>
        <p:spPr>
          <a:xfrm>
            <a:off x="158263" y="2008900"/>
            <a:ext cx="43170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32" name="Google Shape;332;p36"/>
          <p:cNvSpPr txBox="1"/>
          <p:nvPr>
            <p:ph idx="2" type="body"/>
          </p:nvPr>
        </p:nvSpPr>
        <p:spPr>
          <a:xfrm>
            <a:off x="158275" y="2392475"/>
            <a:ext cx="4317000" cy="424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33" name="Google Shape;333;p36"/>
          <p:cNvSpPr/>
          <p:nvPr>
            <p:ph idx="3" type="pic"/>
          </p:nvPr>
        </p:nvSpPr>
        <p:spPr>
          <a:xfrm>
            <a:off x="158263" y="2816950"/>
            <a:ext cx="4317000" cy="2131200"/>
          </a:xfrm>
          <a:prstGeom prst="roundRect">
            <a:avLst>
              <a:gd fmla="val 4077" name="adj"/>
            </a:avLst>
          </a:prstGeom>
          <a:noFill/>
          <a:ln>
            <a:noFill/>
          </a:ln>
        </p:spPr>
      </p:sp>
      <p:sp>
        <p:nvSpPr>
          <p:cNvPr id="334" name="Google Shape;334;p36"/>
          <p:cNvSpPr txBox="1"/>
          <p:nvPr>
            <p:ph idx="4" type="subTitle"/>
          </p:nvPr>
        </p:nvSpPr>
        <p:spPr>
          <a:xfrm>
            <a:off x="4668738" y="2008900"/>
            <a:ext cx="43170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35" name="Google Shape;335;p36"/>
          <p:cNvSpPr txBox="1"/>
          <p:nvPr>
            <p:ph idx="5" type="body"/>
          </p:nvPr>
        </p:nvSpPr>
        <p:spPr>
          <a:xfrm>
            <a:off x="4668750" y="2392475"/>
            <a:ext cx="4317000" cy="424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36" name="Google Shape;336;p36"/>
          <p:cNvSpPr/>
          <p:nvPr>
            <p:ph idx="6" type="pic"/>
          </p:nvPr>
        </p:nvSpPr>
        <p:spPr>
          <a:xfrm>
            <a:off x="4668738" y="2816950"/>
            <a:ext cx="4317000" cy="21312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9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2_3">
    <p:bg>
      <p:bgPr>
        <a:solidFill>
          <a:schemeClr val="dk2"/>
        </a:solidFill>
      </p:bgPr>
    </p:bg>
    <p:spTree>
      <p:nvGrpSpPr>
        <p:cNvPr id="337" name="Shape 337"/>
        <p:cNvGrpSpPr/>
        <p:nvPr/>
      </p:nvGrpSpPr>
      <p:grpSpPr>
        <a:xfrm>
          <a:off x="0" y="0"/>
          <a:ext cx="0" cy="0"/>
          <a:chOff x="0" y="0"/>
          <a:chExt cx="0" cy="0"/>
        </a:xfrm>
      </p:grpSpPr>
      <p:sp>
        <p:nvSpPr>
          <p:cNvPr id="338" name="Google Shape;338;p37"/>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39" name="Google Shape;339;p37"/>
          <p:cNvSpPr txBox="1"/>
          <p:nvPr>
            <p:ph idx="1" type="subTitle"/>
          </p:nvPr>
        </p:nvSpPr>
        <p:spPr>
          <a:xfrm>
            <a:off x="158276" y="2008900"/>
            <a:ext cx="28644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40" name="Google Shape;340;p37"/>
          <p:cNvSpPr txBox="1"/>
          <p:nvPr>
            <p:ph idx="2" type="body"/>
          </p:nvPr>
        </p:nvSpPr>
        <p:spPr>
          <a:xfrm>
            <a:off x="158275" y="2392475"/>
            <a:ext cx="2864400" cy="424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41" name="Google Shape;341;p37"/>
          <p:cNvSpPr/>
          <p:nvPr>
            <p:ph idx="3" type="pic"/>
          </p:nvPr>
        </p:nvSpPr>
        <p:spPr>
          <a:xfrm>
            <a:off x="158276" y="2816950"/>
            <a:ext cx="2864400" cy="2131200"/>
          </a:xfrm>
          <a:prstGeom prst="roundRect">
            <a:avLst>
              <a:gd fmla="val 4077" name="adj"/>
            </a:avLst>
          </a:prstGeom>
          <a:noFill/>
          <a:ln>
            <a:noFill/>
          </a:ln>
        </p:spPr>
      </p:sp>
      <p:sp>
        <p:nvSpPr>
          <p:cNvPr id="342" name="Google Shape;342;p37"/>
          <p:cNvSpPr txBox="1"/>
          <p:nvPr>
            <p:ph idx="4" type="subTitle"/>
          </p:nvPr>
        </p:nvSpPr>
        <p:spPr>
          <a:xfrm>
            <a:off x="3150973" y="2008900"/>
            <a:ext cx="28644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43" name="Google Shape;343;p37"/>
          <p:cNvSpPr txBox="1"/>
          <p:nvPr>
            <p:ph idx="5" type="body"/>
          </p:nvPr>
        </p:nvSpPr>
        <p:spPr>
          <a:xfrm>
            <a:off x="3150973" y="2392475"/>
            <a:ext cx="2864400" cy="424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44" name="Google Shape;344;p37"/>
          <p:cNvSpPr/>
          <p:nvPr>
            <p:ph idx="6" type="pic"/>
          </p:nvPr>
        </p:nvSpPr>
        <p:spPr>
          <a:xfrm>
            <a:off x="3150973" y="2816950"/>
            <a:ext cx="2864400" cy="2131200"/>
          </a:xfrm>
          <a:prstGeom prst="roundRect">
            <a:avLst>
              <a:gd fmla="val 4077" name="adj"/>
            </a:avLst>
          </a:prstGeom>
          <a:noFill/>
          <a:ln>
            <a:noFill/>
          </a:ln>
        </p:spPr>
      </p:sp>
      <p:sp>
        <p:nvSpPr>
          <p:cNvPr id="345" name="Google Shape;345;p37"/>
          <p:cNvSpPr txBox="1"/>
          <p:nvPr>
            <p:ph idx="7" type="subTitle"/>
          </p:nvPr>
        </p:nvSpPr>
        <p:spPr>
          <a:xfrm>
            <a:off x="6143673" y="2008900"/>
            <a:ext cx="2864400" cy="1080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46" name="Google Shape;346;p37"/>
          <p:cNvSpPr txBox="1"/>
          <p:nvPr>
            <p:ph idx="8" type="body"/>
          </p:nvPr>
        </p:nvSpPr>
        <p:spPr>
          <a:xfrm>
            <a:off x="6143674" y="2392475"/>
            <a:ext cx="2864400" cy="424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a:lvl1pPr>
            <a:lvl2pPr indent="-292100" lvl="1" marL="914400">
              <a:spcBef>
                <a:spcPts val="0"/>
              </a:spcBef>
              <a:spcAft>
                <a:spcPts val="0"/>
              </a:spcAft>
              <a:buClr>
                <a:schemeClr val="lt1"/>
              </a:buClr>
              <a:buSzPts val="1000"/>
              <a:buFont typeface="Roboto Light"/>
              <a:buChar char="○"/>
              <a:defRPr/>
            </a:lvl2pPr>
            <a:lvl3pPr indent="-292100" lvl="2" marL="1371600">
              <a:spcBef>
                <a:spcPts val="0"/>
              </a:spcBef>
              <a:spcAft>
                <a:spcPts val="0"/>
              </a:spcAft>
              <a:buClr>
                <a:schemeClr val="lt1"/>
              </a:buClr>
              <a:buSzPts val="1000"/>
              <a:buFont typeface="Roboto Light"/>
              <a:buChar char="■"/>
              <a:defRPr/>
            </a:lvl3pPr>
            <a:lvl4pPr indent="-292100" lvl="3" marL="1828800">
              <a:spcBef>
                <a:spcPts val="0"/>
              </a:spcBef>
              <a:spcAft>
                <a:spcPts val="0"/>
              </a:spcAft>
              <a:buClr>
                <a:schemeClr val="lt1"/>
              </a:buClr>
              <a:buSzPts val="1000"/>
              <a:buFont typeface="Roboto Light"/>
              <a:buChar char="●"/>
              <a:defRPr/>
            </a:lvl4pPr>
            <a:lvl5pPr indent="-292100" lvl="4" marL="2286000">
              <a:spcBef>
                <a:spcPts val="0"/>
              </a:spcBef>
              <a:spcAft>
                <a:spcPts val="0"/>
              </a:spcAft>
              <a:buClr>
                <a:schemeClr val="lt1"/>
              </a:buClr>
              <a:buSzPts val="1000"/>
              <a:buFont typeface="Roboto Light"/>
              <a:buChar char="○"/>
              <a:defRPr/>
            </a:lvl5pPr>
            <a:lvl6pPr indent="-292100" lvl="5" marL="2743200">
              <a:spcBef>
                <a:spcPts val="0"/>
              </a:spcBef>
              <a:spcAft>
                <a:spcPts val="0"/>
              </a:spcAft>
              <a:buClr>
                <a:schemeClr val="lt1"/>
              </a:buClr>
              <a:buSzPts val="1000"/>
              <a:buFont typeface="Roboto Light"/>
              <a:buChar char="■"/>
              <a:defRPr/>
            </a:lvl6pPr>
            <a:lvl7pPr indent="-292100" lvl="6" marL="3200400">
              <a:spcBef>
                <a:spcPts val="0"/>
              </a:spcBef>
              <a:spcAft>
                <a:spcPts val="0"/>
              </a:spcAft>
              <a:buClr>
                <a:schemeClr val="lt1"/>
              </a:buClr>
              <a:buSzPts val="1000"/>
              <a:buFont typeface="Roboto Light"/>
              <a:buChar char="●"/>
              <a:defRPr/>
            </a:lvl7pPr>
            <a:lvl8pPr indent="-292100" lvl="7" marL="3657600">
              <a:spcBef>
                <a:spcPts val="0"/>
              </a:spcBef>
              <a:spcAft>
                <a:spcPts val="0"/>
              </a:spcAft>
              <a:buClr>
                <a:schemeClr val="lt1"/>
              </a:buClr>
              <a:buSzPts val="1000"/>
              <a:buFont typeface="Roboto Light"/>
              <a:buChar char="○"/>
              <a:defRPr/>
            </a:lvl8pPr>
            <a:lvl9pPr indent="-292100" lvl="8" marL="4114800">
              <a:spcBef>
                <a:spcPts val="0"/>
              </a:spcBef>
              <a:spcAft>
                <a:spcPts val="0"/>
              </a:spcAft>
              <a:buClr>
                <a:schemeClr val="lt1"/>
              </a:buClr>
              <a:buSzPts val="1000"/>
              <a:buFont typeface="Roboto Light"/>
              <a:buChar char="■"/>
              <a:defRPr/>
            </a:lvl9pPr>
          </a:lstStyle>
          <a:p/>
        </p:txBody>
      </p:sp>
      <p:sp>
        <p:nvSpPr>
          <p:cNvPr id="347" name="Google Shape;347;p37"/>
          <p:cNvSpPr/>
          <p:nvPr>
            <p:ph idx="9" type="pic"/>
          </p:nvPr>
        </p:nvSpPr>
        <p:spPr>
          <a:xfrm>
            <a:off x="6143673" y="2816950"/>
            <a:ext cx="2864400" cy="21312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2_2">
    <p:bg>
      <p:bgPr>
        <a:solidFill>
          <a:schemeClr val="lt2"/>
        </a:solidFill>
      </p:bgPr>
    </p:bg>
    <p:spTree>
      <p:nvGrpSpPr>
        <p:cNvPr id="348" name="Shape 348"/>
        <p:cNvGrpSpPr/>
        <p:nvPr/>
      </p:nvGrpSpPr>
      <p:grpSpPr>
        <a:xfrm>
          <a:off x="0" y="0"/>
          <a:ext cx="0" cy="0"/>
          <a:chOff x="0" y="0"/>
          <a:chExt cx="0" cy="0"/>
        </a:xfrm>
      </p:grpSpPr>
      <p:sp>
        <p:nvSpPr>
          <p:cNvPr id="349" name="Google Shape;349;p38"/>
          <p:cNvSpPr/>
          <p:nvPr>
            <p:ph idx="2" type="pic"/>
          </p:nvPr>
        </p:nvSpPr>
        <p:spPr>
          <a:xfrm>
            <a:off x="118075" y="114300"/>
            <a:ext cx="8889900" cy="49149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2_2">
    <p:bg>
      <p:bgPr>
        <a:solidFill>
          <a:schemeClr val="accent1"/>
        </a:solidFill>
      </p:bgPr>
    </p:bg>
    <p:spTree>
      <p:nvGrpSpPr>
        <p:cNvPr id="350" name="Shape 350"/>
        <p:cNvGrpSpPr/>
        <p:nvPr/>
      </p:nvGrpSpPr>
      <p:grpSpPr>
        <a:xfrm>
          <a:off x="0" y="0"/>
          <a:ext cx="0" cy="0"/>
          <a:chOff x="0" y="0"/>
          <a:chExt cx="0" cy="0"/>
        </a:xfrm>
      </p:grpSpPr>
      <p:sp>
        <p:nvSpPr>
          <p:cNvPr id="351" name="Google Shape;351;p39"/>
          <p:cNvSpPr txBox="1"/>
          <p:nvPr>
            <p:ph type="title"/>
          </p:nvPr>
        </p:nvSpPr>
        <p:spPr>
          <a:xfrm>
            <a:off x="118125" y="0"/>
            <a:ext cx="8889900" cy="18585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352" name="Google Shape;352;p39"/>
          <p:cNvSpPr/>
          <p:nvPr>
            <p:ph idx="2" type="pic"/>
          </p:nvPr>
        </p:nvSpPr>
        <p:spPr>
          <a:xfrm>
            <a:off x="158275" y="1268925"/>
            <a:ext cx="2864400" cy="1202700"/>
          </a:xfrm>
          <a:prstGeom prst="roundRect">
            <a:avLst>
              <a:gd fmla="val 4077" name="adj"/>
            </a:avLst>
          </a:prstGeom>
          <a:noFill/>
          <a:ln>
            <a:noFill/>
          </a:ln>
        </p:spPr>
      </p:sp>
      <p:sp>
        <p:nvSpPr>
          <p:cNvPr id="353" name="Google Shape;353;p39"/>
          <p:cNvSpPr/>
          <p:nvPr>
            <p:ph idx="3" type="pic"/>
          </p:nvPr>
        </p:nvSpPr>
        <p:spPr>
          <a:xfrm>
            <a:off x="3150974" y="1268925"/>
            <a:ext cx="2864400" cy="1202700"/>
          </a:xfrm>
          <a:prstGeom prst="roundRect">
            <a:avLst>
              <a:gd fmla="val 4077" name="adj"/>
            </a:avLst>
          </a:prstGeom>
          <a:noFill/>
          <a:ln>
            <a:noFill/>
          </a:ln>
        </p:spPr>
      </p:sp>
      <p:sp>
        <p:nvSpPr>
          <p:cNvPr id="354" name="Google Shape;354;p39"/>
          <p:cNvSpPr/>
          <p:nvPr>
            <p:ph idx="4" type="pic"/>
          </p:nvPr>
        </p:nvSpPr>
        <p:spPr>
          <a:xfrm>
            <a:off x="6143675" y="1268925"/>
            <a:ext cx="2864400" cy="1202700"/>
          </a:xfrm>
          <a:prstGeom prst="roundRect">
            <a:avLst>
              <a:gd fmla="val 4077" name="adj"/>
            </a:avLst>
          </a:prstGeom>
          <a:noFill/>
          <a:ln>
            <a:noFill/>
          </a:ln>
        </p:spPr>
      </p:sp>
      <p:sp>
        <p:nvSpPr>
          <p:cNvPr id="355" name="Google Shape;355;p39"/>
          <p:cNvSpPr/>
          <p:nvPr>
            <p:ph idx="5" type="pic"/>
          </p:nvPr>
        </p:nvSpPr>
        <p:spPr>
          <a:xfrm>
            <a:off x="158275" y="2561998"/>
            <a:ext cx="2864400" cy="1202700"/>
          </a:xfrm>
          <a:prstGeom prst="roundRect">
            <a:avLst>
              <a:gd fmla="val 4077" name="adj"/>
            </a:avLst>
          </a:prstGeom>
          <a:noFill/>
          <a:ln>
            <a:noFill/>
          </a:ln>
        </p:spPr>
      </p:sp>
      <p:sp>
        <p:nvSpPr>
          <p:cNvPr id="356" name="Google Shape;356;p39"/>
          <p:cNvSpPr/>
          <p:nvPr>
            <p:ph idx="6" type="pic"/>
          </p:nvPr>
        </p:nvSpPr>
        <p:spPr>
          <a:xfrm>
            <a:off x="3150974" y="2561998"/>
            <a:ext cx="2864400" cy="1202700"/>
          </a:xfrm>
          <a:prstGeom prst="roundRect">
            <a:avLst>
              <a:gd fmla="val 4077" name="adj"/>
            </a:avLst>
          </a:prstGeom>
          <a:noFill/>
          <a:ln>
            <a:noFill/>
          </a:ln>
        </p:spPr>
      </p:sp>
      <p:sp>
        <p:nvSpPr>
          <p:cNvPr id="357" name="Google Shape;357;p39"/>
          <p:cNvSpPr/>
          <p:nvPr>
            <p:ph idx="7" type="pic"/>
          </p:nvPr>
        </p:nvSpPr>
        <p:spPr>
          <a:xfrm>
            <a:off x="6143675" y="2561998"/>
            <a:ext cx="2864400" cy="1202700"/>
          </a:xfrm>
          <a:prstGeom prst="roundRect">
            <a:avLst>
              <a:gd fmla="val 4077" name="adj"/>
            </a:avLst>
          </a:prstGeom>
          <a:noFill/>
          <a:ln>
            <a:noFill/>
          </a:ln>
        </p:spPr>
      </p:sp>
      <p:sp>
        <p:nvSpPr>
          <p:cNvPr id="358" name="Google Shape;358;p39"/>
          <p:cNvSpPr/>
          <p:nvPr>
            <p:ph idx="8" type="pic"/>
          </p:nvPr>
        </p:nvSpPr>
        <p:spPr>
          <a:xfrm>
            <a:off x="158275" y="3855070"/>
            <a:ext cx="2864400" cy="1202700"/>
          </a:xfrm>
          <a:prstGeom prst="roundRect">
            <a:avLst>
              <a:gd fmla="val 4077" name="adj"/>
            </a:avLst>
          </a:prstGeom>
          <a:noFill/>
          <a:ln>
            <a:noFill/>
          </a:ln>
        </p:spPr>
      </p:sp>
      <p:sp>
        <p:nvSpPr>
          <p:cNvPr id="359" name="Google Shape;359;p39"/>
          <p:cNvSpPr/>
          <p:nvPr>
            <p:ph idx="9" type="pic"/>
          </p:nvPr>
        </p:nvSpPr>
        <p:spPr>
          <a:xfrm>
            <a:off x="3150974" y="3855070"/>
            <a:ext cx="2864400" cy="1202700"/>
          </a:xfrm>
          <a:prstGeom prst="roundRect">
            <a:avLst>
              <a:gd fmla="val 4077" name="adj"/>
            </a:avLst>
          </a:prstGeom>
          <a:noFill/>
          <a:ln>
            <a:noFill/>
          </a:ln>
        </p:spPr>
      </p:sp>
      <p:sp>
        <p:nvSpPr>
          <p:cNvPr id="360" name="Google Shape;360;p39"/>
          <p:cNvSpPr/>
          <p:nvPr>
            <p:ph idx="13" type="pic"/>
          </p:nvPr>
        </p:nvSpPr>
        <p:spPr>
          <a:xfrm>
            <a:off x="6143675" y="3855070"/>
            <a:ext cx="2864400" cy="1202700"/>
          </a:xfrm>
          <a:prstGeom prst="roundRect">
            <a:avLst>
              <a:gd fmla="val 4077" name="adj"/>
            </a:avLst>
          </a:prstGeom>
          <a:noFill/>
          <a:ln>
            <a:noFill/>
          </a:ln>
        </p:spPr>
      </p:sp>
    </p:spTree>
  </p:cSld>
  <p:clrMapOvr>
    <a:masterClrMapping/>
  </p:clrMapOvr>
  <p:extLst>
    <p:ext uri="{DCECCB84-F9BA-43D5-87BE-67443E8EF086}">
      <p15:sldGuideLst>
        <p15:guide id="1" pos="72">
          <p15:clr>
            <a:srgbClr val="E46962"/>
          </p15:clr>
        </p15:guide>
        <p15:guide id="2" orient="horz" pos="72">
          <p15:clr>
            <a:srgbClr val="E46962"/>
          </p15:clr>
        </p15:guide>
        <p15:guide id="3" orient="horz" pos="3168">
          <p15:clr>
            <a:srgbClr val="E46962"/>
          </p15:clr>
        </p15:guide>
        <p15:guide id="4" pos="4637">
          <p15:clr>
            <a:srgbClr val="E46962"/>
          </p15:clr>
        </p15:guide>
        <p15:guide id="5" pos="4801">
          <p15:clr>
            <a:srgbClr val="E46962"/>
          </p15:clr>
        </p15:guide>
        <p15:guide id="6" pos="4965">
          <p15:clr>
            <a:srgbClr val="E46962"/>
          </p15:clr>
        </p15:guide>
        <p15:guide id="7" pos="5135">
          <p15:clr>
            <a:srgbClr val="E46962"/>
          </p15:clr>
        </p15:guide>
        <p15:guide id="8" pos="5291">
          <p15:clr>
            <a:srgbClr val="E46962"/>
          </p15:clr>
        </p15:guide>
        <p15:guide id="9" pos="5457">
          <p15:clr>
            <a:srgbClr val="E46962"/>
          </p15:clr>
        </p15:guide>
        <p15:guide id="10" pos="5606">
          <p15:clr>
            <a:srgbClr val="E46962"/>
          </p15:clr>
        </p15:guide>
        <p15:guide id="11" pos="328">
          <p15:clr>
            <a:srgbClr val="E46962"/>
          </p15:clr>
        </p15:guide>
        <p15:guide id="12" pos="492">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361" name="Shape 361"/>
        <p:cNvGrpSpPr/>
        <p:nvPr/>
      </p:nvGrpSpPr>
      <p:grpSpPr>
        <a:xfrm>
          <a:off x="0" y="0"/>
          <a:ext cx="0" cy="0"/>
          <a:chOff x="0" y="0"/>
          <a:chExt cx="0" cy="0"/>
        </a:xfrm>
      </p:grpSpPr>
      <p:sp>
        <p:nvSpPr>
          <p:cNvPr id="362" name="Google Shape;362;p40"/>
          <p:cNvSpPr txBox="1"/>
          <p:nvPr>
            <p:ph type="title"/>
          </p:nvPr>
        </p:nvSpPr>
        <p:spPr>
          <a:xfrm>
            <a:off x="671250" y="2141250"/>
            <a:ext cx="7852200" cy="8610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63" name="Google Shape;363;p40"/>
          <p:cNvSpPr txBox="1"/>
          <p:nvPr>
            <p:ph idx="12" type="sldNum"/>
          </p:nvPr>
        </p:nvSpPr>
        <p:spPr>
          <a:xfrm>
            <a:off x="8490250" y="4681009"/>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8125" y="0"/>
            <a:ext cx="9025800" cy="18585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lt1"/>
              </a:buClr>
              <a:buSzPts val="8000"/>
              <a:buFont typeface="Roboto Black"/>
              <a:buNone/>
              <a:defRPr sz="8000">
                <a:solidFill>
                  <a:schemeClr val="lt1"/>
                </a:solidFill>
                <a:latin typeface="Roboto Black"/>
                <a:ea typeface="Roboto Black"/>
                <a:cs typeface="Roboto Black"/>
                <a:sym typeface="Roboto Black"/>
              </a:defRPr>
            </a:lvl1pPr>
            <a:lvl2pPr lvl="1">
              <a:spcBef>
                <a:spcPts val="0"/>
              </a:spcBef>
              <a:spcAft>
                <a:spcPts val="0"/>
              </a:spcAft>
              <a:buClr>
                <a:schemeClr val="lt1"/>
              </a:buClr>
              <a:buSzPts val="14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4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4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4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4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4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4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400"/>
              <a:buFont typeface="Roboto"/>
              <a:buNone/>
              <a:defRPr>
                <a:solidFill>
                  <a:schemeClr val="lt1"/>
                </a:solidFill>
                <a:latin typeface="Roboto"/>
                <a:ea typeface="Roboto"/>
                <a:cs typeface="Roboto"/>
                <a:sym typeface="Roboto"/>
              </a:defRPr>
            </a:lvl9pPr>
          </a:lstStyle>
          <a:p/>
        </p:txBody>
      </p:sp>
      <p:sp>
        <p:nvSpPr>
          <p:cNvPr id="7" name="Google Shape;7;p1"/>
          <p:cNvSpPr txBox="1"/>
          <p:nvPr>
            <p:ph idx="1" type="body"/>
          </p:nvPr>
        </p:nvSpPr>
        <p:spPr>
          <a:xfrm>
            <a:off x="118125" y="3059850"/>
            <a:ext cx="3969300" cy="1051200"/>
          </a:xfrm>
          <a:prstGeom prst="rect">
            <a:avLst/>
          </a:prstGeom>
          <a:noFill/>
          <a:ln>
            <a:noFill/>
          </a:ln>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1pPr>
            <a:lvl2pPr indent="-292100" lvl="1" marL="9144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2pPr>
            <a:lvl3pPr indent="-292100" lvl="2" marL="13716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3pPr>
            <a:lvl4pPr indent="-292100" lvl="3" marL="18288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4pPr>
            <a:lvl5pPr indent="-292100" lvl="4" marL="22860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5pPr>
            <a:lvl6pPr indent="-292100" lvl="5" marL="27432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6pPr>
            <a:lvl7pPr indent="-292100" lvl="6" marL="32004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7pPr>
            <a:lvl8pPr indent="-292100" lvl="7" marL="36576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8pPr>
            <a:lvl9pPr indent="-292100" lvl="8" marL="4114800">
              <a:spcBef>
                <a:spcPts val="0"/>
              </a:spcBef>
              <a:spcAft>
                <a:spcPts val="0"/>
              </a:spcAft>
              <a:buClr>
                <a:schemeClr val="lt1"/>
              </a:buClr>
              <a:buSzPts val="1000"/>
              <a:buFont typeface="Roboto Light"/>
              <a:buChar char="■"/>
              <a:defRPr sz="1000">
                <a:solidFill>
                  <a:schemeClr val="lt1"/>
                </a:solidFill>
                <a:latin typeface="Roboto Light"/>
                <a:ea typeface="Roboto Light"/>
                <a:cs typeface="Roboto Light"/>
                <a:sym typeface="Roboto Ligh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Roboto Light"/>
                <a:ea typeface="Roboto Light"/>
                <a:cs typeface="Roboto Light"/>
                <a:sym typeface="Roboto Light"/>
              </a:defRPr>
            </a:lvl1pPr>
            <a:lvl2pPr lvl="1" algn="r">
              <a:buNone/>
              <a:defRPr sz="1300">
                <a:solidFill>
                  <a:schemeClr val="lt1"/>
                </a:solidFill>
                <a:latin typeface="Roboto Light"/>
                <a:ea typeface="Roboto Light"/>
                <a:cs typeface="Roboto Light"/>
                <a:sym typeface="Roboto Light"/>
              </a:defRPr>
            </a:lvl2pPr>
            <a:lvl3pPr lvl="2" algn="r">
              <a:buNone/>
              <a:defRPr sz="1300">
                <a:solidFill>
                  <a:schemeClr val="lt1"/>
                </a:solidFill>
                <a:latin typeface="Roboto Light"/>
                <a:ea typeface="Roboto Light"/>
                <a:cs typeface="Roboto Light"/>
                <a:sym typeface="Roboto Light"/>
              </a:defRPr>
            </a:lvl3pPr>
            <a:lvl4pPr lvl="3" algn="r">
              <a:buNone/>
              <a:defRPr sz="1300">
                <a:solidFill>
                  <a:schemeClr val="lt1"/>
                </a:solidFill>
                <a:latin typeface="Roboto Light"/>
                <a:ea typeface="Roboto Light"/>
                <a:cs typeface="Roboto Light"/>
                <a:sym typeface="Roboto Light"/>
              </a:defRPr>
            </a:lvl4pPr>
            <a:lvl5pPr lvl="4" algn="r">
              <a:buNone/>
              <a:defRPr sz="1300">
                <a:solidFill>
                  <a:schemeClr val="lt1"/>
                </a:solidFill>
                <a:latin typeface="Roboto Light"/>
                <a:ea typeface="Roboto Light"/>
                <a:cs typeface="Roboto Light"/>
                <a:sym typeface="Roboto Light"/>
              </a:defRPr>
            </a:lvl5pPr>
            <a:lvl6pPr lvl="5" algn="r">
              <a:buNone/>
              <a:defRPr sz="1300">
                <a:solidFill>
                  <a:schemeClr val="lt1"/>
                </a:solidFill>
                <a:latin typeface="Roboto Light"/>
                <a:ea typeface="Roboto Light"/>
                <a:cs typeface="Roboto Light"/>
                <a:sym typeface="Roboto Light"/>
              </a:defRPr>
            </a:lvl6pPr>
            <a:lvl7pPr lvl="6" algn="r">
              <a:buNone/>
              <a:defRPr sz="1300">
                <a:solidFill>
                  <a:schemeClr val="lt1"/>
                </a:solidFill>
                <a:latin typeface="Roboto Light"/>
                <a:ea typeface="Roboto Light"/>
                <a:cs typeface="Roboto Light"/>
                <a:sym typeface="Roboto Light"/>
              </a:defRPr>
            </a:lvl7pPr>
            <a:lvl8pPr lvl="7" algn="r">
              <a:buNone/>
              <a:defRPr sz="1300">
                <a:solidFill>
                  <a:schemeClr val="lt1"/>
                </a:solidFill>
                <a:latin typeface="Roboto Light"/>
                <a:ea typeface="Roboto Light"/>
                <a:cs typeface="Roboto Light"/>
                <a:sym typeface="Roboto Light"/>
              </a:defRPr>
            </a:lvl8pPr>
            <a:lvl9pPr lvl="8" algn="r">
              <a:buNone/>
              <a:defRPr sz="1300">
                <a:solidFill>
                  <a:schemeClr val="lt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hyperlink" Target="https://doi.org/10.1080/10911350903269757" TargetMode="External"/><Relationship Id="rId4" Type="http://schemas.openxmlformats.org/officeDocument/2006/relationships/hyperlink" Target="https://doi.org/10.1080/10530789.2020.1738636" TargetMode="External"/><Relationship Id="rId9" Type="http://schemas.openxmlformats.org/officeDocument/2006/relationships/hyperlink" Target="https://online.stat.psu.edu/stat462/node/180/" TargetMode="External"/><Relationship Id="rId5" Type="http://schemas.openxmlformats.org/officeDocument/2006/relationships/hyperlink" Target="https://doi.org/10.1145/3613904.3642392" TargetMode="External"/><Relationship Id="rId6" Type="http://schemas.openxmlformats.org/officeDocument/2006/relationships/hyperlink" Target="https://www.huduser.gov/portal/datasets/cp.html" TargetMode="External"/><Relationship Id="rId7" Type="http://schemas.openxmlformats.org/officeDocument/2006/relationships/hyperlink" Target="https://www.countyhealthrankings.org/health-data" TargetMode="External"/><Relationship Id="rId8" Type="http://schemas.openxmlformats.org/officeDocument/2006/relationships/hyperlink" Target="https://online.stat.psu.edu/stat462/node/93/" TargetMode="External"/><Relationship Id="rId11" Type="http://schemas.openxmlformats.org/officeDocument/2006/relationships/hyperlink" Target="https://www.census.gov/programs-surveys/acs" TargetMode="External"/><Relationship Id="rId10" Type="http://schemas.openxmlformats.org/officeDocument/2006/relationships/hyperlink" Target="https://www.investopedia.com/terms/v/variance-inflation-factor.as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367" name="Shape 367"/>
        <p:cNvGrpSpPr/>
        <p:nvPr/>
      </p:nvGrpSpPr>
      <p:grpSpPr>
        <a:xfrm>
          <a:off x="0" y="0"/>
          <a:ext cx="0" cy="0"/>
          <a:chOff x="0" y="0"/>
          <a:chExt cx="0" cy="0"/>
        </a:xfrm>
      </p:grpSpPr>
      <p:sp>
        <p:nvSpPr>
          <p:cNvPr id="368" name="Google Shape;368;p41"/>
          <p:cNvSpPr/>
          <p:nvPr/>
        </p:nvSpPr>
        <p:spPr>
          <a:xfrm>
            <a:off x="0" y="-2850"/>
            <a:ext cx="86391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69" name="Google Shape;369;p41"/>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70" name="Google Shape;370;p41"/>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71" name="Google Shape;371;p41"/>
          <p:cNvSpPr txBox="1"/>
          <p:nvPr>
            <p:ph idx="2" type="subTitle"/>
          </p:nvPr>
        </p:nvSpPr>
        <p:spPr>
          <a:xfrm>
            <a:off x="571350" y="3157790"/>
            <a:ext cx="3272400" cy="446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700"/>
              <a:t>Stakeholder-informed research</a:t>
            </a:r>
            <a:endParaRPr sz="1700"/>
          </a:p>
        </p:txBody>
      </p:sp>
      <p:sp>
        <p:nvSpPr>
          <p:cNvPr id="372" name="Google Shape;372;p41"/>
          <p:cNvSpPr txBox="1"/>
          <p:nvPr>
            <p:ph idx="1" type="subTitle"/>
          </p:nvPr>
        </p:nvSpPr>
        <p:spPr>
          <a:xfrm>
            <a:off x="571350" y="3519068"/>
            <a:ext cx="3575700" cy="985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Investigating what public data can - and cannot - tell us about healthcare access and housing stability in New Mexico.   </a:t>
            </a:r>
            <a:endParaRPr/>
          </a:p>
          <a:p>
            <a:pPr indent="0" lvl="0" marL="0" rtl="0" algn="l">
              <a:spcBef>
                <a:spcPts val="0"/>
              </a:spcBef>
              <a:spcAft>
                <a:spcPts val="0"/>
              </a:spcAft>
              <a:buNone/>
            </a:pPr>
            <a:r>
              <a:t/>
            </a:r>
            <a:endParaRPr>
              <a:solidFill>
                <a:srgbClr val="0A2D27"/>
              </a:solidFill>
            </a:endParaRPr>
          </a:p>
        </p:txBody>
      </p:sp>
      <p:sp>
        <p:nvSpPr>
          <p:cNvPr id="373" name="Google Shape;373;p41"/>
          <p:cNvSpPr txBox="1"/>
          <p:nvPr>
            <p:ph idx="3" type="subTitle"/>
          </p:nvPr>
        </p:nvSpPr>
        <p:spPr>
          <a:xfrm>
            <a:off x="4478200" y="3121978"/>
            <a:ext cx="2665500" cy="1985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CNM Ingenuity Deep Dive Data Science Bootcamp Capstone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Eljay Smith</a:t>
            </a:r>
            <a:endParaRPr/>
          </a:p>
          <a:p>
            <a:pPr indent="0" lvl="0" marL="0" rtl="0" algn="l">
              <a:spcBef>
                <a:spcPts val="0"/>
              </a:spcBef>
              <a:spcAft>
                <a:spcPts val="0"/>
              </a:spcAft>
              <a:buNone/>
            </a:pPr>
            <a:r>
              <a:rPr lang="en"/>
              <a:t>Celeste Fischer</a:t>
            </a:r>
            <a:endParaRPr/>
          </a:p>
          <a:p>
            <a:pPr indent="0" lvl="0" marL="0" rtl="0" algn="l">
              <a:spcBef>
                <a:spcPts val="0"/>
              </a:spcBef>
              <a:spcAft>
                <a:spcPts val="0"/>
              </a:spcAft>
              <a:buNone/>
            </a:pPr>
            <a:r>
              <a:rPr lang="en"/>
              <a:t>Raven Otero-Symphony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6.26.2026</a:t>
            </a:r>
            <a:endParaRPr/>
          </a:p>
        </p:txBody>
      </p:sp>
      <p:sp>
        <p:nvSpPr>
          <p:cNvPr id="374" name="Google Shape;374;p41"/>
          <p:cNvSpPr txBox="1"/>
          <p:nvPr>
            <p:ph type="title"/>
          </p:nvPr>
        </p:nvSpPr>
        <p:spPr>
          <a:xfrm>
            <a:off x="467225" y="304425"/>
            <a:ext cx="6615600" cy="1323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7400">
                <a:solidFill>
                  <a:srgbClr val="B45F06"/>
                </a:solidFill>
              </a:rPr>
              <a:t>homelessness,</a:t>
            </a:r>
            <a:endParaRPr sz="7400">
              <a:solidFill>
                <a:srgbClr val="B45F06"/>
              </a:solidFill>
            </a:endParaRPr>
          </a:p>
        </p:txBody>
      </p:sp>
      <p:sp>
        <p:nvSpPr>
          <p:cNvPr id="375" name="Google Shape;375;p41"/>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01</a:t>
            </a:r>
            <a:endParaRPr b="1">
              <a:solidFill>
                <a:srgbClr val="FDFAF3"/>
              </a:solidFill>
            </a:endParaRPr>
          </a:p>
        </p:txBody>
      </p:sp>
      <p:sp>
        <p:nvSpPr>
          <p:cNvPr id="376" name="Google Shape;376;p41"/>
          <p:cNvSpPr txBox="1"/>
          <p:nvPr>
            <p:ph idx="26" type="subTitle"/>
          </p:nvPr>
        </p:nvSpPr>
        <p:spPr>
          <a:xfrm rot="-5400000">
            <a:off x="-694050" y="2443800"/>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BACKGROUND</a:t>
            </a:r>
            <a:endParaRPr>
              <a:solidFill>
                <a:srgbClr val="FDFAF3"/>
              </a:solidFill>
            </a:endParaRPr>
          </a:p>
        </p:txBody>
      </p:sp>
      <p:sp>
        <p:nvSpPr>
          <p:cNvPr id="377" name="Google Shape;377;p41"/>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378" name="Google Shape;378;p41"/>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379" name="Google Shape;379;p41"/>
          <p:cNvSpPr txBox="1"/>
          <p:nvPr>
            <p:ph idx="22"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380" name="Google Shape;380;p41"/>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381" name="Google Shape;381;p41"/>
          <p:cNvSpPr txBox="1"/>
          <p:nvPr>
            <p:ph idx="2" type="subTitle"/>
          </p:nvPr>
        </p:nvSpPr>
        <p:spPr>
          <a:xfrm>
            <a:off x="467225" y="1369452"/>
            <a:ext cx="5110500" cy="1144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900"/>
              <a:t>mental </a:t>
            </a:r>
            <a:r>
              <a:rPr lang="en" sz="2900"/>
              <a:t>healthcare access,</a:t>
            </a:r>
            <a:endParaRPr sz="2900"/>
          </a:p>
          <a:p>
            <a:pPr indent="0" lvl="0" marL="0" rtl="0" algn="l">
              <a:lnSpc>
                <a:spcPct val="115000"/>
              </a:lnSpc>
              <a:spcBef>
                <a:spcPts val="0"/>
              </a:spcBef>
              <a:spcAft>
                <a:spcPts val="0"/>
              </a:spcAft>
              <a:buNone/>
            </a:pPr>
            <a:r>
              <a:rPr lang="en" sz="2900"/>
              <a:t>and the limits of public data.</a:t>
            </a:r>
            <a:endParaRPr sz="2900"/>
          </a:p>
        </p:txBody>
      </p:sp>
      <p:cxnSp>
        <p:nvCxnSpPr>
          <p:cNvPr id="382" name="Google Shape;382;p41"/>
          <p:cNvCxnSpPr/>
          <p:nvPr/>
        </p:nvCxnSpPr>
        <p:spPr>
          <a:xfrm>
            <a:off x="4566979" y="3689650"/>
            <a:ext cx="2433000" cy="6900"/>
          </a:xfrm>
          <a:prstGeom prst="straightConnector1">
            <a:avLst/>
          </a:prstGeom>
          <a:noFill/>
          <a:ln cap="flat" cmpd="sng" w="28575">
            <a:solidFill>
              <a:srgbClr val="B45F06"/>
            </a:solidFill>
            <a:prstDash val="solid"/>
            <a:round/>
            <a:headEnd len="med" w="med" type="none"/>
            <a:tailEnd len="med" w="med" type="none"/>
          </a:ln>
        </p:spPr>
      </p:cxnSp>
      <p:sp>
        <p:nvSpPr>
          <p:cNvPr id="383" name="Google Shape;383;p41"/>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84" name="Google Shape;384;p41"/>
          <p:cNvSpPr/>
          <p:nvPr/>
        </p:nvSpPr>
        <p:spPr>
          <a:xfrm>
            <a:off x="8375200" y="-5475"/>
            <a:ext cx="260400" cy="51492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85" name="Google Shape;385;p41"/>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86" name="Google Shape;386;p41"/>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387" name="Google Shape;387;p41"/>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388" name="Google Shape;388;p41"/>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389" name="Google Shape;389;p41"/>
          <p:cNvSpPr txBox="1"/>
          <p:nvPr>
            <p:ph idx="25"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390" name="Google Shape;390;p41"/>
          <p:cNvSpPr txBox="1"/>
          <p:nvPr>
            <p:ph idx="26" type="subTitle"/>
          </p:nvPr>
        </p:nvSpPr>
        <p:spPr>
          <a:xfrm rot="-5400000">
            <a:off x="7683400" y="2441175"/>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391" name="Google Shape;391;p41"/>
          <p:cNvSpPr txBox="1"/>
          <p:nvPr>
            <p:ph idx="26" type="subTitle"/>
          </p:nvPr>
        </p:nvSpPr>
        <p:spPr>
          <a:xfrm rot="-5400000">
            <a:off x="7936900" y="2441175"/>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ASSESSMENT</a:t>
            </a: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395" name="Shape 395"/>
        <p:cNvGrpSpPr/>
        <p:nvPr/>
      </p:nvGrpSpPr>
      <p:grpSpPr>
        <a:xfrm>
          <a:off x="0" y="0"/>
          <a:ext cx="0" cy="0"/>
          <a:chOff x="0" y="0"/>
          <a:chExt cx="0" cy="0"/>
        </a:xfrm>
      </p:grpSpPr>
      <p:sp>
        <p:nvSpPr>
          <p:cNvPr id="396" name="Google Shape;396;p42"/>
          <p:cNvSpPr/>
          <p:nvPr/>
        </p:nvSpPr>
        <p:spPr>
          <a:xfrm>
            <a:off x="779112" y="-9900"/>
            <a:ext cx="73332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97" name="Google Shape;397;p42"/>
          <p:cNvSpPr/>
          <p:nvPr/>
        </p:nvSpPr>
        <p:spPr>
          <a:xfrm>
            <a:off x="779100" y="-9900"/>
            <a:ext cx="73332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98" name="Google Shape;398;p42"/>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399" name="Google Shape;399;p42"/>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00" name="Google Shape;400;p42"/>
          <p:cNvSpPr txBox="1"/>
          <p:nvPr>
            <p:ph idx="4" type="subTitle"/>
          </p:nvPr>
        </p:nvSpPr>
        <p:spPr>
          <a:xfrm>
            <a:off x="3367725" y="3182825"/>
            <a:ext cx="21414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data</a:t>
            </a:r>
            <a:endParaRPr sz="2400"/>
          </a:p>
        </p:txBody>
      </p:sp>
      <p:sp>
        <p:nvSpPr>
          <p:cNvPr id="401" name="Google Shape;401;p42"/>
          <p:cNvSpPr txBox="1"/>
          <p:nvPr>
            <p:ph idx="8"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01</a:t>
            </a:r>
            <a:endParaRPr b="1">
              <a:solidFill>
                <a:srgbClr val="FDFAF3"/>
              </a:solidFill>
            </a:endParaRPr>
          </a:p>
        </p:txBody>
      </p:sp>
      <p:sp>
        <p:nvSpPr>
          <p:cNvPr id="402" name="Google Shape;402;p42"/>
          <p:cNvSpPr txBox="1"/>
          <p:nvPr>
            <p:ph idx="30" type="subTitle"/>
          </p:nvPr>
        </p:nvSpPr>
        <p:spPr>
          <a:xfrm rot="-5400000">
            <a:off x="-694050" y="2443800"/>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7F8F8"/>
                </a:solidFill>
              </a:rPr>
              <a:t>BACKGROUND</a:t>
            </a:r>
            <a:endParaRPr>
              <a:solidFill>
                <a:srgbClr val="F7F8F8"/>
              </a:solidFill>
            </a:endParaRPr>
          </a:p>
        </p:txBody>
      </p:sp>
      <p:sp>
        <p:nvSpPr>
          <p:cNvPr id="403" name="Google Shape;403;p42"/>
          <p:cNvSpPr txBox="1"/>
          <p:nvPr>
            <p:ph idx="24"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404" name="Google Shape;404;p42"/>
          <p:cNvSpPr/>
          <p:nvPr/>
        </p:nvSpPr>
        <p:spPr>
          <a:xfrm>
            <a:off x="-83175" y="-2775"/>
            <a:ext cx="89277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05" name="Google Shape;405;p42"/>
          <p:cNvSpPr txBox="1"/>
          <p:nvPr>
            <p:ph idx="26"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406" name="Google Shape;406;p42"/>
          <p:cNvSpPr txBox="1"/>
          <p:nvPr>
            <p:ph idx="27"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407" name="Google Shape;407;p42"/>
          <p:cNvSpPr txBox="1"/>
          <p:nvPr>
            <p:ph type="title"/>
          </p:nvPr>
        </p:nvSpPr>
        <p:spPr>
          <a:xfrm>
            <a:off x="390925" y="114300"/>
            <a:ext cx="6558600" cy="1231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800">
                <a:solidFill>
                  <a:srgbClr val="B45F06"/>
                </a:solidFill>
              </a:rPr>
              <a:t>introductions</a:t>
            </a:r>
            <a:endParaRPr sz="5900">
              <a:solidFill>
                <a:srgbClr val="B45F06"/>
              </a:solidFill>
            </a:endParaRPr>
          </a:p>
        </p:txBody>
      </p:sp>
      <p:sp>
        <p:nvSpPr>
          <p:cNvPr id="408" name="Google Shape;408;p42"/>
          <p:cNvSpPr txBox="1"/>
          <p:nvPr>
            <p:ph idx="1" type="subTitle"/>
          </p:nvPr>
        </p:nvSpPr>
        <p:spPr>
          <a:xfrm>
            <a:off x="459975" y="1082050"/>
            <a:ext cx="5849100" cy="661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3100">
                <a:latin typeface="Roboto"/>
                <a:ea typeface="Roboto"/>
                <a:cs typeface="Roboto"/>
                <a:sym typeface="Roboto"/>
              </a:rPr>
              <a:t>who we are</a:t>
            </a:r>
            <a:endParaRPr b="1" sz="3100">
              <a:latin typeface="Roboto"/>
              <a:ea typeface="Roboto"/>
              <a:cs typeface="Roboto"/>
              <a:sym typeface="Roboto"/>
            </a:endParaRPr>
          </a:p>
        </p:txBody>
      </p:sp>
      <p:sp>
        <p:nvSpPr>
          <p:cNvPr id="409" name="Google Shape;409;p42"/>
          <p:cNvSpPr txBox="1"/>
          <p:nvPr>
            <p:ph idx="23"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410" name="Google Shape;410;p42"/>
          <p:cNvSpPr txBox="1"/>
          <p:nvPr>
            <p:ph idx="6" type="subTitle"/>
          </p:nvPr>
        </p:nvSpPr>
        <p:spPr>
          <a:xfrm>
            <a:off x="5714563" y="3507775"/>
            <a:ext cx="2708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Raven Otero-Symphony</a:t>
            </a:r>
            <a:endParaRPr sz="1600"/>
          </a:p>
        </p:txBody>
      </p:sp>
      <p:sp>
        <p:nvSpPr>
          <p:cNvPr id="411" name="Google Shape;411;p42"/>
          <p:cNvSpPr txBox="1"/>
          <p:nvPr>
            <p:ph idx="6" type="subTitle"/>
          </p:nvPr>
        </p:nvSpPr>
        <p:spPr>
          <a:xfrm>
            <a:off x="5752650" y="3935725"/>
            <a:ext cx="2359800" cy="973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t>Senior Data Analyst</a:t>
            </a:r>
            <a:r>
              <a:rPr lang="en" sz="1200">
                <a:latin typeface="Roboto"/>
                <a:ea typeface="Roboto"/>
                <a:cs typeface="Roboto"/>
                <a:sym typeface="Roboto"/>
              </a:rPr>
              <a:t>, CYFD-JJ</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Data Scientist </a:t>
            </a:r>
            <a:r>
              <a:rPr lang="en" sz="1200">
                <a:latin typeface="Roboto"/>
                <a:ea typeface="Roboto"/>
                <a:cs typeface="Roboto"/>
                <a:sym typeface="Roboto"/>
              </a:rPr>
              <a:t>• </a:t>
            </a:r>
            <a:r>
              <a:rPr lang="en" sz="1200">
                <a:latin typeface="Roboto"/>
                <a:ea typeface="Roboto"/>
                <a:cs typeface="Roboto"/>
                <a:sym typeface="Roboto"/>
              </a:rPr>
              <a:t>NASA </a:t>
            </a:r>
            <a:r>
              <a:rPr lang="en" sz="1200">
                <a:latin typeface="Roboto"/>
                <a:ea typeface="Roboto"/>
                <a:cs typeface="Roboto"/>
                <a:sym typeface="Roboto"/>
              </a:rPr>
              <a:t>• Policy</a:t>
            </a:r>
            <a:endParaRPr sz="1200">
              <a:latin typeface="Roboto"/>
              <a:ea typeface="Roboto"/>
              <a:cs typeface="Roboto"/>
              <a:sym typeface="Roboto"/>
            </a:endParaRPr>
          </a:p>
          <a:p>
            <a:pPr indent="0" lvl="0" marL="0" rtl="0" algn="l">
              <a:lnSpc>
                <a:spcPct val="115000"/>
              </a:lnSpc>
              <a:spcBef>
                <a:spcPts val="0"/>
              </a:spcBef>
              <a:spcAft>
                <a:spcPts val="0"/>
              </a:spcAft>
              <a:buNone/>
            </a:pPr>
            <a:r>
              <a:rPr lang="en" sz="1100">
                <a:solidFill>
                  <a:srgbClr val="B45F06"/>
                </a:solidFill>
              </a:rPr>
              <a:t>LinkedIn</a:t>
            </a:r>
            <a:r>
              <a:rPr lang="en" sz="1100">
                <a:latin typeface="Roboto"/>
                <a:ea typeface="Roboto"/>
                <a:cs typeface="Roboto"/>
                <a:sym typeface="Roboto"/>
              </a:rPr>
              <a:t>: \raven-dos</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solidFill>
                  <a:srgbClr val="B45F06"/>
                </a:solidFill>
              </a:rPr>
              <a:t>GitHub</a:t>
            </a:r>
            <a:r>
              <a:rPr lang="en" sz="1100">
                <a:latin typeface="Roboto"/>
                <a:ea typeface="Roboto"/>
                <a:cs typeface="Roboto"/>
                <a:sym typeface="Roboto"/>
              </a:rPr>
              <a:t>: \raven-in-space</a:t>
            </a:r>
            <a:endParaRPr sz="1100">
              <a:latin typeface="Roboto"/>
              <a:ea typeface="Roboto"/>
              <a:cs typeface="Roboto"/>
              <a:sym typeface="Roboto"/>
            </a:endParaRPr>
          </a:p>
        </p:txBody>
      </p:sp>
      <p:pic>
        <p:nvPicPr>
          <p:cNvPr id="412" name="Google Shape;412;p42" title="2024_RavenOteroSymphony-17.jpg"/>
          <p:cNvPicPr preferRelativeResize="0"/>
          <p:nvPr/>
        </p:nvPicPr>
        <p:blipFill rotWithShape="1">
          <a:blip r:embed="rId3">
            <a:alphaModFix/>
          </a:blip>
          <a:srcRect b="51768" l="20776" r="16853" t="7674"/>
          <a:stretch/>
        </p:blipFill>
        <p:spPr>
          <a:xfrm>
            <a:off x="6026694" y="1890595"/>
            <a:ext cx="1398300" cy="1362300"/>
          </a:xfrm>
          <a:prstGeom prst="ellipse">
            <a:avLst/>
          </a:prstGeom>
          <a:noFill/>
          <a:ln cap="flat" cmpd="sng" w="28575">
            <a:solidFill>
              <a:srgbClr val="B45F06"/>
            </a:solidFill>
            <a:prstDash val="solid"/>
            <a:round/>
            <a:headEnd len="sm" w="sm" type="none"/>
            <a:tailEnd len="sm" w="sm" type="none"/>
          </a:ln>
        </p:spPr>
      </p:pic>
      <p:sp>
        <p:nvSpPr>
          <p:cNvPr id="413" name="Google Shape;413;p42"/>
          <p:cNvSpPr txBox="1"/>
          <p:nvPr>
            <p:ph idx="6" type="subTitle"/>
          </p:nvPr>
        </p:nvSpPr>
        <p:spPr>
          <a:xfrm>
            <a:off x="413663" y="3507764"/>
            <a:ext cx="19836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Eljay Smith</a:t>
            </a:r>
            <a:endParaRPr sz="1600"/>
          </a:p>
        </p:txBody>
      </p:sp>
      <p:cxnSp>
        <p:nvCxnSpPr>
          <p:cNvPr id="414" name="Google Shape;414;p42"/>
          <p:cNvCxnSpPr/>
          <p:nvPr/>
        </p:nvCxnSpPr>
        <p:spPr>
          <a:xfrm flipH="1" rot="10800000">
            <a:off x="489271" y="3921790"/>
            <a:ext cx="2557500" cy="3300"/>
          </a:xfrm>
          <a:prstGeom prst="straightConnector1">
            <a:avLst/>
          </a:prstGeom>
          <a:noFill/>
          <a:ln cap="flat" cmpd="sng" w="28575">
            <a:solidFill>
              <a:srgbClr val="B45F06"/>
            </a:solidFill>
            <a:prstDash val="solid"/>
            <a:round/>
            <a:headEnd len="med" w="med" type="none"/>
            <a:tailEnd len="med" w="med" type="none"/>
          </a:ln>
        </p:spPr>
      </p:cxnSp>
      <p:sp>
        <p:nvSpPr>
          <p:cNvPr id="415" name="Google Shape;415;p42"/>
          <p:cNvSpPr txBox="1"/>
          <p:nvPr>
            <p:ph idx="6" type="subTitle"/>
          </p:nvPr>
        </p:nvSpPr>
        <p:spPr>
          <a:xfrm>
            <a:off x="3251326" y="3491350"/>
            <a:ext cx="2258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t>Celeste Fischer</a:t>
            </a:r>
            <a:endParaRPr sz="1600"/>
          </a:p>
        </p:txBody>
      </p:sp>
      <p:cxnSp>
        <p:nvCxnSpPr>
          <p:cNvPr id="416" name="Google Shape;416;p42"/>
          <p:cNvCxnSpPr/>
          <p:nvPr/>
        </p:nvCxnSpPr>
        <p:spPr>
          <a:xfrm>
            <a:off x="3383673" y="3929204"/>
            <a:ext cx="2110200" cy="7200"/>
          </a:xfrm>
          <a:prstGeom prst="straightConnector1">
            <a:avLst/>
          </a:prstGeom>
          <a:noFill/>
          <a:ln cap="flat" cmpd="sng" w="28575">
            <a:solidFill>
              <a:srgbClr val="B45F06"/>
            </a:solidFill>
            <a:prstDash val="solid"/>
            <a:round/>
            <a:headEnd len="med" w="med" type="none"/>
            <a:tailEnd len="med" w="med" type="none"/>
          </a:ln>
        </p:spPr>
      </p:cxnSp>
      <p:sp>
        <p:nvSpPr>
          <p:cNvPr id="417" name="Google Shape;417;p42"/>
          <p:cNvSpPr txBox="1"/>
          <p:nvPr>
            <p:ph idx="6" type="subTitle"/>
          </p:nvPr>
        </p:nvSpPr>
        <p:spPr>
          <a:xfrm>
            <a:off x="413675" y="3938875"/>
            <a:ext cx="2778600" cy="9912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t>Mental Health &amp; </a:t>
            </a:r>
            <a:endParaRPr sz="1200"/>
          </a:p>
          <a:p>
            <a:pPr indent="0" lvl="0" marL="0" rtl="0" algn="l">
              <a:lnSpc>
                <a:spcPct val="115000"/>
              </a:lnSpc>
              <a:spcBef>
                <a:spcPts val="0"/>
              </a:spcBef>
              <a:spcAft>
                <a:spcPts val="0"/>
              </a:spcAft>
              <a:buNone/>
            </a:pPr>
            <a:r>
              <a:rPr lang="en" sz="1200"/>
              <a:t>Housing Stability Advocate</a:t>
            </a:r>
            <a:endParaRPr sz="1200"/>
          </a:p>
          <a:p>
            <a:pPr indent="0" lvl="0" marL="0" rtl="0" algn="l">
              <a:lnSpc>
                <a:spcPct val="115000"/>
              </a:lnSpc>
              <a:spcBef>
                <a:spcPts val="0"/>
              </a:spcBef>
              <a:spcAft>
                <a:spcPts val="0"/>
              </a:spcAft>
              <a:buNone/>
            </a:pPr>
            <a:r>
              <a:rPr lang="en" sz="1200">
                <a:latin typeface="Roboto"/>
                <a:ea typeface="Roboto"/>
                <a:cs typeface="Roboto"/>
                <a:sym typeface="Roboto"/>
              </a:rPr>
              <a:t>Lived Experience • Public Interest Data </a:t>
            </a:r>
            <a:endParaRPr sz="1000">
              <a:latin typeface="Roboto"/>
              <a:ea typeface="Roboto"/>
              <a:cs typeface="Roboto"/>
              <a:sym typeface="Roboto"/>
            </a:endParaRPr>
          </a:p>
          <a:p>
            <a:pPr indent="0" lvl="0" marL="0" rtl="0" algn="l">
              <a:lnSpc>
                <a:spcPct val="115000"/>
              </a:lnSpc>
              <a:spcBef>
                <a:spcPts val="0"/>
              </a:spcBef>
              <a:spcAft>
                <a:spcPts val="0"/>
              </a:spcAft>
              <a:buNone/>
            </a:pPr>
            <a:r>
              <a:rPr lang="en" sz="1100">
                <a:solidFill>
                  <a:srgbClr val="B45F06"/>
                </a:solidFill>
              </a:rPr>
              <a:t>GitHub</a:t>
            </a:r>
            <a:r>
              <a:rPr lang="en" sz="1100">
                <a:latin typeface="Roboto"/>
                <a:ea typeface="Roboto"/>
                <a:cs typeface="Roboto"/>
                <a:sym typeface="Roboto"/>
              </a:rPr>
              <a:t>: \eljaysmithdata</a:t>
            </a:r>
            <a:endParaRPr sz="1100">
              <a:latin typeface="Roboto"/>
              <a:ea typeface="Roboto"/>
              <a:cs typeface="Roboto"/>
              <a:sym typeface="Roboto"/>
            </a:endParaRPr>
          </a:p>
        </p:txBody>
      </p:sp>
      <p:sp>
        <p:nvSpPr>
          <p:cNvPr id="418" name="Google Shape;418;p42"/>
          <p:cNvSpPr/>
          <p:nvPr/>
        </p:nvSpPr>
        <p:spPr>
          <a:xfrm>
            <a:off x="3501825" y="1890600"/>
            <a:ext cx="1426200" cy="1426200"/>
          </a:xfrm>
          <a:prstGeom prst="ellipse">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419" name="Google Shape;419;p42"/>
          <p:cNvSpPr txBox="1"/>
          <p:nvPr>
            <p:ph idx="6" type="subTitle"/>
          </p:nvPr>
        </p:nvSpPr>
        <p:spPr>
          <a:xfrm>
            <a:off x="3242925" y="3889400"/>
            <a:ext cx="2421000" cy="973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t>Nurse,  Data Scientist, Healthcare Analytics Enthusiast</a:t>
            </a:r>
            <a:endParaRPr sz="1200"/>
          </a:p>
          <a:p>
            <a:pPr indent="0" lvl="0" marL="0" rtl="0" algn="l">
              <a:lnSpc>
                <a:spcPct val="115000"/>
              </a:lnSpc>
              <a:spcBef>
                <a:spcPts val="0"/>
              </a:spcBef>
              <a:spcAft>
                <a:spcPts val="0"/>
              </a:spcAft>
              <a:buNone/>
            </a:pPr>
            <a:r>
              <a:rPr lang="en" sz="1100">
                <a:solidFill>
                  <a:srgbClr val="B45F06"/>
                </a:solidFill>
              </a:rPr>
              <a:t>LinkedIn</a:t>
            </a:r>
            <a:r>
              <a:rPr lang="en" sz="1100">
                <a:latin typeface="Roboto"/>
                <a:ea typeface="Roboto"/>
                <a:cs typeface="Roboto"/>
                <a:sym typeface="Roboto"/>
              </a:rPr>
              <a:t>: \celestial-nights</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solidFill>
                  <a:srgbClr val="B45F06"/>
                </a:solidFill>
              </a:rPr>
              <a:t>GitHub</a:t>
            </a:r>
            <a:r>
              <a:rPr lang="en" sz="1100">
                <a:latin typeface="Roboto"/>
                <a:ea typeface="Roboto"/>
                <a:cs typeface="Roboto"/>
                <a:sym typeface="Roboto"/>
              </a:rPr>
              <a:t>: \Celeste1221</a:t>
            </a:r>
            <a:endParaRPr sz="1100">
              <a:latin typeface="Roboto"/>
              <a:ea typeface="Roboto"/>
              <a:cs typeface="Roboto"/>
              <a:sym typeface="Roboto"/>
            </a:endParaRPr>
          </a:p>
        </p:txBody>
      </p:sp>
      <p:sp>
        <p:nvSpPr>
          <p:cNvPr id="420" name="Google Shape;420;p42"/>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21" name="Google Shape;421;p42"/>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22" name="Google Shape;422;p42"/>
          <p:cNvSpPr txBox="1"/>
          <p:nvPr>
            <p:ph idx="23"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423" name="Google Shape;423;p42"/>
          <p:cNvSpPr txBox="1"/>
          <p:nvPr>
            <p:ph idx="24"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424" name="Google Shape;424;p42"/>
          <p:cNvSpPr txBox="1"/>
          <p:nvPr>
            <p:ph idx="27"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425" name="Google Shape;425;p42"/>
          <p:cNvSpPr/>
          <p:nvPr/>
        </p:nvSpPr>
        <p:spPr>
          <a:xfrm>
            <a:off x="8375200" y="-5475"/>
            <a:ext cx="260400" cy="51492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26" name="Google Shape;426;p42"/>
          <p:cNvSpPr txBox="1"/>
          <p:nvPr>
            <p:ph idx="29"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427" name="Google Shape;427;p42"/>
          <p:cNvSpPr txBox="1"/>
          <p:nvPr>
            <p:ph idx="30" type="subTitle"/>
          </p:nvPr>
        </p:nvSpPr>
        <p:spPr>
          <a:xfrm rot="-5400000">
            <a:off x="7683400" y="2441175"/>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428" name="Google Shape;428;p42"/>
          <p:cNvSpPr txBox="1"/>
          <p:nvPr>
            <p:ph idx="30" type="subTitle"/>
          </p:nvPr>
        </p:nvSpPr>
        <p:spPr>
          <a:xfrm rot="-5400000">
            <a:off x="7936900" y="2441175"/>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ASSESSMENT</a:t>
            </a:r>
            <a:endParaRPr>
              <a:solidFill>
                <a:srgbClr val="000000"/>
              </a:solidFill>
            </a:endParaRPr>
          </a:p>
        </p:txBody>
      </p:sp>
      <p:pic>
        <p:nvPicPr>
          <p:cNvPr id="429" name="Google Shape;429;p42"/>
          <p:cNvPicPr preferRelativeResize="0"/>
          <p:nvPr/>
        </p:nvPicPr>
        <p:blipFill rotWithShape="1">
          <a:blip r:embed="rId4">
            <a:alphaModFix/>
          </a:blip>
          <a:srcRect b="2317" l="923" r="923" t="2317"/>
          <a:stretch/>
        </p:blipFill>
        <p:spPr>
          <a:xfrm>
            <a:off x="580494" y="1959070"/>
            <a:ext cx="1372500" cy="1333500"/>
          </a:xfrm>
          <a:prstGeom prst="ellipse">
            <a:avLst/>
          </a:prstGeom>
          <a:solidFill>
            <a:srgbClr val="FDFAF3"/>
          </a:solidFill>
          <a:ln cap="flat" cmpd="sng" w="38100">
            <a:solidFill>
              <a:srgbClr val="B45F06"/>
            </a:solidFill>
            <a:prstDash val="solid"/>
            <a:round/>
            <a:headEnd len="sm" w="sm" type="none"/>
            <a:tailEnd len="sm" w="sm" type="none"/>
          </a:ln>
        </p:spPr>
      </p:pic>
      <p:cxnSp>
        <p:nvCxnSpPr>
          <p:cNvPr id="430" name="Google Shape;430;p42"/>
          <p:cNvCxnSpPr/>
          <p:nvPr/>
        </p:nvCxnSpPr>
        <p:spPr>
          <a:xfrm>
            <a:off x="5740750" y="3951025"/>
            <a:ext cx="2258700" cy="0"/>
          </a:xfrm>
          <a:prstGeom prst="straightConnector1">
            <a:avLst/>
          </a:prstGeom>
          <a:noFill/>
          <a:ln cap="flat" cmpd="sng" w="28575">
            <a:solidFill>
              <a:srgbClr val="B45F06"/>
            </a:solidFill>
            <a:prstDash val="solid"/>
            <a:round/>
            <a:headEnd len="med" w="med" type="none"/>
            <a:tailEnd len="med" w="med" type="none"/>
          </a:ln>
        </p:spPr>
      </p:cxnSp>
      <p:pic>
        <p:nvPicPr>
          <p:cNvPr id="431" name="Google Shape;431;p42" title="headshot_circle_transparent.png"/>
          <p:cNvPicPr preferRelativeResize="0"/>
          <p:nvPr/>
        </p:nvPicPr>
        <p:blipFill>
          <a:blip r:embed="rId5">
            <a:alphaModFix/>
          </a:blip>
          <a:stretch>
            <a:fillRect/>
          </a:stretch>
        </p:blipFill>
        <p:spPr>
          <a:xfrm>
            <a:off x="3530109" y="1919734"/>
            <a:ext cx="1372500" cy="1372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CDBD"/>
            </a:gs>
            <a:gs pos="100000">
              <a:srgbClr val="B45F06"/>
            </a:gs>
          </a:gsLst>
          <a:lin ang="2700006" scaled="0"/>
        </a:gradFill>
      </p:bgPr>
    </p:bg>
    <p:spTree>
      <p:nvGrpSpPr>
        <p:cNvPr id="435" name="Shape 435"/>
        <p:cNvGrpSpPr/>
        <p:nvPr/>
      </p:nvGrpSpPr>
      <p:grpSpPr>
        <a:xfrm>
          <a:off x="0" y="0"/>
          <a:ext cx="0" cy="0"/>
          <a:chOff x="0" y="0"/>
          <a:chExt cx="0" cy="0"/>
        </a:xfrm>
      </p:grpSpPr>
      <p:sp>
        <p:nvSpPr>
          <p:cNvPr id="436" name="Google Shape;436;p43"/>
          <p:cNvSpPr txBox="1"/>
          <p:nvPr/>
        </p:nvSpPr>
        <p:spPr>
          <a:xfrm>
            <a:off x="1127700" y="1555800"/>
            <a:ext cx="7345800" cy="203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rgbClr val="FFFFFF"/>
                </a:solidFill>
                <a:latin typeface="Roboto Light"/>
                <a:ea typeface="Roboto Light"/>
                <a:cs typeface="Roboto Light"/>
                <a:sym typeface="Roboto Light"/>
              </a:rPr>
              <a:t>SECTION 1:</a:t>
            </a:r>
            <a:endParaRPr sz="6000">
              <a:solidFill>
                <a:srgbClr val="FFFFFF"/>
              </a:solidFill>
              <a:latin typeface="Roboto Light"/>
              <a:ea typeface="Roboto Light"/>
              <a:cs typeface="Roboto Light"/>
              <a:sym typeface="Roboto Light"/>
            </a:endParaRPr>
          </a:p>
          <a:p>
            <a:pPr indent="0" lvl="0" marL="0" rtl="0" algn="ctr">
              <a:spcBef>
                <a:spcPts val="0"/>
              </a:spcBef>
              <a:spcAft>
                <a:spcPts val="0"/>
              </a:spcAft>
              <a:buNone/>
            </a:pPr>
            <a:r>
              <a:rPr b="1" lang="en" sz="6000">
                <a:solidFill>
                  <a:srgbClr val="FFFFFF"/>
                </a:solidFill>
                <a:latin typeface="Roboto"/>
                <a:ea typeface="Roboto"/>
                <a:cs typeface="Roboto"/>
                <a:sym typeface="Roboto"/>
              </a:rPr>
              <a:t>BACKGROUND</a:t>
            </a:r>
            <a:endParaRPr b="1" sz="6000">
              <a:solidFill>
                <a:srgbClr val="FFFFF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440" name="Shape 440"/>
        <p:cNvGrpSpPr/>
        <p:nvPr/>
      </p:nvGrpSpPr>
      <p:grpSpPr>
        <a:xfrm>
          <a:off x="0" y="0"/>
          <a:ext cx="0" cy="0"/>
          <a:chOff x="0" y="0"/>
          <a:chExt cx="0" cy="0"/>
        </a:xfrm>
      </p:grpSpPr>
      <p:sp>
        <p:nvSpPr>
          <p:cNvPr id="441" name="Google Shape;441;p44"/>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42" name="Google Shape;442;p44"/>
          <p:cNvSpPr/>
          <p:nvPr/>
        </p:nvSpPr>
        <p:spPr>
          <a:xfrm>
            <a:off x="253900" y="1150"/>
            <a:ext cx="8373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43" name="Google Shape;443;p44"/>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44" name="Google Shape;444;p44"/>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45" name="Google Shape;445;p44"/>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446" name="Google Shape;446;p44"/>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447" name="Google Shape;447;p44"/>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448" name="Google Shape;448;p44"/>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449" name="Google Shape;449;p44"/>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450" name="Google Shape;450;p44"/>
          <p:cNvSpPr/>
          <p:nvPr/>
        </p:nvSpPr>
        <p:spPr>
          <a:xfrm>
            <a:off x="10446"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51" name="Google Shape;451;p44"/>
          <p:cNvSpPr txBox="1"/>
          <p:nvPr>
            <p:ph idx="9" type="subTitle"/>
          </p:nvPr>
        </p:nvSpPr>
        <p:spPr>
          <a:xfrm rot="-5400000">
            <a:off x="-337785"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solidFill>
                  <a:srgbClr val="FFFFFF"/>
                </a:solidFill>
              </a:rPr>
              <a:t>01</a:t>
            </a:r>
            <a:endParaRPr>
              <a:solidFill>
                <a:srgbClr val="FFFFFF"/>
              </a:solidFill>
            </a:endParaRPr>
          </a:p>
        </p:txBody>
      </p:sp>
      <p:sp>
        <p:nvSpPr>
          <p:cNvPr id="452" name="Google Shape;452;p44"/>
          <p:cNvSpPr txBox="1"/>
          <p:nvPr>
            <p:ph idx="27" type="subTitle"/>
          </p:nvPr>
        </p:nvSpPr>
        <p:spPr>
          <a:xfrm rot="-5400000">
            <a:off x="-67859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BACKGROUND</a:t>
            </a:r>
            <a:endParaRPr>
              <a:solidFill>
                <a:srgbClr val="FFFFFF"/>
              </a:solidFill>
            </a:endParaRPr>
          </a:p>
        </p:txBody>
      </p:sp>
      <p:sp>
        <p:nvSpPr>
          <p:cNvPr id="453" name="Google Shape;453;p44"/>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454" name="Google Shape;454;p44"/>
          <p:cNvSpPr txBox="1"/>
          <p:nvPr>
            <p:ph idx="4294967295" type="subTitle"/>
          </p:nvPr>
        </p:nvSpPr>
        <p:spPr>
          <a:xfrm>
            <a:off x="573925" y="1606925"/>
            <a:ext cx="7308000" cy="892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Our project began with an informational interview with Korina Lopez, grounded in years of shared homeless-service experience.</a:t>
            </a:r>
            <a:endParaRPr sz="1800">
              <a:latin typeface="Roboto"/>
              <a:ea typeface="Roboto"/>
              <a:cs typeface="Roboto"/>
              <a:sym typeface="Roboto"/>
            </a:endParaRPr>
          </a:p>
          <a:p>
            <a:pPr indent="0" lvl="0" marL="0" rtl="0" algn="l">
              <a:spcBef>
                <a:spcPts val="0"/>
              </a:spcBef>
              <a:spcAft>
                <a:spcPts val="0"/>
              </a:spcAft>
              <a:buNone/>
            </a:pPr>
            <a:r>
              <a:t/>
            </a:r>
            <a:endParaRPr/>
          </a:p>
        </p:txBody>
      </p:sp>
      <p:sp>
        <p:nvSpPr>
          <p:cNvPr id="455" name="Google Shape;455;p44"/>
          <p:cNvSpPr txBox="1"/>
          <p:nvPr>
            <p:ph idx="4294967295" type="title"/>
          </p:nvPr>
        </p:nvSpPr>
        <p:spPr>
          <a:xfrm>
            <a:off x="569299" y="163225"/>
            <a:ext cx="6316800" cy="1185900"/>
          </a:xfrm>
          <a:prstGeom prst="rect">
            <a:avLst/>
          </a:prstGeom>
        </p:spPr>
        <p:txBody>
          <a:bodyPr anchorCtr="0" anchor="t" bIns="88050" lIns="88050" spcFirstLastPara="1" rIns="88050" wrap="square" tIns="88050">
            <a:spAutoFit/>
          </a:bodyPr>
          <a:lstStyle/>
          <a:p>
            <a:pPr indent="0" lvl="0" marL="0" rtl="0" algn="l">
              <a:spcBef>
                <a:spcPts val="0"/>
              </a:spcBef>
              <a:spcAft>
                <a:spcPts val="0"/>
              </a:spcAft>
              <a:buNone/>
            </a:pPr>
            <a:r>
              <a:rPr lang="en" sz="6549">
                <a:solidFill>
                  <a:srgbClr val="B45F06"/>
                </a:solidFill>
              </a:rPr>
              <a:t>t</a:t>
            </a:r>
            <a:r>
              <a:rPr lang="en" sz="6549">
                <a:solidFill>
                  <a:srgbClr val="B45F06"/>
                </a:solidFill>
              </a:rPr>
              <a:t>he origin</a:t>
            </a:r>
            <a:endParaRPr sz="5682">
              <a:solidFill>
                <a:srgbClr val="B45F06"/>
              </a:solidFill>
            </a:endParaRPr>
          </a:p>
        </p:txBody>
      </p:sp>
      <p:sp>
        <p:nvSpPr>
          <p:cNvPr id="456" name="Google Shape;456;p44"/>
          <p:cNvSpPr txBox="1"/>
          <p:nvPr>
            <p:ph idx="4294967295" type="subTitle"/>
          </p:nvPr>
        </p:nvSpPr>
        <p:spPr>
          <a:xfrm>
            <a:off x="569275" y="1178368"/>
            <a:ext cx="7480200" cy="504000"/>
          </a:xfrm>
          <a:prstGeom prst="rect">
            <a:avLst/>
          </a:prstGeom>
        </p:spPr>
        <p:txBody>
          <a:bodyPr anchorCtr="0" anchor="t" bIns="88050" lIns="88050" spcFirstLastPara="1" rIns="88050" wrap="square" tIns="88050">
            <a:spAutoFit/>
          </a:bodyPr>
          <a:lstStyle/>
          <a:p>
            <a:pPr indent="0" lvl="0" marL="0" rtl="0" algn="l">
              <a:spcBef>
                <a:spcPts val="0"/>
              </a:spcBef>
              <a:spcAft>
                <a:spcPts val="0"/>
              </a:spcAft>
              <a:buNone/>
            </a:pPr>
            <a:r>
              <a:rPr lang="en" sz="2119"/>
              <a:t>a</a:t>
            </a:r>
            <a:r>
              <a:rPr lang="en" sz="2119"/>
              <a:t> question grounded in service-provider experience</a:t>
            </a:r>
            <a:endParaRPr sz="2119"/>
          </a:p>
        </p:txBody>
      </p:sp>
      <p:sp>
        <p:nvSpPr>
          <p:cNvPr id="457" name="Google Shape;457;p44"/>
          <p:cNvSpPr/>
          <p:nvPr/>
        </p:nvSpPr>
        <p:spPr>
          <a:xfrm>
            <a:off x="569300" y="2756775"/>
            <a:ext cx="3050400" cy="1927500"/>
          </a:xfrm>
          <a:prstGeom prst="chevron">
            <a:avLst>
              <a:gd fmla="val 50000" name="adj"/>
            </a:avLst>
          </a:prstGeom>
          <a:solidFill>
            <a:srgbClr val="EFEFEF"/>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Service- </a:t>
            </a:r>
            <a:r>
              <a:rPr b="1" lang="en">
                <a:latin typeface="Roboto"/>
                <a:ea typeface="Roboto"/>
                <a:cs typeface="Roboto"/>
                <a:sym typeface="Roboto"/>
              </a:rPr>
              <a:t>Provider</a:t>
            </a:r>
            <a:r>
              <a:rPr b="1" lang="en">
                <a:latin typeface="Roboto"/>
                <a:ea typeface="Roboto"/>
                <a:cs typeface="Roboto"/>
                <a:sym typeface="Roboto"/>
              </a:rPr>
              <a:t> Experience</a:t>
            </a:r>
            <a:endParaRPr b="1">
              <a:latin typeface="Roboto"/>
              <a:ea typeface="Roboto"/>
              <a:cs typeface="Roboto"/>
              <a:sym typeface="Roboto"/>
            </a:endParaRPr>
          </a:p>
        </p:txBody>
      </p:sp>
      <p:sp>
        <p:nvSpPr>
          <p:cNvPr id="458" name="Google Shape;458;p44"/>
          <p:cNvSpPr/>
          <p:nvPr/>
        </p:nvSpPr>
        <p:spPr>
          <a:xfrm>
            <a:off x="2824450" y="2756775"/>
            <a:ext cx="3252900" cy="1927500"/>
          </a:xfrm>
          <a:prstGeom prst="chevron">
            <a:avLst>
              <a:gd fmla="val 50000" name="adj"/>
            </a:avLst>
          </a:prstGeom>
          <a:solidFill>
            <a:srgbClr val="F3F3F3"/>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Informational Interview</a:t>
            </a:r>
            <a:endParaRPr b="1">
              <a:latin typeface="Roboto"/>
              <a:ea typeface="Roboto"/>
              <a:cs typeface="Roboto"/>
              <a:sym typeface="Roboto"/>
            </a:endParaRPr>
          </a:p>
        </p:txBody>
      </p:sp>
      <p:sp>
        <p:nvSpPr>
          <p:cNvPr id="459" name="Google Shape;459;p44"/>
          <p:cNvSpPr/>
          <p:nvPr/>
        </p:nvSpPr>
        <p:spPr>
          <a:xfrm>
            <a:off x="5285450" y="2756775"/>
            <a:ext cx="3050400" cy="1927500"/>
          </a:xfrm>
          <a:prstGeom prst="chevron">
            <a:avLst>
              <a:gd fmla="val 50000" name="adj"/>
            </a:avLst>
          </a:prstGeom>
          <a:solidFill>
            <a:srgbClr val="FFFFFF"/>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Research Direction</a:t>
            </a:r>
            <a:endParaRPr b="1">
              <a:latin typeface="Roboto"/>
              <a:ea typeface="Roboto"/>
              <a:cs typeface="Roboto"/>
              <a:sym typeface="Roboto"/>
            </a:endParaRPr>
          </a:p>
        </p:txBody>
      </p:sp>
      <p:sp>
        <p:nvSpPr>
          <p:cNvPr id="460" name="Google Shape;460;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464" name="Shape 464"/>
        <p:cNvGrpSpPr/>
        <p:nvPr/>
      </p:nvGrpSpPr>
      <p:grpSpPr>
        <a:xfrm>
          <a:off x="0" y="0"/>
          <a:ext cx="0" cy="0"/>
          <a:chOff x="0" y="0"/>
          <a:chExt cx="0" cy="0"/>
        </a:xfrm>
      </p:grpSpPr>
      <p:sp>
        <p:nvSpPr>
          <p:cNvPr id="465" name="Google Shape;465;p45"/>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66" name="Google Shape;466;p45"/>
          <p:cNvSpPr/>
          <p:nvPr/>
        </p:nvSpPr>
        <p:spPr>
          <a:xfrm>
            <a:off x="270750" y="-5475"/>
            <a:ext cx="83925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67" name="Google Shape;467;p45"/>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68" name="Google Shape;468;p45"/>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69" name="Google Shape;469;p45"/>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470" name="Google Shape;470;p45"/>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471" name="Google Shape;471;p45"/>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472" name="Google Shape;472;p45"/>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473" name="Google Shape;473;p45"/>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474" name="Google Shape;474;p45"/>
          <p:cNvSpPr/>
          <p:nvPr/>
        </p:nvSpPr>
        <p:spPr>
          <a:xfrm>
            <a:off x="10446"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75" name="Google Shape;475;p45"/>
          <p:cNvSpPr txBox="1"/>
          <p:nvPr>
            <p:ph idx="9" type="subTitle"/>
          </p:nvPr>
        </p:nvSpPr>
        <p:spPr>
          <a:xfrm rot="-5400000">
            <a:off x="-337785"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solidFill>
                  <a:srgbClr val="FFFFFF"/>
                </a:solidFill>
              </a:rPr>
              <a:t>01</a:t>
            </a:r>
            <a:endParaRPr>
              <a:solidFill>
                <a:srgbClr val="FFFFFF"/>
              </a:solidFill>
            </a:endParaRPr>
          </a:p>
        </p:txBody>
      </p:sp>
      <p:sp>
        <p:nvSpPr>
          <p:cNvPr id="476" name="Google Shape;476;p45"/>
          <p:cNvSpPr txBox="1"/>
          <p:nvPr>
            <p:ph idx="27" type="subTitle"/>
          </p:nvPr>
        </p:nvSpPr>
        <p:spPr>
          <a:xfrm rot="-5400000">
            <a:off x="-67859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BACKGROUND</a:t>
            </a:r>
            <a:endParaRPr>
              <a:solidFill>
                <a:srgbClr val="FFFFFF"/>
              </a:solidFill>
            </a:endParaRPr>
          </a:p>
        </p:txBody>
      </p:sp>
      <p:sp>
        <p:nvSpPr>
          <p:cNvPr id="477" name="Google Shape;477;p45"/>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478" name="Google Shape;478;p45"/>
          <p:cNvSpPr txBox="1"/>
          <p:nvPr>
            <p:ph idx="4294967295" type="subTitle"/>
          </p:nvPr>
        </p:nvSpPr>
        <p:spPr>
          <a:xfrm>
            <a:off x="891100" y="2786300"/>
            <a:ext cx="23037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479" name="Google Shape;479;p45"/>
          <p:cNvSpPr txBox="1"/>
          <p:nvPr>
            <p:ph idx="4294967295" type="title"/>
          </p:nvPr>
        </p:nvSpPr>
        <p:spPr>
          <a:xfrm>
            <a:off x="535823" y="47825"/>
            <a:ext cx="6064200" cy="1138500"/>
          </a:xfrm>
          <a:prstGeom prst="rect">
            <a:avLst/>
          </a:prstGeom>
        </p:spPr>
        <p:txBody>
          <a:bodyPr anchorCtr="0" anchor="t" bIns="84550" lIns="84550" spcFirstLastPara="1" rIns="84550" wrap="square" tIns="84550">
            <a:spAutoFit/>
          </a:bodyPr>
          <a:lstStyle/>
          <a:p>
            <a:pPr indent="0" lvl="0" marL="0" rtl="0" algn="l">
              <a:spcBef>
                <a:spcPts val="0"/>
              </a:spcBef>
              <a:spcAft>
                <a:spcPts val="0"/>
              </a:spcAft>
              <a:buNone/>
            </a:pPr>
            <a:r>
              <a:rPr lang="en" sz="6287">
                <a:solidFill>
                  <a:srgbClr val="B45F06"/>
                </a:solidFill>
              </a:rPr>
              <a:t>the context</a:t>
            </a:r>
            <a:endParaRPr sz="5455">
              <a:solidFill>
                <a:srgbClr val="B45F06"/>
              </a:solidFill>
            </a:endParaRPr>
          </a:p>
        </p:txBody>
      </p:sp>
      <p:sp>
        <p:nvSpPr>
          <p:cNvPr id="480" name="Google Shape;480;p45"/>
          <p:cNvSpPr txBox="1"/>
          <p:nvPr>
            <p:ph idx="4294967295" type="subTitle"/>
          </p:nvPr>
        </p:nvSpPr>
        <p:spPr>
          <a:xfrm>
            <a:off x="535800" y="933809"/>
            <a:ext cx="7081200" cy="437700"/>
          </a:xfrm>
          <a:prstGeom prst="rect">
            <a:avLst/>
          </a:prstGeom>
        </p:spPr>
        <p:txBody>
          <a:bodyPr anchorCtr="0" anchor="t" bIns="84550" lIns="84550" spcFirstLastPara="1" rIns="84550" wrap="square" tIns="84550">
            <a:spAutoFit/>
          </a:bodyPr>
          <a:lstStyle/>
          <a:p>
            <a:pPr indent="0" lvl="0" marL="0" rtl="0" algn="l">
              <a:spcBef>
                <a:spcPts val="0"/>
              </a:spcBef>
              <a:spcAft>
                <a:spcPts val="0"/>
              </a:spcAft>
              <a:buNone/>
            </a:pPr>
            <a:r>
              <a:rPr lang="en" sz="1734"/>
              <a:t>our question focused on one relationship within a larger system</a:t>
            </a:r>
            <a:endParaRPr sz="1734"/>
          </a:p>
        </p:txBody>
      </p:sp>
      <p:sp>
        <p:nvSpPr>
          <p:cNvPr id="481" name="Google Shape;481;p45"/>
          <p:cNvSpPr/>
          <p:nvPr/>
        </p:nvSpPr>
        <p:spPr>
          <a:xfrm>
            <a:off x="1506025" y="1533200"/>
            <a:ext cx="2824500" cy="2744700"/>
          </a:xfrm>
          <a:prstGeom prst="ellipse">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Roboto"/>
                <a:ea typeface="Roboto"/>
                <a:cs typeface="Roboto"/>
                <a:sym typeface="Roboto"/>
              </a:rPr>
              <a:t>HOUSING     STABILITY</a:t>
            </a:r>
            <a:endParaRPr b="1" sz="2200">
              <a:solidFill>
                <a:srgbClr val="FFFFFF"/>
              </a:solidFill>
              <a:latin typeface="Roboto"/>
              <a:ea typeface="Roboto"/>
              <a:cs typeface="Roboto"/>
              <a:sym typeface="Roboto"/>
            </a:endParaRPr>
          </a:p>
        </p:txBody>
      </p:sp>
      <p:cxnSp>
        <p:nvCxnSpPr>
          <p:cNvPr id="482" name="Google Shape;482;p45"/>
          <p:cNvCxnSpPr>
            <a:stCxn id="481" idx="6"/>
            <a:endCxn id="483" idx="2"/>
          </p:cNvCxnSpPr>
          <p:nvPr/>
        </p:nvCxnSpPr>
        <p:spPr>
          <a:xfrm>
            <a:off x="4330525" y="2905550"/>
            <a:ext cx="2063100" cy="165600"/>
          </a:xfrm>
          <a:prstGeom prst="straightConnector1">
            <a:avLst/>
          </a:prstGeom>
          <a:noFill/>
          <a:ln cap="flat" cmpd="sng" w="19050">
            <a:solidFill>
              <a:srgbClr val="666666"/>
            </a:solidFill>
            <a:prstDash val="solid"/>
            <a:round/>
            <a:headEnd len="med" w="med" type="none"/>
            <a:tailEnd len="med" w="med" type="none"/>
          </a:ln>
        </p:spPr>
      </p:cxnSp>
      <p:sp>
        <p:nvSpPr>
          <p:cNvPr id="484" name="Google Shape;484;p45"/>
          <p:cNvSpPr/>
          <p:nvPr/>
        </p:nvSpPr>
        <p:spPr>
          <a:xfrm>
            <a:off x="399575" y="1855250"/>
            <a:ext cx="2024100" cy="447300"/>
          </a:xfrm>
          <a:prstGeom prst="flowChartAlternateProcess">
            <a:avLst/>
          </a:prstGeom>
          <a:solidFill>
            <a:srgbClr val="D9D9D9"/>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666666"/>
                </a:solidFill>
                <a:latin typeface="Roboto"/>
                <a:ea typeface="Roboto"/>
                <a:cs typeface="Roboto"/>
                <a:sym typeface="Roboto"/>
              </a:rPr>
              <a:t>Housing Services</a:t>
            </a:r>
            <a:endParaRPr b="1" sz="1500">
              <a:solidFill>
                <a:srgbClr val="666666"/>
              </a:solidFill>
              <a:latin typeface="Roboto"/>
              <a:ea typeface="Roboto"/>
              <a:cs typeface="Roboto"/>
              <a:sym typeface="Roboto"/>
            </a:endParaRPr>
          </a:p>
        </p:txBody>
      </p:sp>
      <p:sp>
        <p:nvSpPr>
          <p:cNvPr id="485" name="Google Shape;485;p45"/>
          <p:cNvSpPr/>
          <p:nvPr/>
        </p:nvSpPr>
        <p:spPr>
          <a:xfrm>
            <a:off x="535800" y="3613250"/>
            <a:ext cx="2063100" cy="447300"/>
          </a:xfrm>
          <a:prstGeom prst="flowChartAlternateProcess">
            <a:avLst/>
          </a:prstGeom>
          <a:solidFill>
            <a:srgbClr val="D9D9D9"/>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666666"/>
                </a:solidFill>
                <a:latin typeface="Roboto"/>
                <a:ea typeface="Roboto"/>
                <a:cs typeface="Roboto"/>
                <a:sym typeface="Roboto"/>
              </a:rPr>
              <a:t>Income &amp; Benefits</a:t>
            </a:r>
            <a:endParaRPr b="1" sz="1500">
              <a:solidFill>
                <a:srgbClr val="666666"/>
              </a:solidFill>
              <a:latin typeface="Roboto"/>
              <a:ea typeface="Roboto"/>
              <a:cs typeface="Roboto"/>
              <a:sym typeface="Roboto"/>
            </a:endParaRPr>
          </a:p>
        </p:txBody>
      </p:sp>
      <p:sp>
        <p:nvSpPr>
          <p:cNvPr id="486" name="Google Shape;486;p45"/>
          <p:cNvSpPr/>
          <p:nvPr/>
        </p:nvSpPr>
        <p:spPr>
          <a:xfrm>
            <a:off x="4397575" y="1567250"/>
            <a:ext cx="3030600" cy="2676600"/>
          </a:xfrm>
          <a:prstGeom prst="ellipse">
            <a:avLst/>
          </a:prstGeom>
          <a:solidFill>
            <a:srgbClr val="F3F3F3"/>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Roboto"/>
                <a:ea typeface="Roboto"/>
                <a:cs typeface="Roboto"/>
                <a:sym typeface="Roboto"/>
              </a:rPr>
              <a:t>MENTAL HEALTHCARE</a:t>
            </a:r>
            <a:endParaRPr b="1" sz="2200">
              <a:solidFill>
                <a:schemeClr val="lt1"/>
              </a:solidFill>
              <a:latin typeface="Roboto"/>
              <a:ea typeface="Roboto"/>
              <a:cs typeface="Roboto"/>
              <a:sym typeface="Roboto"/>
            </a:endParaRPr>
          </a:p>
          <a:p>
            <a:pPr indent="0" lvl="0" marL="0" rtl="0" algn="ctr">
              <a:spcBef>
                <a:spcPts val="0"/>
              </a:spcBef>
              <a:spcAft>
                <a:spcPts val="0"/>
              </a:spcAft>
              <a:buNone/>
            </a:pPr>
            <a:r>
              <a:rPr b="1" lang="en" sz="2200">
                <a:solidFill>
                  <a:schemeClr val="lt1"/>
                </a:solidFill>
                <a:latin typeface="Roboto"/>
                <a:ea typeface="Roboto"/>
                <a:cs typeface="Roboto"/>
                <a:sym typeface="Roboto"/>
              </a:rPr>
              <a:t>ACCESS</a:t>
            </a:r>
            <a:endParaRPr b="1" sz="2200">
              <a:solidFill>
                <a:schemeClr val="lt1"/>
              </a:solidFill>
              <a:latin typeface="Roboto"/>
              <a:ea typeface="Roboto"/>
              <a:cs typeface="Roboto"/>
              <a:sym typeface="Roboto"/>
            </a:endParaRPr>
          </a:p>
        </p:txBody>
      </p:sp>
      <p:sp>
        <p:nvSpPr>
          <p:cNvPr id="487" name="Google Shape;487;p45"/>
          <p:cNvSpPr/>
          <p:nvPr/>
        </p:nvSpPr>
        <p:spPr>
          <a:xfrm>
            <a:off x="6260300" y="1855250"/>
            <a:ext cx="2083200" cy="447300"/>
          </a:xfrm>
          <a:prstGeom prst="flowChartAlternateProcess">
            <a:avLst/>
          </a:prstGeom>
          <a:solidFill>
            <a:srgbClr val="D9D9D9"/>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666666"/>
                </a:solidFill>
                <a:latin typeface="Roboto"/>
                <a:ea typeface="Roboto"/>
                <a:cs typeface="Roboto"/>
                <a:sym typeface="Roboto"/>
              </a:rPr>
              <a:t>Transportation</a:t>
            </a:r>
            <a:endParaRPr b="1" sz="1500">
              <a:solidFill>
                <a:srgbClr val="666666"/>
              </a:solidFill>
              <a:latin typeface="Roboto"/>
              <a:ea typeface="Roboto"/>
              <a:cs typeface="Roboto"/>
              <a:sym typeface="Roboto"/>
            </a:endParaRPr>
          </a:p>
        </p:txBody>
      </p:sp>
      <p:sp>
        <p:nvSpPr>
          <p:cNvPr id="488" name="Google Shape;488;p45"/>
          <p:cNvSpPr/>
          <p:nvPr/>
        </p:nvSpPr>
        <p:spPr>
          <a:xfrm>
            <a:off x="6319525" y="3613250"/>
            <a:ext cx="2083200" cy="447300"/>
          </a:xfrm>
          <a:prstGeom prst="flowChartAlternateProcess">
            <a:avLst/>
          </a:prstGeom>
          <a:solidFill>
            <a:srgbClr val="D9D9D9"/>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666666"/>
                </a:solidFill>
                <a:latin typeface="Roboto"/>
                <a:ea typeface="Roboto"/>
                <a:cs typeface="Roboto"/>
                <a:sym typeface="Roboto"/>
              </a:rPr>
              <a:t>Primary Healthcare</a:t>
            </a:r>
            <a:endParaRPr b="1" sz="1500">
              <a:solidFill>
                <a:srgbClr val="666666"/>
              </a:solidFill>
              <a:latin typeface="Roboto"/>
              <a:ea typeface="Roboto"/>
              <a:cs typeface="Roboto"/>
              <a:sym typeface="Roboto"/>
            </a:endParaRPr>
          </a:p>
        </p:txBody>
      </p:sp>
      <p:sp>
        <p:nvSpPr>
          <p:cNvPr id="489" name="Google Shape;489;p45"/>
          <p:cNvSpPr/>
          <p:nvPr/>
        </p:nvSpPr>
        <p:spPr>
          <a:xfrm>
            <a:off x="3843939" y="2004050"/>
            <a:ext cx="1055322" cy="1803006"/>
          </a:xfrm>
          <a:prstGeom prst="flowChartTerminator">
            <a:avLst/>
          </a:prstGeom>
          <a:solidFill>
            <a:srgbClr val="BF9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490" name="Google Shape;490;p45"/>
          <p:cNvSpPr/>
          <p:nvPr/>
        </p:nvSpPr>
        <p:spPr>
          <a:xfrm>
            <a:off x="3785803" y="2594600"/>
            <a:ext cx="1167000" cy="621900"/>
          </a:xfrm>
          <a:prstGeom prst="roundRect">
            <a:avLst>
              <a:gd fmla="val 16667" name="adj"/>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PROJECT</a:t>
            </a:r>
            <a:endParaRPr b="1">
              <a:latin typeface="Roboto"/>
              <a:ea typeface="Roboto"/>
              <a:cs typeface="Roboto"/>
              <a:sym typeface="Roboto"/>
            </a:endParaRPr>
          </a:p>
          <a:p>
            <a:pPr indent="0" lvl="0" marL="0" rtl="0" algn="ctr">
              <a:spcBef>
                <a:spcPts val="0"/>
              </a:spcBef>
              <a:spcAft>
                <a:spcPts val="0"/>
              </a:spcAft>
              <a:buNone/>
            </a:pPr>
            <a:r>
              <a:rPr b="1" lang="en">
                <a:latin typeface="Roboto"/>
                <a:ea typeface="Roboto"/>
                <a:cs typeface="Roboto"/>
                <a:sym typeface="Roboto"/>
              </a:rPr>
              <a:t>FOCUS</a:t>
            </a:r>
            <a:endParaRPr b="1">
              <a:latin typeface="Roboto"/>
              <a:ea typeface="Roboto"/>
              <a:cs typeface="Roboto"/>
              <a:sym typeface="Roboto"/>
            </a:endParaRPr>
          </a:p>
        </p:txBody>
      </p:sp>
      <p:sp>
        <p:nvSpPr>
          <p:cNvPr id="491" name="Google Shape;491;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495" name="Shape 495"/>
        <p:cNvGrpSpPr/>
        <p:nvPr/>
      </p:nvGrpSpPr>
      <p:grpSpPr>
        <a:xfrm>
          <a:off x="0" y="0"/>
          <a:ext cx="0" cy="0"/>
          <a:chOff x="0" y="0"/>
          <a:chExt cx="0" cy="0"/>
        </a:xfrm>
      </p:grpSpPr>
      <p:sp>
        <p:nvSpPr>
          <p:cNvPr id="496" name="Google Shape;496;p46"/>
          <p:cNvSpPr/>
          <p:nvPr/>
        </p:nvSpPr>
        <p:spPr>
          <a:xfrm>
            <a:off x="-525" y="2780"/>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7" name="Google Shape;497;p46"/>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98" name="Google Shape;498;p46"/>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499" name="Google Shape;499;p46"/>
          <p:cNvSpPr txBox="1"/>
          <p:nvPr>
            <p:ph idx="26"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500" name="Google Shape;500;p46"/>
          <p:cNvSpPr txBox="1"/>
          <p:nvPr>
            <p:ph idx="28"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501" name="Google Shape;501;p46"/>
          <p:cNvSpPr txBox="1"/>
          <p:nvPr>
            <p:ph idx="29"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502" name="Google Shape;502;p46"/>
          <p:cNvSpPr txBox="1"/>
          <p:nvPr>
            <p:ph idx="25"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cxnSp>
        <p:nvCxnSpPr>
          <p:cNvPr id="503" name="Google Shape;503;p46"/>
          <p:cNvCxnSpPr/>
          <p:nvPr/>
        </p:nvCxnSpPr>
        <p:spPr>
          <a:xfrm flipH="1" rot="10800000">
            <a:off x="1459925" y="3242342"/>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504" name="Google Shape;504;p46"/>
          <p:cNvCxnSpPr/>
          <p:nvPr/>
        </p:nvCxnSpPr>
        <p:spPr>
          <a:xfrm flipH="1" rot="10800000">
            <a:off x="5746125" y="3228366"/>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505" name="Google Shape;505;p46"/>
          <p:cNvCxnSpPr/>
          <p:nvPr/>
        </p:nvCxnSpPr>
        <p:spPr>
          <a:xfrm flipH="1" rot="10800000">
            <a:off x="3636325" y="3237892"/>
            <a:ext cx="2033700" cy="6900"/>
          </a:xfrm>
          <a:prstGeom prst="straightConnector1">
            <a:avLst/>
          </a:prstGeom>
          <a:noFill/>
          <a:ln cap="flat" cmpd="sng" w="28575">
            <a:solidFill>
              <a:srgbClr val="B45F06"/>
            </a:solidFill>
            <a:prstDash val="solid"/>
            <a:round/>
            <a:headEnd len="med" w="med" type="none"/>
            <a:tailEnd len="med" w="med" type="none"/>
          </a:ln>
        </p:spPr>
      </p:cxnSp>
      <p:sp>
        <p:nvSpPr>
          <p:cNvPr id="506" name="Google Shape;506;p46"/>
          <p:cNvSpPr/>
          <p:nvPr/>
        </p:nvSpPr>
        <p:spPr>
          <a:xfrm>
            <a:off x="292138" y="-5475"/>
            <a:ext cx="83388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07" name="Google Shape;507;p46"/>
          <p:cNvSpPr txBox="1"/>
          <p:nvPr>
            <p:ph idx="13"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01</a:t>
            </a:r>
            <a:endParaRPr b="1">
              <a:solidFill>
                <a:srgbClr val="FDFAF3"/>
              </a:solidFill>
            </a:endParaRPr>
          </a:p>
        </p:txBody>
      </p:sp>
      <p:sp>
        <p:nvSpPr>
          <p:cNvPr id="508" name="Google Shape;508;p46"/>
          <p:cNvSpPr txBox="1"/>
          <p:nvPr>
            <p:ph idx="32"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BACKGROUND</a:t>
            </a:r>
            <a:endParaRPr>
              <a:solidFill>
                <a:srgbClr val="FDFAF3"/>
              </a:solidFill>
            </a:endParaRPr>
          </a:p>
        </p:txBody>
      </p:sp>
      <p:sp>
        <p:nvSpPr>
          <p:cNvPr id="509" name="Google Shape;509;p46"/>
          <p:cNvSpPr txBox="1"/>
          <p:nvPr>
            <p:ph type="title"/>
          </p:nvPr>
        </p:nvSpPr>
        <p:spPr>
          <a:xfrm>
            <a:off x="569299" y="163225"/>
            <a:ext cx="6191400" cy="1208700"/>
          </a:xfrm>
          <a:prstGeom prst="rect">
            <a:avLst/>
          </a:prstGeom>
        </p:spPr>
        <p:txBody>
          <a:bodyPr anchorCtr="0" anchor="t" bIns="86300" lIns="86300" spcFirstLastPara="1" rIns="86300" wrap="square" tIns="86300">
            <a:spAutoFit/>
          </a:bodyPr>
          <a:lstStyle/>
          <a:p>
            <a:pPr indent="0" lvl="0" marL="0" rtl="0" algn="l">
              <a:spcBef>
                <a:spcPts val="0"/>
              </a:spcBef>
              <a:spcAft>
                <a:spcPts val="0"/>
              </a:spcAft>
              <a:buNone/>
            </a:pPr>
            <a:r>
              <a:rPr lang="en" sz="6719">
                <a:solidFill>
                  <a:srgbClr val="B45F06"/>
                </a:solidFill>
              </a:rPr>
              <a:t>the question</a:t>
            </a:r>
            <a:endParaRPr sz="5870">
              <a:solidFill>
                <a:srgbClr val="B45F06"/>
              </a:solidFill>
            </a:endParaRPr>
          </a:p>
        </p:txBody>
      </p:sp>
      <p:sp>
        <p:nvSpPr>
          <p:cNvPr id="510" name="Google Shape;510;p46"/>
          <p:cNvSpPr txBox="1"/>
          <p:nvPr>
            <p:ph idx="9" type="subTitle"/>
          </p:nvPr>
        </p:nvSpPr>
        <p:spPr>
          <a:xfrm>
            <a:off x="569300" y="1169500"/>
            <a:ext cx="7374300" cy="463200"/>
          </a:xfrm>
          <a:prstGeom prst="rect">
            <a:avLst/>
          </a:prstGeom>
        </p:spPr>
        <p:txBody>
          <a:bodyPr anchorCtr="0" anchor="t" bIns="86300" lIns="86300" spcFirstLastPara="1" rIns="86300" wrap="square" tIns="86300">
            <a:spAutoFit/>
          </a:bodyPr>
          <a:lstStyle/>
          <a:p>
            <a:pPr indent="0" lvl="0" marL="0" rtl="0" algn="l">
              <a:spcBef>
                <a:spcPts val="0"/>
              </a:spcBef>
              <a:spcAft>
                <a:spcPts val="0"/>
              </a:spcAft>
              <a:buNone/>
            </a:pPr>
            <a:r>
              <a:rPr b="1" lang="en" sz="1877">
                <a:latin typeface="Roboto"/>
                <a:ea typeface="Roboto"/>
                <a:cs typeface="Roboto"/>
                <a:sym typeface="Roboto"/>
              </a:rPr>
              <a:t>Treatment access, housing stability, and New Mexico public data</a:t>
            </a:r>
            <a:endParaRPr b="1" sz="1877">
              <a:latin typeface="Roboto"/>
              <a:ea typeface="Roboto"/>
              <a:cs typeface="Roboto"/>
              <a:sym typeface="Roboto"/>
            </a:endParaRPr>
          </a:p>
        </p:txBody>
      </p:sp>
      <p:sp>
        <p:nvSpPr>
          <p:cNvPr id="511" name="Google Shape;511;p46"/>
          <p:cNvSpPr txBox="1"/>
          <p:nvPr/>
        </p:nvSpPr>
        <p:spPr>
          <a:xfrm>
            <a:off x="622375" y="2731750"/>
            <a:ext cx="7434000" cy="184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700">
                <a:solidFill>
                  <a:schemeClr val="lt1"/>
                </a:solidFill>
                <a:latin typeface="Roboto Light"/>
                <a:ea typeface="Roboto Light"/>
                <a:cs typeface="Roboto Light"/>
                <a:sym typeface="Roboto Light"/>
              </a:rPr>
              <a:t>“Does stronger access to mental healthcare align with </a:t>
            </a:r>
            <a:r>
              <a:rPr b="1" lang="en" sz="2700">
                <a:solidFill>
                  <a:srgbClr val="B45F06"/>
                </a:solidFill>
                <a:latin typeface="Roboto"/>
                <a:ea typeface="Roboto"/>
                <a:cs typeface="Roboto"/>
                <a:sym typeface="Roboto"/>
              </a:rPr>
              <a:t>greater housing stability</a:t>
            </a:r>
            <a:r>
              <a:rPr lang="en" sz="2700">
                <a:solidFill>
                  <a:srgbClr val="B45F06"/>
                </a:solidFill>
                <a:latin typeface="Roboto Light"/>
                <a:ea typeface="Roboto Light"/>
                <a:cs typeface="Roboto Light"/>
                <a:sym typeface="Roboto Light"/>
              </a:rPr>
              <a:t> </a:t>
            </a:r>
            <a:r>
              <a:rPr lang="en" sz="2700">
                <a:solidFill>
                  <a:schemeClr val="lt1"/>
                </a:solidFill>
                <a:latin typeface="Roboto Light"/>
                <a:ea typeface="Roboto Light"/>
                <a:cs typeface="Roboto Light"/>
                <a:sym typeface="Roboto Light"/>
              </a:rPr>
              <a:t>for people experiencing or at risk of homelessness in New Mexico?”</a:t>
            </a:r>
            <a:endParaRPr sz="1000">
              <a:solidFill>
                <a:schemeClr val="lt1"/>
              </a:solidFill>
              <a:latin typeface="Roboto Light"/>
              <a:ea typeface="Roboto Light"/>
              <a:cs typeface="Roboto Light"/>
              <a:sym typeface="Roboto Light"/>
            </a:endParaRPr>
          </a:p>
        </p:txBody>
      </p:sp>
      <p:sp>
        <p:nvSpPr>
          <p:cNvPr id="512" name="Google Shape;512;p46"/>
          <p:cNvSpPr/>
          <p:nvPr/>
        </p:nvSpPr>
        <p:spPr>
          <a:xfrm>
            <a:off x="685500" y="1749750"/>
            <a:ext cx="2923500" cy="793500"/>
          </a:xfrm>
          <a:prstGeom prst="flowChartAlternateProcess">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Roboto"/>
                <a:ea typeface="Roboto"/>
                <a:cs typeface="Roboto"/>
                <a:sym typeface="Roboto"/>
              </a:rPr>
              <a:t>Treatment Access</a:t>
            </a:r>
            <a:endParaRPr b="1" sz="2000">
              <a:latin typeface="Roboto"/>
              <a:ea typeface="Roboto"/>
              <a:cs typeface="Roboto"/>
              <a:sym typeface="Roboto"/>
            </a:endParaRPr>
          </a:p>
        </p:txBody>
      </p:sp>
      <p:sp>
        <p:nvSpPr>
          <p:cNvPr id="513" name="Google Shape;513;p46"/>
          <p:cNvSpPr/>
          <p:nvPr/>
        </p:nvSpPr>
        <p:spPr>
          <a:xfrm>
            <a:off x="5082075" y="1758581"/>
            <a:ext cx="2923500" cy="793500"/>
          </a:xfrm>
          <a:prstGeom prst="flowChartAlternateProcess">
            <a:avLst/>
          </a:pr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latin typeface="Roboto"/>
                <a:ea typeface="Roboto"/>
                <a:cs typeface="Roboto"/>
                <a:sym typeface="Roboto"/>
              </a:rPr>
              <a:t>Housing Stability</a:t>
            </a:r>
            <a:endParaRPr b="1" sz="2000">
              <a:latin typeface="Roboto"/>
              <a:ea typeface="Roboto"/>
              <a:cs typeface="Roboto"/>
              <a:sym typeface="Roboto"/>
            </a:endParaRPr>
          </a:p>
        </p:txBody>
      </p:sp>
      <p:sp>
        <p:nvSpPr>
          <p:cNvPr id="514" name="Google Shape;514;p46"/>
          <p:cNvSpPr txBox="1"/>
          <p:nvPr/>
        </p:nvSpPr>
        <p:spPr>
          <a:xfrm>
            <a:off x="3776250" y="1595468"/>
            <a:ext cx="1258800" cy="95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0">
                <a:solidFill>
                  <a:srgbClr val="B45F06"/>
                </a:solidFill>
                <a:latin typeface="Roboto"/>
                <a:ea typeface="Roboto"/>
                <a:cs typeface="Roboto"/>
                <a:sym typeface="Roboto"/>
              </a:rPr>
              <a:t>?</a:t>
            </a:r>
            <a:endParaRPr b="1" sz="6000">
              <a:solidFill>
                <a:srgbClr val="B45F06"/>
              </a:solidFill>
              <a:latin typeface="Roboto"/>
              <a:ea typeface="Roboto"/>
              <a:cs typeface="Roboto"/>
              <a:sym typeface="Roboto"/>
            </a:endParaRPr>
          </a:p>
        </p:txBody>
      </p:sp>
      <p:cxnSp>
        <p:nvCxnSpPr>
          <p:cNvPr id="515" name="Google Shape;515;p46"/>
          <p:cNvCxnSpPr>
            <a:stCxn id="512" idx="3"/>
          </p:cNvCxnSpPr>
          <p:nvPr/>
        </p:nvCxnSpPr>
        <p:spPr>
          <a:xfrm flipH="1" rot="10800000">
            <a:off x="3609000" y="2140500"/>
            <a:ext cx="1489200" cy="6000"/>
          </a:xfrm>
          <a:prstGeom prst="straightConnector1">
            <a:avLst/>
          </a:prstGeom>
          <a:noFill/>
          <a:ln cap="flat" cmpd="sng" w="38100">
            <a:solidFill>
              <a:srgbClr val="B45F06"/>
            </a:solidFill>
            <a:prstDash val="dot"/>
            <a:round/>
            <a:headEnd len="med" w="med" type="none"/>
            <a:tailEnd len="med" w="med" type="none"/>
          </a:ln>
        </p:spPr>
      </p:cxnSp>
      <p:sp>
        <p:nvSpPr>
          <p:cNvPr id="516" name="Google Shape;516;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520" name="Shape 520"/>
        <p:cNvGrpSpPr/>
        <p:nvPr/>
      </p:nvGrpSpPr>
      <p:grpSpPr>
        <a:xfrm>
          <a:off x="0" y="0"/>
          <a:ext cx="0" cy="0"/>
          <a:chOff x="0" y="0"/>
          <a:chExt cx="0" cy="0"/>
        </a:xfrm>
      </p:grpSpPr>
      <p:sp>
        <p:nvSpPr>
          <p:cNvPr id="521" name="Google Shape;521;p47"/>
          <p:cNvSpPr/>
          <p:nvPr/>
        </p:nvSpPr>
        <p:spPr>
          <a:xfrm>
            <a:off x="779112" y="-9900"/>
            <a:ext cx="73332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22" name="Google Shape;522;p47"/>
          <p:cNvSpPr/>
          <p:nvPr/>
        </p:nvSpPr>
        <p:spPr>
          <a:xfrm>
            <a:off x="386738" y="-9900"/>
            <a:ext cx="8364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a:t>
            </a:r>
            <a:endParaRPr b="1">
              <a:solidFill>
                <a:schemeClr val="dk1"/>
              </a:solidFill>
            </a:endParaRPr>
          </a:p>
        </p:txBody>
      </p:sp>
      <p:sp>
        <p:nvSpPr>
          <p:cNvPr id="523" name="Google Shape;523;p47"/>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24" name="Google Shape;524;p47"/>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25" name="Google Shape;525;p47"/>
          <p:cNvSpPr txBox="1"/>
          <p:nvPr>
            <p:ph idx="4" type="subTitle"/>
          </p:nvPr>
        </p:nvSpPr>
        <p:spPr>
          <a:xfrm>
            <a:off x="3367725" y="3182825"/>
            <a:ext cx="21414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data</a:t>
            </a:r>
            <a:endParaRPr sz="2400"/>
          </a:p>
        </p:txBody>
      </p:sp>
      <p:sp>
        <p:nvSpPr>
          <p:cNvPr id="526" name="Google Shape;526;p47"/>
          <p:cNvSpPr txBox="1"/>
          <p:nvPr>
            <p:ph idx="8"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01</a:t>
            </a:r>
            <a:endParaRPr b="1">
              <a:solidFill>
                <a:srgbClr val="FDFAF3"/>
              </a:solidFill>
            </a:endParaRPr>
          </a:p>
        </p:txBody>
      </p:sp>
      <p:sp>
        <p:nvSpPr>
          <p:cNvPr id="527" name="Google Shape;527;p47"/>
          <p:cNvSpPr txBox="1"/>
          <p:nvPr>
            <p:ph idx="30"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BACKGROUND</a:t>
            </a:r>
            <a:endParaRPr>
              <a:solidFill>
                <a:srgbClr val="FDFAF3"/>
              </a:solidFill>
            </a:endParaRPr>
          </a:p>
        </p:txBody>
      </p:sp>
      <p:sp>
        <p:nvSpPr>
          <p:cNvPr id="528" name="Google Shape;528;p47"/>
          <p:cNvSpPr/>
          <p:nvPr/>
        </p:nvSpPr>
        <p:spPr>
          <a:xfrm>
            <a:off x="5624400" y="2445030"/>
            <a:ext cx="2491200" cy="25926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29" name="Google Shape;529;p47"/>
          <p:cNvSpPr txBox="1"/>
          <p:nvPr>
            <p:ph idx="24"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530" name="Google Shape;530;p47"/>
          <p:cNvSpPr/>
          <p:nvPr/>
        </p:nvSpPr>
        <p:spPr>
          <a:xfrm>
            <a:off x="565788" y="2445027"/>
            <a:ext cx="2491200" cy="25926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31" name="Google Shape;531;p47"/>
          <p:cNvSpPr/>
          <p:nvPr/>
        </p:nvSpPr>
        <p:spPr>
          <a:xfrm>
            <a:off x="3095625" y="2445027"/>
            <a:ext cx="2491200" cy="25926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32" name="Google Shape;532;p47"/>
          <p:cNvSpPr txBox="1"/>
          <p:nvPr>
            <p:ph idx="26"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533" name="Google Shape;533;p47"/>
          <p:cNvSpPr txBox="1"/>
          <p:nvPr>
            <p:ph idx="27"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534" name="Google Shape;534;p47"/>
          <p:cNvSpPr txBox="1"/>
          <p:nvPr>
            <p:ph idx="1" type="subTitle"/>
          </p:nvPr>
        </p:nvSpPr>
        <p:spPr>
          <a:xfrm>
            <a:off x="574508" y="818039"/>
            <a:ext cx="6544800" cy="509700"/>
          </a:xfrm>
          <a:prstGeom prst="rect">
            <a:avLst/>
          </a:prstGeom>
        </p:spPr>
        <p:txBody>
          <a:bodyPr anchorCtr="0" anchor="t" bIns="89025" lIns="89025" spcFirstLastPara="1" rIns="89025" wrap="square" tIns="89025">
            <a:spAutoFit/>
          </a:bodyPr>
          <a:lstStyle/>
          <a:p>
            <a:pPr indent="0" lvl="0" marL="0" rtl="0" algn="l">
              <a:spcBef>
                <a:spcPts val="0"/>
              </a:spcBef>
              <a:spcAft>
                <a:spcPts val="0"/>
              </a:spcAft>
              <a:buNone/>
            </a:pPr>
            <a:r>
              <a:rPr b="1" lang="en" sz="2142">
                <a:latin typeface="Roboto"/>
                <a:ea typeface="Roboto"/>
                <a:cs typeface="Roboto"/>
                <a:sym typeface="Roboto"/>
              </a:rPr>
              <a:t>Three definitions guided what we looked for</a:t>
            </a:r>
            <a:endParaRPr b="1" sz="2142">
              <a:latin typeface="Roboto"/>
              <a:ea typeface="Roboto"/>
              <a:cs typeface="Roboto"/>
              <a:sym typeface="Roboto"/>
            </a:endParaRPr>
          </a:p>
        </p:txBody>
      </p:sp>
      <p:sp>
        <p:nvSpPr>
          <p:cNvPr id="535" name="Google Shape;535;p47"/>
          <p:cNvSpPr txBox="1"/>
          <p:nvPr>
            <p:ph idx="4294967295" type="subTitle"/>
          </p:nvPr>
        </p:nvSpPr>
        <p:spPr>
          <a:xfrm>
            <a:off x="3300039" y="3600525"/>
            <a:ext cx="2080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6" name="Google Shape;536;p47"/>
          <p:cNvSpPr txBox="1"/>
          <p:nvPr>
            <p:ph idx="23"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537" name="Google Shape;537;p47"/>
          <p:cNvSpPr txBox="1"/>
          <p:nvPr/>
        </p:nvSpPr>
        <p:spPr>
          <a:xfrm>
            <a:off x="616200" y="1687538"/>
            <a:ext cx="6401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lt1"/>
              </a:solidFill>
              <a:latin typeface="Roboto Light"/>
              <a:ea typeface="Roboto Light"/>
              <a:cs typeface="Roboto Light"/>
              <a:sym typeface="Roboto Light"/>
            </a:endParaRPr>
          </a:p>
        </p:txBody>
      </p:sp>
      <p:cxnSp>
        <p:nvCxnSpPr>
          <p:cNvPr id="538" name="Google Shape;538;p47"/>
          <p:cNvCxnSpPr/>
          <p:nvPr/>
        </p:nvCxnSpPr>
        <p:spPr>
          <a:xfrm flipH="1" rot="10800000">
            <a:off x="702475" y="2946173"/>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539" name="Google Shape;539;p47"/>
          <p:cNvCxnSpPr/>
          <p:nvPr/>
        </p:nvCxnSpPr>
        <p:spPr>
          <a:xfrm flipH="1" rot="10800000">
            <a:off x="3224975" y="2946173"/>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540" name="Google Shape;540;p47"/>
          <p:cNvCxnSpPr/>
          <p:nvPr/>
        </p:nvCxnSpPr>
        <p:spPr>
          <a:xfrm flipH="1" rot="10800000">
            <a:off x="5710237" y="2946171"/>
            <a:ext cx="2033700" cy="6900"/>
          </a:xfrm>
          <a:prstGeom prst="straightConnector1">
            <a:avLst/>
          </a:prstGeom>
          <a:noFill/>
          <a:ln cap="flat" cmpd="sng" w="28575">
            <a:solidFill>
              <a:srgbClr val="B45F06"/>
            </a:solidFill>
            <a:prstDash val="solid"/>
            <a:round/>
            <a:headEnd len="med" w="med" type="none"/>
            <a:tailEnd len="med" w="med" type="none"/>
          </a:ln>
        </p:spPr>
      </p:cxnSp>
      <p:sp>
        <p:nvSpPr>
          <p:cNvPr id="541" name="Google Shape;541;p47"/>
          <p:cNvSpPr txBox="1"/>
          <p:nvPr>
            <p:ph type="title"/>
          </p:nvPr>
        </p:nvSpPr>
        <p:spPr>
          <a:xfrm>
            <a:off x="514188" y="-59487"/>
            <a:ext cx="6386400" cy="1199100"/>
          </a:xfrm>
          <a:prstGeom prst="rect">
            <a:avLst/>
          </a:prstGeom>
        </p:spPr>
        <p:txBody>
          <a:bodyPr anchorCtr="0" anchor="t" bIns="89025" lIns="89025" spcFirstLastPara="1" rIns="89025" wrap="square" tIns="89025">
            <a:spAutoFit/>
          </a:bodyPr>
          <a:lstStyle/>
          <a:p>
            <a:pPr indent="0" lvl="0" marL="0" rtl="0" algn="l">
              <a:spcBef>
                <a:spcPts val="0"/>
              </a:spcBef>
              <a:spcAft>
                <a:spcPts val="0"/>
              </a:spcAft>
              <a:buNone/>
            </a:pPr>
            <a:r>
              <a:rPr lang="en" sz="6621">
                <a:solidFill>
                  <a:srgbClr val="B45F06"/>
                </a:solidFill>
              </a:rPr>
              <a:t>the framework</a:t>
            </a:r>
            <a:endParaRPr sz="5745">
              <a:solidFill>
                <a:srgbClr val="B45F06"/>
              </a:solidFill>
            </a:endParaRPr>
          </a:p>
        </p:txBody>
      </p:sp>
      <p:sp>
        <p:nvSpPr>
          <p:cNvPr id="542" name="Google Shape;542;p47"/>
          <p:cNvSpPr txBox="1"/>
          <p:nvPr/>
        </p:nvSpPr>
        <p:spPr>
          <a:xfrm>
            <a:off x="-1184800" y="-625625"/>
            <a:ext cx="58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rgbClr val="FF0000"/>
              </a:solidFill>
              <a:latin typeface="Roboto Light"/>
              <a:ea typeface="Roboto Light"/>
              <a:cs typeface="Roboto Light"/>
              <a:sym typeface="Roboto Light"/>
            </a:endParaRPr>
          </a:p>
        </p:txBody>
      </p:sp>
      <p:sp>
        <p:nvSpPr>
          <p:cNvPr id="543" name="Google Shape;543;p47"/>
          <p:cNvSpPr txBox="1"/>
          <p:nvPr>
            <p:ph idx="7" type="subTitle"/>
          </p:nvPr>
        </p:nvSpPr>
        <p:spPr>
          <a:xfrm>
            <a:off x="626125" y="2918229"/>
            <a:ext cx="2303700" cy="232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500"/>
              <a:t>Ability to obtain and continue needed treatment</a:t>
            </a:r>
            <a:endParaRPr i="1" sz="1500"/>
          </a:p>
          <a:p>
            <a:pPr indent="0" lvl="0" marL="0" rtl="0" algn="l">
              <a:spcBef>
                <a:spcPts val="0"/>
              </a:spcBef>
              <a:spcAft>
                <a:spcPts val="0"/>
              </a:spcAft>
              <a:buNone/>
            </a:pPr>
            <a:r>
              <a:t/>
            </a:r>
            <a:endParaRPr i="1" sz="800"/>
          </a:p>
          <a:p>
            <a:pPr indent="-323850" lvl="0" marL="457200" rtl="0" algn="l">
              <a:spcBef>
                <a:spcPts val="0"/>
              </a:spcBef>
              <a:spcAft>
                <a:spcPts val="0"/>
              </a:spcAft>
              <a:buSzPts val="1500"/>
              <a:buChar char="●"/>
            </a:pPr>
            <a:r>
              <a:rPr lang="en" sz="1500"/>
              <a:t>Service availability</a:t>
            </a:r>
            <a:endParaRPr sz="1500"/>
          </a:p>
          <a:p>
            <a:pPr indent="-323850" lvl="0" marL="457200" rtl="0" algn="l">
              <a:spcBef>
                <a:spcPts val="0"/>
              </a:spcBef>
              <a:spcAft>
                <a:spcPts val="0"/>
              </a:spcAft>
              <a:buSzPts val="1500"/>
              <a:buChar char="●"/>
            </a:pPr>
            <a:r>
              <a:rPr lang="en" sz="1500"/>
              <a:t>Ability to enter treatment</a:t>
            </a:r>
            <a:endParaRPr sz="1500"/>
          </a:p>
          <a:p>
            <a:pPr indent="-323850" lvl="0" marL="457200" rtl="0" algn="l">
              <a:spcBef>
                <a:spcPts val="0"/>
              </a:spcBef>
              <a:spcAft>
                <a:spcPts val="0"/>
              </a:spcAft>
              <a:buSzPts val="1500"/>
              <a:buChar char="●"/>
            </a:pPr>
            <a:r>
              <a:rPr lang="en" sz="1500"/>
              <a:t>Continuity of care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100"/>
          </a:p>
        </p:txBody>
      </p:sp>
      <p:sp>
        <p:nvSpPr>
          <p:cNvPr id="544" name="Google Shape;544;p47"/>
          <p:cNvSpPr txBox="1"/>
          <p:nvPr>
            <p:ph idx="2" type="subTitle"/>
          </p:nvPr>
        </p:nvSpPr>
        <p:spPr>
          <a:xfrm>
            <a:off x="5690076" y="2504789"/>
            <a:ext cx="2303700" cy="4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900"/>
              <a:t>Public data</a:t>
            </a:r>
            <a:endParaRPr sz="1900"/>
          </a:p>
        </p:txBody>
      </p:sp>
      <p:sp>
        <p:nvSpPr>
          <p:cNvPr id="545" name="Google Shape;545;p47"/>
          <p:cNvSpPr txBox="1"/>
          <p:nvPr>
            <p:ph idx="6" type="subTitle"/>
          </p:nvPr>
        </p:nvSpPr>
        <p:spPr>
          <a:xfrm>
            <a:off x="672849" y="2432727"/>
            <a:ext cx="2226600" cy="4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900"/>
              <a:t>Mental Healthcare</a:t>
            </a:r>
            <a:endParaRPr sz="1900"/>
          </a:p>
        </p:txBody>
      </p:sp>
      <p:sp>
        <p:nvSpPr>
          <p:cNvPr id="546" name="Google Shape;546;p47"/>
          <p:cNvSpPr txBox="1"/>
          <p:nvPr>
            <p:ph idx="6" type="subTitle"/>
          </p:nvPr>
        </p:nvSpPr>
        <p:spPr>
          <a:xfrm>
            <a:off x="3269848" y="2445014"/>
            <a:ext cx="2080200" cy="4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900"/>
              <a:t>Housing stability</a:t>
            </a:r>
            <a:endParaRPr sz="1900"/>
          </a:p>
        </p:txBody>
      </p:sp>
      <p:sp>
        <p:nvSpPr>
          <p:cNvPr id="547" name="Google Shape;547;p47"/>
          <p:cNvSpPr txBox="1"/>
          <p:nvPr>
            <p:ph idx="7" type="subTitle"/>
          </p:nvPr>
        </p:nvSpPr>
        <p:spPr>
          <a:xfrm>
            <a:off x="3188312" y="2918229"/>
            <a:ext cx="2303700" cy="232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500"/>
              <a:t>Ability to obtain and maintain housing over time</a:t>
            </a:r>
            <a:endParaRPr i="1" sz="1500"/>
          </a:p>
          <a:p>
            <a:pPr indent="0" lvl="0" marL="0" rtl="0" algn="l">
              <a:spcBef>
                <a:spcPts val="0"/>
              </a:spcBef>
              <a:spcAft>
                <a:spcPts val="0"/>
              </a:spcAft>
              <a:buNone/>
            </a:pPr>
            <a:r>
              <a:t/>
            </a:r>
            <a:endParaRPr i="1" sz="800"/>
          </a:p>
          <a:p>
            <a:pPr indent="-323850" lvl="0" marL="457200" rtl="0" algn="l">
              <a:spcBef>
                <a:spcPts val="0"/>
              </a:spcBef>
              <a:spcAft>
                <a:spcPts val="0"/>
              </a:spcAft>
              <a:buSzPts val="1500"/>
              <a:buChar char="●"/>
            </a:pPr>
            <a:r>
              <a:rPr lang="en" sz="1500"/>
              <a:t>Housing placement</a:t>
            </a:r>
            <a:endParaRPr sz="1500"/>
          </a:p>
          <a:p>
            <a:pPr indent="-323850" lvl="0" marL="457200" rtl="0" algn="l">
              <a:spcBef>
                <a:spcPts val="0"/>
              </a:spcBef>
              <a:spcAft>
                <a:spcPts val="0"/>
              </a:spcAft>
              <a:buSzPts val="1500"/>
              <a:buChar char="●"/>
            </a:pPr>
            <a:r>
              <a:rPr lang="en" sz="1500"/>
              <a:t>Housing retention</a:t>
            </a:r>
            <a:endParaRPr sz="1500"/>
          </a:p>
          <a:p>
            <a:pPr indent="-323850" lvl="0" marL="457200" rtl="0" algn="l">
              <a:spcBef>
                <a:spcPts val="0"/>
              </a:spcBef>
              <a:spcAft>
                <a:spcPts val="0"/>
              </a:spcAft>
              <a:buSzPts val="1500"/>
              <a:buChar char="●"/>
            </a:pPr>
            <a:r>
              <a:rPr lang="en" sz="1500"/>
              <a:t>Returns to homelessness</a:t>
            </a:r>
            <a:endParaRPr sz="1500"/>
          </a:p>
          <a:p>
            <a:pPr indent="0" lvl="0" marL="457200" rtl="0" algn="l">
              <a:spcBef>
                <a:spcPts val="0"/>
              </a:spcBef>
              <a:spcAft>
                <a:spcPts val="0"/>
              </a:spcAft>
              <a:buNone/>
            </a:pPr>
            <a:r>
              <a:t/>
            </a:r>
            <a:endParaRPr sz="1500"/>
          </a:p>
          <a:p>
            <a:pPr indent="0" lvl="0" marL="0" rtl="0" algn="l">
              <a:spcBef>
                <a:spcPts val="0"/>
              </a:spcBef>
              <a:spcAft>
                <a:spcPts val="0"/>
              </a:spcAft>
              <a:buNone/>
            </a:pPr>
            <a:r>
              <a:t/>
            </a:r>
            <a:endParaRPr sz="1100"/>
          </a:p>
        </p:txBody>
      </p:sp>
      <p:sp>
        <p:nvSpPr>
          <p:cNvPr id="548" name="Google Shape;548;p47"/>
          <p:cNvSpPr txBox="1"/>
          <p:nvPr>
            <p:ph idx="7" type="subTitle"/>
          </p:nvPr>
        </p:nvSpPr>
        <p:spPr>
          <a:xfrm>
            <a:off x="5562900" y="2948904"/>
            <a:ext cx="2549400" cy="1862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500"/>
              <a:t>Information available without restricted agency access</a:t>
            </a:r>
            <a:endParaRPr i="1" sz="1500"/>
          </a:p>
          <a:p>
            <a:pPr indent="0" lvl="0" marL="0" rtl="0" algn="l">
              <a:spcBef>
                <a:spcPts val="0"/>
              </a:spcBef>
              <a:spcAft>
                <a:spcPts val="0"/>
              </a:spcAft>
              <a:buNone/>
            </a:pPr>
            <a:r>
              <a:t/>
            </a:r>
            <a:endParaRPr i="1" sz="800"/>
          </a:p>
          <a:p>
            <a:pPr indent="-323850" lvl="0" marL="457200" rtl="0" algn="l">
              <a:spcBef>
                <a:spcPts val="0"/>
              </a:spcBef>
              <a:spcAft>
                <a:spcPts val="0"/>
              </a:spcAft>
              <a:buSzPts val="1500"/>
              <a:buChar char="●"/>
            </a:pPr>
            <a:r>
              <a:rPr lang="en" sz="1500"/>
              <a:t>Publicly accessible</a:t>
            </a:r>
            <a:endParaRPr sz="1500"/>
          </a:p>
          <a:p>
            <a:pPr indent="-323850" lvl="0" marL="457200" rtl="0" algn="l">
              <a:spcBef>
                <a:spcPts val="0"/>
              </a:spcBef>
              <a:spcAft>
                <a:spcPts val="0"/>
              </a:spcAft>
              <a:buSzPts val="1500"/>
              <a:buChar char="●"/>
            </a:pPr>
            <a:r>
              <a:rPr lang="en" sz="1500"/>
              <a:t>Local relevance</a:t>
            </a:r>
            <a:endParaRPr sz="1500"/>
          </a:p>
          <a:p>
            <a:pPr indent="-323850" lvl="0" marL="457200" rtl="0" algn="l">
              <a:spcBef>
                <a:spcPts val="0"/>
              </a:spcBef>
              <a:spcAft>
                <a:spcPts val="0"/>
              </a:spcAft>
              <a:buSzPts val="1500"/>
              <a:buChar char="●"/>
            </a:pPr>
            <a:r>
              <a:rPr lang="en" sz="1500"/>
              <a:t>Ability to connect measures</a:t>
            </a:r>
            <a:endParaRPr sz="1500"/>
          </a:p>
          <a:p>
            <a:pPr indent="0" lvl="0" marL="0" rtl="0" algn="l">
              <a:spcBef>
                <a:spcPts val="0"/>
              </a:spcBef>
              <a:spcAft>
                <a:spcPts val="0"/>
              </a:spcAft>
              <a:buNone/>
            </a:pPr>
            <a:r>
              <a:t/>
            </a:r>
            <a:endParaRPr sz="1100"/>
          </a:p>
        </p:txBody>
      </p:sp>
      <p:sp>
        <p:nvSpPr>
          <p:cNvPr id="549" name="Google Shape;549;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47"/>
          <p:cNvSpPr/>
          <p:nvPr/>
        </p:nvSpPr>
        <p:spPr>
          <a:xfrm>
            <a:off x="3749038" y="1352007"/>
            <a:ext cx="964500" cy="964500"/>
          </a:xfrm>
          <a:prstGeom prst="ellipse">
            <a:avLst/>
          </a:prstGeom>
          <a:solidFill>
            <a:srgbClr val="FFFFFF"/>
          </a:solidFill>
          <a:ln cap="flat" cmpd="sng" w="38100">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descr="house (Provided by Getty Images)" id="551" name="Google Shape;551;p47"/>
          <p:cNvPicPr preferRelativeResize="0"/>
          <p:nvPr/>
        </p:nvPicPr>
        <p:blipFill rotWithShape="1">
          <a:blip r:embed="rId3">
            <a:alphaModFix/>
          </a:blip>
          <a:srcRect b="0" l="0" r="-10558" t="0"/>
          <a:stretch/>
        </p:blipFill>
        <p:spPr>
          <a:xfrm>
            <a:off x="3941485" y="1492125"/>
            <a:ext cx="606623" cy="606602"/>
          </a:xfrm>
          <a:prstGeom prst="rect">
            <a:avLst/>
          </a:prstGeom>
          <a:solidFill>
            <a:srgbClr val="FDFAF3"/>
          </a:solidFill>
          <a:ln>
            <a:noFill/>
          </a:ln>
        </p:spPr>
      </p:pic>
      <p:sp>
        <p:nvSpPr>
          <p:cNvPr id="552" name="Google Shape;552;p47"/>
          <p:cNvSpPr/>
          <p:nvPr/>
        </p:nvSpPr>
        <p:spPr>
          <a:xfrm>
            <a:off x="1209263" y="1372282"/>
            <a:ext cx="964500" cy="964500"/>
          </a:xfrm>
          <a:prstGeom prst="ellipse">
            <a:avLst/>
          </a:prstGeom>
          <a:solidFill>
            <a:srgbClr val="FFFFFF"/>
          </a:solidFill>
          <a:ln cap="flat" cmpd="sng" w="38100">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3" name="Google Shape;553;p47"/>
          <p:cNvSpPr/>
          <p:nvPr/>
        </p:nvSpPr>
        <p:spPr>
          <a:xfrm>
            <a:off x="6238238" y="1351994"/>
            <a:ext cx="964500" cy="964500"/>
          </a:xfrm>
          <a:prstGeom prst="ellipse">
            <a:avLst/>
          </a:prstGeom>
          <a:solidFill>
            <a:srgbClr val="FFFFFF"/>
          </a:solidFill>
          <a:ln cap="flat" cmpd="sng" w="38100">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pic>
        <p:nvPicPr>
          <p:cNvPr id="554" name="Google Shape;554;p47"/>
          <p:cNvPicPr preferRelativeResize="0"/>
          <p:nvPr/>
        </p:nvPicPr>
        <p:blipFill>
          <a:blip r:embed="rId4">
            <a:alphaModFix/>
          </a:blip>
          <a:stretch>
            <a:fillRect/>
          </a:stretch>
        </p:blipFill>
        <p:spPr>
          <a:xfrm>
            <a:off x="1389067" y="1532046"/>
            <a:ext cx="548700" cy="644985"/>
          </a:xfrm>
          <a:prstGeom prst="rect">
            <a:avLst/>
          </a:prstGeom>
          <a:noFill/>
          <a:ln>
            <a:noFill/>
          </a:ln>
        </p:spPr>
      </p:pic>
      <p:pic>
        <p:nvPicPr>
          <p:cNvPr descr="Analytics, analysis, statistics, searching blue icon (Provided by Getty Images)" id="555" name="Google Shape;555;p47"/>
          <p:cNvPicPr preferRelativeResize="0"/>
          <p:nvPr/>
        </p:nvPicPr>
        <p:blipFill rotWithShape="1">
          <a:blip r:embed="rId5">
            <a:alphaModFix/>
          </a:blip>
          <a:srcRect b="3805" l="6637" r="6149" t="7298"/>
          <a:stretch/>
        </p:blipFill>
        <p:spPr>
          <a:xfrm>
            <a:off x="6432071" y="1517422"/>
            <a:ext cx="606623" cy="6183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59" name="Shape 559"/>
        <p:cNvGrpSpPr/>
        <p:nvPr/>
      </p:nvGrpSpPr>
      <p:grpSpPr>
        <a:xfrm>
          <a:off x="0" y="0"/>
          <a:ext cx="0" cy="0"/>
          <a:chOff x="0" y="0"/>
          <a:chExt cx="0" cy="0"/>
        </a:xfrm>
      </p:grpSpPr>
      <p:sp>
        <p:nvSpPr>
          <p:cNvPr id="560" name="Google Shape;560;p48"/>
          <p:cNvSpPr txBox="1"/>
          <p:nvPr/>
        </p:nvSpPr>
        <p:spPr>
          <a:xfrm>
            <a:off x="-1900400" y="2034975"/>
            <a:ext cx="580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rgbClr val="FF0000"/>
              </a:solidFill>
              <a:latin typeface="Roboto Light"/>
              <a:ea typeface="Roboto Light"/>
              <a:cs typeface="Roboto Light"/>
              <a:sym typeface="Roboto Light"/>
            </a:endParaRPr>
          </a:p>
        </p:txBody>
      </p:sp>
      <p:sp>
        <p:nvSpPr>
          <p:cNvPr id="561" name="Google Shape;561;p48"/>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62" name="Google Shape;562;p48"/>
          <p:cNvSpPr/>
          <p:nvPr/>
        </p:nvSpPr>
        <p:spPr>
          <a:xfrm>
            <a:off x="305275" y="-5475"/>
            <a:ext cx="83580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63" name="Google Shape;563;p48"/>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64" name="Google Shape;564;p48"/>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65" name="Google Shape;565;p48"/>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566" name="Google Shape;566;p48"/>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567" name="Google Shape;567;p48"/>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568" name="Google Shape;568;p48"/>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569" name="Google Shape;569;p48"/>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570" name="Google Shape;570;p48"/>
          <p:cNvSpPr/>
          <p:nvPr/>
        </p:nvSpPr>
        <p:spPr>
          <a:xfrm>
            <a:off x="10446"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571" name="Google Shape;571;p48"/>
          <p:cNvSpPr txBox="1"/>
          <p:nvPr>
            <p:ph idx="9" type="subTitle"/>
          </p:nvPr>
        </p:nvSpPr>
        <p:spPr>
          <a:xfrm rot="-5400000">
            <a:off x="-337785"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solidFill>
                  <a:srgbClr val="FFFFFF"/>
                </a:solidFill>
              </a:rPr>
              <a:t>01</a:t>
            </a:r>
            <a:endParaRPr>
              <a:solidFill>
                <a:srgbClr val="FFFFFF"/>
              </a:solidFill>
            </a:endParaRPr>
          </a:p>
        </p:txBody>
      </p:sp>
      <p:sp>
        <p:nvSpPr>
          <p:cNvPr id="572" name="Google Shape;572;p48"/>
          <p:cNvSpPr txBox="1"/>
          <p:nvPr>
            <p:ph idx="27" type="subTitle"/>
          </p:nvPr>
        </p:nvSpPr>
        <p:spPr>
          <a:xfrm rot="-5400000">
            <a:off x="-67859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BACKGROUND</a:t>
            </a:r>
            <a:endParaRPr>
              <a:solidFill>
                <a:srgbClr val="FFFFFF"/>
              </a:solidFill>
            </a:endParaRPr>
          </a:p>
        </p:txBody>
      </p:sp>
      <p:sp>
        <p:nvSpPr>
          <p:cNvPr id="573" name="Google Shape;573;p48"/>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574" name="Google Shape;574;p48"/>
          <p:cNvSpPr txBox="1"/>
          <p:nvPr>
            <p:ph idx="4294967295" type="subTitle"/>
          </p:nvPr>
        </p:nvSpPr>
        <p:spPr>
          <a:xfrm>
            <a:off x="919050" y="2764200"/>
            <a:ext cx="23037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575" name="Google Shape;575;p48"/>
          <p:cNvSpPr txBox="1"/>
          <p:nvPr>
            <p:ph idx="4294967295" type="title"/>
          </p:nvPr>
        </p:nvSpPr>
        <p:spPr>
          <a:xfrm>
            <a:off x="569300" y="163225"/>
            <a:ext cx="6558600" cy="1231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800">
                <a:solidFill>
                  <a:srgbClr val="B45F06"/>
                </a:solidFill>
              </a:rPr>
              <a:t>the plan</a:t>
            </a:r>
            <a:endParaRPr sz="5900">
              <a:solidFill>
                <a:srgbClr val="B45F06"/>
              </a:solidFill>
            </a:endParaRPr>
          </a:p>
        </p:txBody>
      </p:sp>
      <p:sp>
        <p:nvSpPr>
          <p:cNvPr id="576" name="Google Shape;576;p48"/>
          <p:cNvSpPr txBox="1"/>
          <p:nvPr>
            <p:ph idx="4294967295" type="subTitle"/>
          </p:nvPr>
        </p:nvSpPr>
        <p:spPr>
          <a:xfrm>
            <a:off x="569275" y="1217250"/>
            <a:ext cx="7830000" cy="52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How we investigated the question</a:t>
            </a:r>
            <a:endParaRPr sz="2200"/>
          </a:p>
        </p:txBody>
      </p:sp>
      <p:sp>
        <p:nvSpPr>
          <p:cNvPr id="577" name="Google Shape;577;p48"/>
          <p:cNvSpPr/>
          <p:nvPr/>
        </p:nvSpPr>
        <p:spPr>
          <a:xfrm>
            <a:off x="1939363" y="2233863"/>
            <a:ext cx="594300" cy="36900"/>
          </a:xfrm>
          <a:prstGeom prst="roundRect">
            <a:avLst>
              <a:gd fmla="val 50000" name="adj"/>
            </a:avLst>
          </a:prstGeom>
          <a:solidFill>
            <a:srgbClr val="A72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8" name="Google Shape;578;p48"/>
          <p:cNvGrpSpPr/>
          <p:nvPr/>
        </p:nvGrpSpPr>
        <p:grpSpPr>
          <a:xfrm>
            <a:off x="345575" y="1957152"/>
            <a:ext cx="1904926" cy="2433773"/>
            <a:chOff x="571540" y="1957150"/>
            <a:chExt cx="1852500" cy="2433773"/>
          </a:xfrm>
        </p:grpSpPr>
        <p:sp>
          <p:nvSpPr>
            <p:cNvPr id="579" name="Google Shape;579;p48"/>
            <p:cNvSpPr/>
            <p:nvPr/>
          </p:nvSpPr>
          <p:spPr>
            <a:xfrm>
              <a:off x="1151886" y="1957150"/>
              <a:ext cx="594300" cy="594300"/>
            </a:xfrm>
            <a:prstGeom prst="ellipse">
              <a:avLst/>
            </a:prstGeom>
            <a:solidFill>
              <a:srgbClr val="FFFFFF"/>
            </a:solidFill>
            <a:ln cap="flat" cmpd="sng" w="3810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900"/>
                <a:t>1</a:t>
              </a:r>
              <a:endParaRPr b="1" sz="2900"/>
            </a:p>
          </p:txBody>
        </p:sp>
        <p:sp>
          <p:nvSpPr>
            <p:cNvPr id="580" name="Google Shape;580;p48"/>
            <p:cNvSpPr txBox="1"/>
            <p:nvPr/>
          </p:nvSpPr>
          <p:spPr>
            <a:xfrm>
              <a:off x="594488"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434343"/>
                  </a:solidFill>
                  <a:latin typeface="Roboto"/>
                  <a:ea typeface="Roboto"/>
                  <a:cs typeface="Roboto"/>
                  <a:sym typeface="Roboto"/>
                </a:rPr>
                <a:t>Find public data</a:t>
              </a:r>
              <a:endParaRPr b="1" sz="1600">
                <a:solidFill>
                  <a:srgbClr val="434343"/>
                </a:solidFill>
                <a:latin typeface="Roboto"/>
                <a:ea typeface="Roboto"/>
                <a:cs typeface="Roboto"/>
                <a:sym typeface="Roboto"/>
              </a:endParaRPr>
            </a:p>
          </p:txBody>
        </p:sp>
        <p:sp>
          <p:nvSpPr>
            <p:cNvPr id="581" name="Google Shape;581;p48"/>
            <p:cNvSpPr txBox="1"/>
            <p:nvPr/>
          </p:nvSpPr>
          <p:spPr>
            <a:xfrm>
              <a:off x="571540" y="3117723"/>
              <a:ext cx="1852500" cy="1273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rgbClr val="0A2D27"/>
                  </a:solidFill>
                  <a:latin typeface="Roboto"/>
                  <a:ea typeface="Roboto"/>
                  <a:cs typeface="Roboto"/>
                  <a:sym typeface="Roboto"/>
                </a:rPr>
                <a:t>Search New Mexico sources related to healthcare access and housing stability</a:t>
              </a:r>
              <a:endParaRPr>
                <a:solidFill>
                  <a:srgbClr val="0A2D27"/>
                </a:solidFill>
                <a:latin typeface="Roboto"/>
                <a:ea typeface="Roboto"/>
                <a:cs typeface="Roboto"/>
                <a:sym typeface="Roboto"/>
              </a:endParaRPr>
            </a:p>
          </p:txBody>
        </p:sp>
      </p:grpSp>
      <p:grpSp>
        <p:nvGrpSpPr>
          <p:cNvPr id="582" name="Google Shape;582;p48"/>
          <p:cNvGrpSpPr/>
          <p:nvPr/>
        </p:nvGrpSpPr>
        <p:grpSpPr>
          <a:xfrm>
            <a:off x="2512568" y="1978002"/>
            <a:ext cx="1977729" cy="2392070"/>
            <a:chOff x="2678896" y="1978000"/>
            <a:chExt cx="1923300" cy="2392070"/>
          </a:xfrm>
        </p:grpSpPr>
        <p:sp>
          <p:nvSpPr>
            <p:cNvPr id="583" name="Google Shape;583;p48"/>
            <p:cNvSpPr/>
            <p:nvPr/>
          </p:nvSpPr>
          <p:spPr>
            <a:xfrm>
              <a:off x="3236297" y="1978000"/>
              <a:ext cx="594300" cy="594300"/>
            </a:xfrm>
            <a:prstGeom prst="ellipse">
              <a:avLst/>
            </a:prstGeom>
            <a:solidFill>
              <a:srgbClr val="FFFFFF"/>
            </a:solidFill>
            <a:ln cap="flat" cmpd="sng" w="3810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t>2</a:t>
              </a:r>
              <a:endParaRPr b="1" sz="2900"/>
            </a:p>
          </p:txBody>
        </p:sp>
        <p:sp>
          <p:nvSpPr>
            <p:cNvPr id="584" name="Google Shape;584;p48"/>
            <p:cNvSpPr txBox="1"/>
            <p:nvPr/>
          </p:nvSpPr>
          <p:spPr>
            <a:xfrm>
              <a:off x="2678896" y="2681773"/>
              <a:ext cx="19233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434343"/>
                  </a:solidFill>
                  <a:latin typeface="Roboto"/>
                  <a:ea typeface="Roboto"/>
                  <a:cs typeface="Roboto"/>
                  <a:sym typeface="Roboto"/>
                </a:rPr>
                <a:t>Review sources</a:t>
              </a:r>
              <a:endParaRPr b="1" sz="1600">
                <a:solidFill>
                  <a:srgbClr val="434343"/>
                </a:solidFill>
                <a:latin typeface="Roboto"/>
                <a:ea typeface="Roboto"/>
                <a:cs typeface="Roboto"/>
                <a:sym typeface="Roboto"/>
              </a:endParaRPr>
            </a:p>
          </p:txBody>
        </p:sp>
        <p:sp>
          <p:nvSpPr>
            <p:cNvPr id="585" name="Google Shape;585;p48"/>
            <p:cNvSpPr txBox="1"/>
            <p:nvPr/>
          </p:nvSpPr>
          <p:spPr>
            <a:xfrm>
              <a:off x="2678896" y="3138570"/>
              <a:ext cx="1755000" cy="1231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rgbClr val="434343"/>
                  </a:solidFill>
                  <a:latin typeface="Roboto"/>
                  <a:ea typeface="Roboto"/>
                  <a:cs typeface="Roboto"/>
                  <a:sym typeface="Roboto"/>
                </a:rPr>
                <a:t>Identify what each source measures, who it represents, and when</a:t>
              </a:r>
              <a:endParaRPr>
                <a:solidFill>
                  <a:srgbClr val="434343"/>
                </a:solidFill>
                <a:latin typeface="Roboto"/>
                <a:ea typeface="Roboto"/>
                <a:cs typeface="Roboto"/>
                <a:sym typeface="Roboto"/>
              </a:endParaRPr>
            </a:p>
          </p:txBody>
        </p:sp>
      </p:grpSp>
      <p:grpSp>
        <p:nvGrpSpPr>
          <p:cNvPr id="586" name="Google Shape;586;p48"/>
          <p:cNvGrpSpPr/>
          <p:nvPr/>
        </p:nvGrpSpPr>
        <p:grpSpPr>
          <a:xfrm>
            <a:off x="4725273" y="1957152"/>
            <a:ext cx="2197066" cy="1897973"/>
            <a:chOff x="4830704" y="1957150"/>
            <a:chExt cx="2136600" cy="1897973"/>
          </a:xfrm>
        </p:grpSpPr>
        <p:sp>
          <p:nvSpPr>
            <p:cNvPr id="587" name="Google Shape;587;p48"/>
            <p:cNvSpPr/>
            <p:nvPr/>
          </p:nvSpPr>
          <p:spPr>
            <a:xfrm>
              <a:off x="5442690" y="1957150"/>
              <a:ext cx="594300" cy="594300"/>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t>3</a:t>
              </a:r>
              <a:endParaRPr b="1" sz="3000"/>
            </a:p>
          </p:txBody>
        </p:sp>
        <p:sp>
          <p:nvSpPr>
            <p:cNvPr id="588" name="Google Shape;588;p48"/>
            <p:cNvSpPr txBox="1"/>
            <p:nvPr/>
          </p:nvSpPr>
          <p:spPr>
            <a:xfrm>
              <a:off x="4830704" y="2678726"/>
              <a:ext cx="21366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434343"/>
                  </a:solidFill>
                  <a:latin typeface="Roboto"/>
                  <a:ea typeface="Roboto"/>
                  <a:cs typeface="Roboto"/>
                  <a:sym typeface="Roboto"/>
                </a:rPr>
                <a:t>Compare evidence</a:t>
              </a:r>
              <a:endParaRPr b="1" sz="1500">
                <a:solidFill>
                  <a:srgbClr val="434343"/>
                </a:solidFill>
                <a:latin typeface="Roboto"/>
                <a:ea typeface="Roboto"/>
                <a:cs typeface="Roboto"/>
                <a:sym typeface="Roboto"/>
              </a:endParaRPr>
            </a:p>
          </p:txBody>
        </p:sp>
        <p:sp>
          <p:nvSpPr>
            <p:cNvPr id="589" name="Google Shape;589;p48"/>
            <p:cNvSpPr txBox="1"/>
            <p:nvPr/>
          </p:nvSpPr>
          <p:spPr>
            <a:xfrm>
              <a:off x="4885296" y="3117723"/>
              <a:ext cx="1923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rgbClr val="434343"/>
                  </a:solidFill>
                  <a:latin typeface="Roboto"/>
                  <a:ea typeface="Roboto"/>
                  <a:cs typeface="Roboto"/>
                  <a:sym typeface="Roboto"/>
                </a:rPr>
                <a:t>Examine patterns across populations, outcomes, locations, and time periods</a:t>
              </a:r>
              <a:endParaRPr>
                <a:solidFill>
                  <a:srgbClr val="434343"/>
                </a:solidFill>
                <a:latin typeface="Roboto"/>
                <a:ea typeface="Roboto"/>
                <a:cs typeface="Roboto"/>
                <a:sym typeface="Roboto"/>
              </a:endParaRPr>
            </a:p>
          </p:txBody>
        </p:sp>
      </p:grpSp>
      <p:grpSp>
        <p:nvGrpSpPr>
          <p:cNvPr id="590" name="Google Shape;590;p48"/>
          <p:cNvGrpSpPr/>
          <p:nvPr/>
        </p:nvGrpSpPr>
        <p:grpSpPr>
          <a:xfrm>
            <a:off x="6815475" y="1957152"/>
            <a:ext cx="1847855" cy="1897973"/>
            <a:chOff x="6863381" y="1957150"/>
            <a:chExt cx="1797000" cy="1897973"/>
          </a:xfrm>
        </p:grpSpPr>
        <p:sp>
          <p:nvSpPr>
            <p:cNvPr id="591" name="Google Shape;591;p48"/>
            <p:cNvSpPr/>
            <p:nvPr/>
          </p:nvSpPr>
          <p:spPr>
            <a:xfrm>
              <a:off x="7420786" y="1957150"/>
              <a:ext cx="594300" cy="594300"/>
            </a:xfrm>
            <a:prstGeom prst="ellipse">
              <a:avLst/>
            </a:prstGeom>
            <a:solidFill>
              <a:srgbClr val="FFFFFF"/>
            </a:solid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t>4</a:t>
              </a:r>
              <a:endParaRPr b="1" sz="3000"/>
            </a:p>
          </p:txBody>
        </p:sp>
        <p:sp>
          <p:nvSpPr>
            <p:cNvPr id="592" name="Google Shape;592;p48"/>
            <p:cNvSpPr txBox="1"/>
            <p:nvPr/>
          </p:nvSpPr>
          <p:spPr>
            <a:xfrm>
              <a:off x="6863388"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434343"/>
                  </a:solidFill>
                  <a:latin typeface="Roboto"/>
                  <a:ea typeface="Roboto"/>
                  <a:cs typeface="Roboto"/>
                  <a:sym typeface="Roboto"/>
                </a:rPr>
                <a:t>Analyze findings</a:t>
              </a:r>
              <a:endParaRPr b="1" sz="1500">
                <a:solidFill>
                  <a:srgbClr val="434343"/>
                </a:solidFill>
                <a:latin typeface="Roboto"/>
                <a:ea typeface="Roboto"/>
                <a:cs typeface="Roboto"/>
                <a:sym typeface="Roboto"/>
              </a:endParaRPr>
            </a:p>
          </p:txBody>
        </p:sp>
        <p:sp>
          <p:nvSpPr>
            <p:cNvPr id="593" name="Google Shape;593;p48"/>
            <p:cNvSpPr txBox="1"/>
            <p:nvPr/>
          </p:nvSpPr>
          <p:spPr>
            <a:xfrm>
              <a:off x="6863381" y="3117723"/>
              <a:ext cx="17970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rgbClr val="434343"/>
                  </a:solidFill>
                  <a:latin typeface="Roboto"/>
                  <a:ea typeface="Roboto"/>
                  <a:cs typeface="Roboto"/>
                  <a:sym typeface="Roboto"/>
                </a:rPr>
                <a:t>Assess what the evidence shows about our research question</a:t>
              </a:r>
              <a:endParaRPr>
                <a:solidFill>
                  <a:srgbClr val="434343"/>
                </a:solidFill>
                <a:latin typeface="Roboto"/>
                <a:ea typeface="Roboto"/>
                <a:cs typeface="Roboto"/>
                <a:sym typeface="Roboto"/>
              </a:endParaRPr>
            </a:p>
          </p:txBody>
        </p:sp>
      </p:grpSp>
      <p:sp>
        <p:nvSpPr>
          <p:cNvPr id="594" name="Google Shape;594;p48"/>
          <p:cNvSpPr/>
          <p:nvPr/>
        </p:nvSpPr>
        <p:spPr>
          <a:xfrm>
            <a:off x="4337175" y="2248113"/>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8"/>
          <p:cNvSpPr/>
          <p:nvPr/>
        </p:nvSpPr>
        <p:spPr>
          <a:xfrm>
            <a:off x="6358333" y="2248110"/>
            <a:ext cx="6111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8"/>
          <p:cNvSpPr/>
          <p:nvPr/>
        </p:nvSpPr>
        <p:spPr>
          <a:xfrm>
            <a:off x="4185700" y="2248113"/>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CDBD"/>
            </a:gs>
            <a:gs pos="100000">
              <a:srgbClr val="B45F06"/>
            </a:gs>
          </a:gsLst>
          <a:lin ang="2700006" scaled="0"/>
        </a:gradFill>
      </p:bgPr>
    </p:bg>
    <p:spTree>
      <p:nvGrpSpPr>
        <p:cNvPr id="601" name="Shape 601"/>
        <p:cNvGrpSpPr/>
        <p:nvPr/>
      </p:nvGrpSpPr>
      <p:grpSpPr>
        <a:xfrm>
          <a:off x="0" y="0"/>
          <a:ext cx="0" cy="0"/>
          <a:chOff x="0" y="0"/>
          <a:chExt cx="0" cy="0"/>
        </a:xfrm>
      </p:grpSpPr>
      <p:sp>
        <p:nvSpPr>
          <p:cNvPr id="602" name="Google Shape;602;p49"/>
          <p:cNvSpPr txBox="1"/>
          <p:nvPr/>
        </p:nvSpPr>
        <p:spPr>
          <a:xfrm>
            <a:off x="1127700" y="1555800"/>
            <a:ext cx="7345800" cy="203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rgbClr val="FFFFFF"/>
                </a:solidFill>
                <a:latin typeface="Roboto Light"/>
                <a:ea typeface="Roboto Light"/>
                <a:cs typeface="Roboto Light"/>
                <a:sym typeface="Roboto Light"/>
              </a:rPr>
              <a:t>SECTION 2:</a:t>
            </a:r>
            <a:endParaRPr sz="6000">
              <a:solidFill>
                <a:srgbClr val="FFFFFF"/>
              </a:solidFill>
              <a:latin typeface="Roboto Light"/>
              <a:ea typeface="Roboto Light"/>
              <a:cs typeface="Roboto Light"/>
              <a:sym typeface="Roboto Light"/>
            </a:endParaRPr>
          </a:p>
          <a:p>
            <a:pPr indent="0" lvl="0" marL="0" rtl="0" algn="ctr">
              <a:spcBef>
                <a:spcPts val="0"/>
              </a:spcBef>
              <a:spcAft>
                <a:spcPts val="0"/>
              </a:spcAft>
              <a:buNone/>
            </a:pPr>
            <a:r>
              <a:rPr b="1" lang="en" sz="6000">
                <a:solidFill>
                  <a:srgbClr val="FFFFFF"/>
                </a:solidFill>
                <a:latin typeface="Roboto"/>
                <a:ea typeface="Roboto"/>
                <a:cs typeface="Roboto"/>
                <a:sym typeface="Roboto"/>
              </a:rPr>
              <a:t>ASSESSMENT</a:t>
            </a:r>
            <a:endParaRPr b="1" sz="6000">
              <a:solidFill>
                <a:srgbClr val="FFFFF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606" name="Shape 606"/>
        <p:cNvGrpSpPr/>
        <p:nvPr/>
      </p:nvGrpSpPr>
      <p:grpSpPr>
        <a:xfrm>
          <a:off x="0" y="0"/>
          <a:ext cx="0" cy="0"/>
          <a:chOff x="0" y="0"/>
          <a:chExt cx="0" cy="0"/>
        </a:xfrm>
      </p:grpSpPr>
      <p:sp>
        <p:nvSpPr>
          <p:cNvPr id="607" name="Google Shape;607;p50"/>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8" name="Google Shape;608;p50"/>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09" name="Google Shape;609;p50"/>
          <p:cNvSpPr txBox="1"/>
          <p:nvPr>
            <p:ph idx="3" type="subTitle"/>
          </p:nvPr>
        </p:nvSpPr>
        <p:spPr>
          <a:xfrm rot="-5400000">
            <a:off x="-283500" y="328925"/>
            <a:ext cx="822900" cy="255900"/>
          </a:xfrm>
          <a:prstGeom prst="rect">
            <a:avLst/>
          </a:prstGeom>
          <a:solidFill>
            <a:srgbClr val="999999"/>
          </a:solidFill>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610" name="Google Shape;610;p50"/>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611" name="Google Shape;611;p50"/>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ASSESSMENT</a:t>
            </a:r>
            <a:endParaRPr>
              <a:solidFill>
                <a:srgbClr val="FDFAF3"/>
              </a:solidFill>
            </a:endParaRPr>
          </a:p>
        </p:txBody>
      </p:sp>
      <p:sp>
        <p:nvSpPr>
          <p:cNvPr id="612" name="Google Shape;612;p50"/>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02</a:t>
            </a:r>
            <a:endParaRPr b="1">
              <a:solidFill>
                <a:srgbClr val="FDFAF3"/>
              </a:solidFill>
            </a:endParaRPr>
          </a:p>
        </p:txBody>
      </p:sp>
      <p:sp>
        <p:nvSpPr>
          <p:cNvPr id="613" name="Google Shape;613;p50"/>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614" name="Google Shape;614;p50"/>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615" name="Google Shape;615;p50"/>
          <p:cNvSpPr/>
          <p:nvPr/>
        </p:nvSpPr>
        <p:spPr>
          <a:xfrm>
            <a:off x="516300" y="-5550"/>
            <a:ext cx="8376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16" name="Google Shape;616;p50"/>
          <p:cNvSpPr txBox="1"/>
          <p:nvPr>
            <p:ph type="title"/>
          </p:nvPr>
        </p:nvSpPr>
        <p:spPr>
          <a:xfrm>
            <a:off x="712000" y="-71425"/>
            <a:ext cx="7951200" cy="1123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100">
                <a:solidFill>
                  <a:srgbClr val="B45F06"/>
                </a:solidFill>
              </a:rPr>
              <a:t>the data</a:t>
            </a:r>
            <a:endParaRPr sz="6100">
              <a:solidFill>
                <a:srgbClr val="B45F06"/>
              </a:solidFill>
            </a:endParaRPr>
          </a:p>
        </p:txBody>
      </p:sp>
      <p:sp>
        <p:nvSpPr>
          <p:cNvPr id="617" name="Google Shape;617;p50"/>
          <p:cNvSpPr txBox="1"/>
          <p:nvPr/>
        </p:nvSpPr>
        <p:spPr>
          <a:xfrm>
            <a:off x="716050" y="868325"/>
            <a:ext cx="79512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Multiple datasets were evaluated. No single dataset fully captured both mental healthcare access and housing stability</a:t>
            </a:r>
            <a:endParaRPr b="1" sz="1900">
              <a:solidFill>
                <a:schemeClr val="lt1"/>
              </a:solidFill>
              <a:latin typeface="Roboto"/>
              <a:ea typeface="Roboto"/>
              <a:cs typeface="Roboto"/>
              <a:sym typeface="Roboto"/>
            </a:endParaRPr>
          </a:p>
          <a:p>
            <a:pPr indent="0" lvl="0" marL="0" rtl="0" algn="l">
              <a:spcBef>
                <a:spcPts val="0"/>
              </a:spcBef>
              <a:spcAft>
                <a:spcPts val="0"/>
              </a:spcAft>
              <a:buNone/>
            </a:pPr>
            <a:r>
              <a:t/>
            </a:r>
            <a:endParaRPr b="1" sz="1900">
              <a:solidFill>
                <a:schemeClr val="lt1"/>
              </a:solidFill>
              <a:latin typeface="Roboto"/>
              <a:ea typeface="Roboto"/>
              <a:cs typeface="Roboto"/>
              <a:sym typeface="Roboto"/>
            </a:endParaRPr>
          </a:p>
        </p:txBody>
      </p:sp>
      <p:graphicFrame>
        <p:nvGraphicFramePr>
          <p:cNvPr id="618" name="Google Shape;618;p50"/>
          <p:cNvGraphicFramePr/>
          <p:nvPr/>
        </p:nvGraphicFramePr>
        <p:xfrm>
          <a:off x="711996" y="1637286"/>
          <a:ext cx="3000000" cy="3000000"/>
        </p:xfrm>
        <a:graphic>
          <a:graphicData uri="http://schemas.openxmlformats.org/drawingml/2006/table">
            <a:tbl>
              <a:tblPr>
                <a:noFill/>
                <a:tableStyleId>{103DC652-8713-4B50-A93F-D350B0A785AA}</a:tableStyleId>
              </a:tblPr>
              <a:tblGrid>
                <a:gridCol w="2845425"/>
                <a:gridCol w="2552850"/>
                <a:gridCol w="2552850"/>
              </a:tblGrid>
              <a:tr h="459100">
                <a:tc>
                  <a:txBody>
                    <a:bodyPr/>
                    <a:lstStyle/>
                    <a:p>
                      <a:pPr indent="0" lvl="0" marL="0" rtl="0" algn="l">
                        <a:spcBef>
                          <a:spcPts val="0"/>
                        </a:spcBef>
                        <a:spcAft>
                          <a:spcPts val="0"/>
                        </a:spcAft>
                        <a:buNone/>
                      </a:pPr>
                      <a:r>
                        <a:rPr b="1" lang="en">
                          <a:solidFill>
                            <a:srgbClr val="FFFFFF"/>
                          </a:solidFill>
                        </a:rPr>
                        <a:t>Dataset</a:t>
                      </a:r>
                      <a:endParaRPr b="1">
                        <a:solidFill>
                          <a:srgbClr val="FFFFFF"/>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Strengths</a:t>
                      </a:r>
                      <a:endParaRPr b="1">
                        <a:solidFill>
                          <a:srgbClr val="FFFFFF"/>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Limitations</a:t>
                      </a:r>
                      <a:endParaRPr b="1">
                        <a:solidFill>
                          <a:srgbClr val="FFFFFF"/>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45F06"/>
                    </a:solidFill>
                  </a:tcPr>
                </a:tc>
              </a:tr>
              <a:tr h="706325">
                <a:tc>
                  <a:txBody>
                    <a:bodyPr/>
                    <a:lstStyle/>
                    <a:p>
                      <a:pPr indent="0" lvl="0" marL="0" rtl="0" algn="l">
                        <a:spcBef>
                          <a:spcPts val="0"/>
                        </a:spcBef>
                        <a:spcAft>
                          <a:spcPts val="0"/>
                        </a:spcAft>
                        <a:buNone/>
                      </a:pPr>
                      <a:r>
                        <a:rPr lang="en"/>
                        <a:t>County Health Rankings 2025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Mental health, housing, and socioeconomic features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Limited mental healthcare data, no homelessness counts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45F06"/>
                      </a:solidFill>
                      <a:prstDash val="solid"/>
                      <a:round/>
                      <a:headEnd len="sm" w="sm" type="none"/>
                      <a:tailEnd len="sm" w="sm" type="none"/>
                    </a:lnB>
                  </a:tcPr>
                </a:tc>
              </a:tr>
              <a:tr h="706325">
                <a:tc>
                  <a:txBody>
                    <a:bodyPr/>
                    <a:lstStyle/>
                    <a:p>
                      <a:pPr indent="0" lvl="0" marL="0" rtl="0" algn="l">
                        <a:spcBef>
                          <a:spcPts val="0"/>
                        </a:spcBef>
                        <a:spcAft>
                          <a:spcPts val="0"/>
                        </a:spcAft>
                        <a:buNone/>
                      </a:pPr>
                      <a:r>
                        <a:rPr lang="en"/>
                        <a:t>HUD Comprehensive Housing </a:t>
                      </a:r>
                      <a:r>
                        <a:rPr lang="en"/>
                        <a:t>Affordability</a:t>
                      </a:r>
                      <a:r>
                        <a:rPr lang="en"/>
                        <a:t> Strategy (CHAS)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Detailed housing affordability data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No mental health variables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r>
              <a:tr h="706325">
                <a:tc>
                  <a:txBody>
                    <a:bodyPr/>
                    <a:lstStyle/>
                    <a:p>
                      <a:pPr indent="0" lvl="0" marL="0" rtl="0" algn="l">
                        <a:spcBef>
                          <a:spcPts val="0"/>
                        </a:spcBef>
                        <a:spcAft>
                          <a:spcPts val="0"/>
                        </a:spcAft>
                        <a:buNone/>
                      </a:pPr>
                      <a:r>
                        <a:rPr lang="en"/>
                        <a:t>American Community Survey</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Housing and demographic data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No mental health variables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r>
              <a:tr h="706325">
                <a:tc>
                  <a:txBody>
                    <a:bodyPr/>
                    <a:lstStyle/>
                    <a:p>
                      <a:pPr indent="0" lvl="0" marL="0" rtl="0" algn="l">
                        <a:spcBef>
                          <a:spcPts val="0"/>
                        </a:spcBef>
                        <a:spcAft>
                          <a:spcPts val="0"/>
                        </a:spcAft>
                        <a:buNone/>
                      </a:pPr>
                      <a:r>
                        <a:rPr lang="en"/>
                        <a:t>HUD Point in Time (PIT) Counts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Homelessness counts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Annual snapshots, limited county level data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622" name="Shape 622"/>
        <p:cNvGrpSpPr/>
        <p:nvPr/>
      </p:nvGrpSpPr>
      <p:grpSpPr>
        <a:xfrm>
          <a:off x="0" y="0"/>
          <a:ext cx="0" cy="0"/>
          <a:chOff x="0" y="0"/>
          <a:chExt cx="0" cy="0"/>
        </a:xfrm>
      </p:grpSpPr>
      <p:sp>
        <p:nvSpPr>
          <p:cNvPr id="623" name="Google Shape;623;p51"/>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24" name="Google Shape;624;p51"/>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25" name="Google Shape;625;p51"/>
          <p:cNvSpPr txBox="1"/>
          <p:nvPr>
            <p:ph idx="3" type="subTitle"/>
          </p:nvPr>
        </p:nvSpPr>
        <p:spPr>
          <a:xfrm rot="-5400000">
            <a:off x="-283500" y="328925"/>
            <a:ext cx="822900" cy="255900"/>
          </a:xfrm>
          <a:prstGeom prst="rect">
            <a:avLst/>
          </a:prstGeom>
          <a:solidFill>
            <a:srgbClr val="999999"/>
          </a:solidFill>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626" name="Google Shape;626;p51"/>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627" name="Google Shape;627;p51"/>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ASSESSMENT</a:t>
            </a:r>
            <a:endParaRPr>
              <a:solidFill>
                <a:srgbClr val="FDFAF3"/>
              </a:solidFill>
            </a:endParaRPr>
          </a:p>
        </p:txBody>
      </p:sp>
      <p:sp>
        <p:nvSpPr>
          <p:cNvPr id="628" name="Google Shape;628;p51"/>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02</a:t>
            </a:r>
            <a:endParaRPr b="1">
              <a:solidFill>
                <a:srgbClr val="FDFAF3"/>
              </a:solidFill>
            </a:endParaRPr>
          </a:p>
        </p:txBody>
      </p:sp>
      <p:sp>
        <p:nvSpPr>
          <p:cNvPr id="629" name="Google Shape;629;p51"/>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630" name="Google Shape;630;p51"/>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631" name="Google Shape;631;p51"/>
          <p:cNvSpPr/>
          <p:nvPr/>
        </p:nvSpPr>
        <p:spPr>
          <a:xfrm>
            <a:off x="516300" y="-5550"/>
            <a:ext cx="8376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32" name="Google Shape;632;p51"/>
          <p:cNvSpPr txBox="1"/>
          <p:nvPr>
            <p:ph type="title"/>
          </p:nvPr>
        </p:nvSpPr>
        <p:spPr>
          <a:xfrm>
            <a:off x="675925" y="114300"/>
            <a:ext cx="82062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rgbClr val="B45F06"/>
                </a:solidFill>
              </a:rPr>
              <a:t>the choice</a:t>
            </a:r>
            <a:endParaRPr sz="6000">
              <a:solidFill>
                <a:srgbClr val="B45F06"/>
              </a:solidFill>
            </a:endParaRPr>
          </a:p>
        </p:txBody>
      </p:sp>
      <p:sp>
        <p:nvSpPr>
          <p:cNvPr id="633" name="Google Shape;633;p51"/>
          <p:cNvSpPr txBox="1"/>
          <p:nvPr/>
        </p:nvSpPr>
        <p:spPr>
          <a:xfrm>
            <a:off x="781198" y="1030650"/>
            <a:ext cx="7881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lt1"/>
                </a:solidFill>
                <a:latin typeface="Roboto"/>
                <a:ea typeface="Roboto"/>
                <a:cs typeface="Roboto"/>
                <a:sym typeface="Roboto"/>
              </a:rPr>
              <a:t>County Health Rankings 2025</a:t>
            </a:r>
            <a:endParaRPr b="1" sz="2500">
              <a:solidFill>
                <a:schemeClr val="lt1"/>
              </a:solidFill>
              <a:latin typeface="Roboto"/>
              <a:ea typeface="Roboto"/>
              <a:cs typeface="Roboto"/>
              <a:sym typeface="Roboto"/>
            </a:endParaRPr>
          </a:p>
        </p:txBody>
      </p:sp>
      <p:grpSp>
        <p:nvGrpSpPr>
          <p:cNvPr id="634" name="Google Shape;634;p51"/>
          <p:cNvGrpSpPr/>
          <p:nvPr/>
        </p:nvGrpSpPr>
        <p:grpSpPr>
          <a:xfrm>
            <a:off x="753817" y="1749740"/>
            <a:ext cx="7641190" cy="3153433"/>
            <a:chOff x="2044650" y="1366494"/>
            <a:chExt cx="5054700" cy="2410513"/>
          </a:xfrm>
        </p:grpSpPr>
        <p:sp>
          <p:nvSpPr>
            <p:cNvPr id="635" name="Google Shape;635;p51"/>
            <p:cNvSpPr/>
            <p:nvPr/>
          </p:nvSpPr>
          <p:spPr>
            <a:xfrm>
              <a:off x="2117450" y="3487956"/>
              <a:ext cx="239400" cy="239400"/>
            </a:xfrm>
            <a:prstGeom prst="teardrop">
              <a:avLst>
                <a:gd fmla="val 100000" name="adj"/>
              </a:avLst>
            </a:prstGeom>
            <a:solidFill>
              <a:srgbClr val="D93125"/>
            </a:solidFill>
            <a:ln>
              <a:noFill/>
            </a:ln>
          </p:spPr>
          <p:txBody>
            <a:bodyPr anchorCtr="0" anchor="ctr" bIns="119600" lIns="119600" spcFirstLastPara="1" rIns="119600" wrap="square" tIns="119600">
              <a:noAutofit/>
            </a:bodyPr>
            <a:lstStyle/>
            <a:p>
              <a:pPr indent="0" lvl="0" marL="0" rtl="0" algn="ctr">
                <a:spcBef>
                  <a:spcPts val="0"/>
                </a:spcBef>
                <a:spcAft>
                  <a:spcPts val="0"/>
                </a:spcAft>
                <a:buNone/>
              </a:pPr>
              <a:r>
                <a:t/>
              </a:r>
              <a:endParaRPr sz="1832">
                <a:latin typeface="Red Hat Display"/>
                <a:ea typeface="Red Hat Display"/>
                <a:cs typeface="Red Hat Display"/>
                <a:sym typeface="Red Hat Display"/>
              </a:endParaRPr>
            </a:p>
          </p:txBody>
        </p:sp>
        <p:sp>
          <p:nvSpPr>
            <p:cNvPr id="636" name="Google Shape;636;p51"/>
            <p:cNvSpPr/>
            <p:nvPr/>
          </p:nvSpPr>
          <p:spPr>
            <a:xfrm>
              <a:off x="2117762" y="2797454"/>
              <a:ext cx="239202" cy="239196"/>
            </a:xfrm>
            <a:custGeom>
              <a:rect b="b" l="l" r="r" t="t"/>
              <a:pathLst>
                <a:path extrusionOk="0" h="90008" w="90010">
                  <a:moveTo>
                    <a:pt x="44145" y="0"/>
                  </a:moveTo>
                  <a:lnTo>
                    <a:pt x="43255" y="59"/>
                  </a:lnTo>
                  <a:lnTo>
                    <a:pt x="42365" y="178"/>
                  </a:lnTo>
                  <a:lnTo>
                    <a:pt x="41534" y="356"/>
                  </a:lnTo>
                  <a:lnTo>
                    <a:pt x="40644" y="534"/>
                  </a:lnTo>
                  <a:lnTo>
                    <a:pt x="39814" y="771"/>
                  </a:lnTo>
                  <a:lnTo>
                    <a:pt x="38983" y="1009"/>
                  </a:lnTo>
                  <a:lnTo>
                    <a:pt x="38152" y="1365"/>
                  </a:lnTo>
                  <a:lnTo>
                    <a:pt x="37322" y="1721"/>
                  </a:lnTo>
                  <a:lnTo>
                    <a:pt x="36491" y="2077"/>
                  </a:lnTo>
                  <a:lnTo>
                    <a:pt x="35720" y="2551"/>
                  </a:lnTo>
                  <a:lnTo>
                    <a:pt x="34948" y="3026"/>
                  </a:lnTo>
                  <a:lnTo>
                    <a:pt x="34177" y="3560"/>
                  </a:lnTo>
                  <a:lnTo>
                    <a:pt x="33465" y="4094"/>
                  </a:lnTo>
                  <a:lnTo>
                    <a:pt x="32753" y="4687"/>
                  </a:lnTo>
                  <a:lnTo>
                    <a:pt x="32041" y="5340"/>
                  </a:lnTo>
                  <a:lnTo>
                    <a:pt x="5400" y="32040"/>
                  </a:lnTo>
                  <a:lnTo>
                    <a:pt x="4748" y="32752"/>
                  </a:lnTo>
                  <a:lnTo>
                    <a:pt x="4095" y="33464"/>
                  </a:lnTo>
                  <a:lnTo>
                    <a:pt x="3561" y="34176"/>
                  </a:lnTo>
                  <a:lnTo>
                    <a:pt x="3027" y="34947"/>
                  </a:lnTo>
                  <a:lnTo>
                    <a:pt x="2552" y="35718"/>
                  </a:lnTo>
                  <a:lnTo>
                    <a:pt x="2137" y="36490"/>
                  </a:lnTo>
                  <a:lnTo>
                    <a:pt x="1722" y="37261"/>
                  </a:lnTo>
                  <a:lnTo>
                    <a:pt x="1366" y="38092"/>
                  </a:lnTo>
                  <a:lnTo>
                    <a:pt x="1069" y="38922"/>
                  </a:lnTo>
                  <a:lnTo>
                    <a:pt x="772" y="39812"/>
                  </a:lnTo>
                  <a:lnTo>
                    <a:pt x="535" y="40643"/>
                  </a:lnTo>
                  <a:lnTo>
                    <a:pt x="357" y="41533"/>
                  </a:lnTo>
                  <a:lnTo>
                    <a:pt x="179" y="42364"/>
                  </a:lnTo>
                  <a:lnTo>
                    <a:pt x="120" y="43254"/>
                  </a:lnTo>
                  <a:lnTo>
                    <a:pt x="60" y="44144"/>
                  </a:lnTo>
                  <a:lnTo>
                    <a:pt x="1" y="45034"/>
                  </a:lnTo>
                  <a:lnTo>
                    <a:pt x="60" y="45864"/>
                  </a:lnTo>
                  <a:lnTo>
                    <a:pt x="120" y="46754"/>
                  </a:lnTo>
                  <a:lnTo>
                    <a:pt x="179" y="47644"/>
                  </a:lnTo>
                  <a:lnTo>
                    <a:pt x="357" y="48534"/>
                  </a:lnTo>
                  <a:lnTo>
                    <a:pt x="535" y="49365"/>
                  </a:lnTo>
                  <a:lnTo>
                    <a:pt x="772" y="50196"/>
                  </a:lnTo>
                  <a:lnTo>
                    <a:pt x="1069" y="51086"/>
                  </a:lnTo>
                  <a:lnTo>
                    <a:pt x="1366" y="51916"/>
                  </a:lnTo>
                  <a:lnTo>
                    <a:pt x="1722" y="52747"/>
                  </a:lnTo>
                  <a:lnTo>
                    <a:pt x="2137" y="53518"/>
                  </a:lnTo>
                  <a:lnTo>
                    <a:pt x="2552" y="54290"/>
                  </a:lnTo>
                  <a:lnTo>
                    <a:pt x="3027" y="55061"/>
                  </a:lnTo>
                  <a:lnTo>
                    <a:pt x="3561" y="55832"/>
                  </a:lnTo>
                  <a:lnTo>
                    <a:pt x="4095" y="56544"/>
                  </a:lnTo>
                  <a:lnTo>
                    <a:pt x="4748" y="57256"/>
                  </a:lnTo>
                  <a:lnTo>
                    <a:pt x="5400" y="57968"/>
                  </a:lnTo>
                  <a:lnTo>
                    <a:pt x="32041" y="84668"/>
                  </a:lnTo>
                  <a:lnTo>
                    <a:pt x="32753" y="85321"/>
                  </a:lnTo>
                  <a:lnTo>
                    <a:pt x="33465" y="85914"/>
                  </a:lnTo>
                  <a:lnTo>
                    <a:pt x="34177" y="86448"/>
                  </a:lnTo>
                  <a:lnTo>
                    <a:pt x="34948" y="86982"/>
                  </a:lnTo>
                  <a:lnTo>
                    <a:pt x="35720" y="87457"/>
                  </a:lnTo>
                  <a:lnTo>
                    <a:pt x="36491" y="87931"/>
                  </a:lnTo>
                  <a:lnTo>
                    <a:pt x="37322" y="88287"/>
                  </a:lnTo>
                  <a:lnTo>
                    <a:pt x="38152" y="88643"/>
                  </a:lnTo>
                  <a:lnTo>
                    <a:pt x="38983" y="88999"/>
                  </a:lnTo>
                  <a:lnTo>
                    <a:pt x="39814" y="89237"/>
                  </a:lnTo>
                  <a:lnTo>
                    <a:pt x="40644" y="89474"/>
                  </a:lnTo>
                  <a:lnTo>
                    <a:pt x="41534" y="89652"/>
                  </a:lnTo>
                  <a:lnTo>
                    <a:pt x="42365" y="89830"/>
                  </a:lnTo>
                  <a:lnTo>
                    <a:pt x="43255" y="89949"/>
                  </a:lnTo>
                  <a:lnTo>
                    <a:pt x="44145" y="90008"/>
                  </a:lnTo>
                  <a:lnTo>
                    <a:pt x="45925" y="90008"/>
                  </a:lnTo>
                  <a:lnTo>
                    <a:pt x="46756" y="89949"/>
                  </a:lnTo>
                  <a:lnTo>
                    <a:pt x="47646" y="89830"/>
                  </a:lnTo>
                  <a:lnTo>
                    <a:pt x="48536" y="89652"/>
                  </a:lnTo>
                  <a:lnTo>
                    <a:pt x="49366" y="89474"/>
                  </a:lnTo>
                  <a:lnTo>
                    <a:pt x="50256" y="89237"/>
                  </a:lnTo>
                  <a:lnTo>
                    <a:pt x="51087" y="88999"/>
                  </a:lnTo>
                  <a:lnTo>
                    <a:pt x="51918" y="88643"/>
                  </a:lnTo>
                  <a:lnTo>
                    <a:pt x="52748" y="88287"/>
                  </a:lnTo>
                  <a:lnTo>
                    <a:pt x="53520" y="87931"/>
                  </a:lnTo>
                  <a:lnTo>
                    <a:pt x="54350" y="87457"/>
                  </a:lnTo>
                  <a:lnTo>
                    <a:pt x="55122" y="86982"/>
                  </a:lnTo>
                  <a:lnTo>
                    <a:pt x="55834" y="86448"/>
                  </a:lnTo>
                  <a:lnTo>
                    <a:pt x="56605" y="85914"/>
                  </a:lnTo>
                  <a:lnTo>
                    <a:pt x="57317" y="85321"/>
                  </a:lnTo>
                  <a:lnTo>
                    <a:pt x="57970" y="84668"/>
                  </a:lnTo>
                  <a:lnTo>
                    <a:pt x="84670" y="57968"/>
                  </a:lnTo>
                  <a:lnTo>
                    <a:pt x="85322" y="57256"/>
                  </a:lnTo>
                  <a:lnTo>
                    <a:pt x="85916" y="56544"/>
                  </a:lnTo>
                  <a:lnTo>
                    <a:pt x="86509" y="55832"/>
                  </a:lnTo>
                  <a:lnTo>
                    <a:pt x="87043" y="55061"/>
                  </a:lnTo>
                  <a:lnTo>
                    <a:pt x="87518" y="54290"/>
                  </a:lnTo>
                  <a:lnTo>
                    <a:pt x="87933" y="53518"/>
                  </a:lnTo>
                  <a:lnTo>
                    <a:pt x="88348" y="52747"/>
                  </a:lnTo>
                  <a:lnTo>
                    <a:pt x="88704" y="51916"/>
                  </a:lnTo>
                  <a:lnTo>
                    <a:pt x="89001" y="51086"/>
                  </a:lnTo>
                  <a:lnTo>
                    <a:pt x="89298" y="50196"/>
                  </a:lnTo>
                  <a:lnTo>
                    <a:pt x="89535" y="49365"/>
                  </a:lnTo>
                  <a:lnTo>
                    <a:pt x="89713" y="48534"/>
                  </a:lnTo>
                  <a:lnTo>
                    <a:pt x="89832" y="47644"/>
                  </a:lnTo>
                  <a:lnTo>
                    <a:pt x="89950" y="46754"/>
                  </a:lnTo>
                  <a:lnTo>
                    <a:pt x="90010" y="45864"/>
                  </a:lnTo>
                  <a:lnTo>
                    <a:pt x="90010" y="45034"/>
                  </a:lnTo>
                  <a:lnTo>
                    <a:pt x="90010" y="44144"/>
                  </a:lnTo>
                  <a:lnTo>
                    <a:pt x="89950" y="43254"/>
                  </a:lnTo>
                  <a:lnTo>
                    <a:pt x="89832" y="42364"/>
                  </a:lnTo>
                  <a:lnTo>
                    <a:pt x="89713" y="41533"/>
                  </a:lnTo>
                  <a:lnTo>
                    <a:pt x="89535" y="40643"/>
                  </a:lnTo>
                  <a:lnTo>
                    <a:pt x="89298" y="39812"/>
                  </a:lnTo>
                  <a:lnTo>
                    <a:pt x="89001" y="38922"/>
                  </a:lnTo>
                  <a:lnTo>
                    <a:pt x="88704" y="38092"/>
                  </a:lnTo>
                  <a:lnTo>
                    <a:pt x="88348" y="37261"/>
                  </a:lnTo>
                  <a:lnTo>
                    <a:pt x="87933" y="36490"/>
                  </a:lnTo>
                  <a:lnTo>
                    <a:pt x="87518" y="35718"/>
                  </a:lnTo>
                  <a:lnTo>
                    <a:pt x="87043" y="34947"/>
                  </a:lnTo>
                  <a:lnTo>
                    <a:pt x="86509" y="34176"/>
                  </a:lnTo>
                  <a:lnTo>
                    <a:pt x="85916" y="33464"/>
                  </a:lnTo>
                  <a:lnTo>
                    <a:pt x="85322" y="32752"/>
                  </a:lnTo>
                  <a:lnTo>
                    <a:pt x="84670" y="32040"/>
                  </a:lnTo>
                  <a:lnTo>
                    <a:pt x="57970" y="5340"/>
                  </a:lnTo>
                  <a:lnTo>
                    <a:pt x="57317" y="4687"/>
                  </a:lnTo>
                  <a:lnTo>
                    <a:pt x="56605" y="4094"/>
                  </a:lnTo>
                  <a:lnTo>
                    <a:pt x="55834" y="3560"/>
                  </a:lnTo>
                  <a:lnTo>
                    <a:pt x="55122" y="3026"/>
                  </a:lnTo>
                  <a:lnTo>
                    <a:pt x="54350" y="2551"/>
                  </a:lnTo>
                  <a:lnTo>
                    <a:pt x="53520" y="2077"/>
                  </a:lnTo>
                  <a:lnTo>
                    <a:pt x="52748" y="1721"/>
                  </a:lnTo>
                  <a:lnTo>
                    <a:pt x="51918" y="1365"/>
                  </a:lnTo>
                  <a:lnTo>
                    <a:pt x="51087" y="1009"/>
                  </a:lnTo>
                  <a:lnTo>
                    <a:pt x="50256" y="771"/>
                  </a:lnTo>
                  <a:lnTo>
                    <a:pt x="49366" y="534"/>
                  </a:lnTo>
                  <a:lnTo>
                    <a:pt x="48536" y="356"/>
                  </a:lnTo>
                  <a:lnTo>
                    <a:pt x="47646" y="178"/>
                  </a:lnTo>
                  <a:lnTo>
                    <a:pt x="46756" y="59"/>
                  </a:lnTo>
                  <a:lnTo>
                    <a:pt x="45925" y="0"/>
                  </a:lnTo>
                  <a:close/>
                </a:path>
              </a:pathLst>
            </a:custGeom>
            <a:solidFill>
              <a:srgbClr val="FD7754"/>
            </a:solidFill>
            <a:ln>
              <a:noFill/>
            </a:ln>
          </p:spPr>
          <p:txBody>
            <a:bodyPr anchorCtr="0" anchor="ctr" bIns="119600" lIns="119600" spcFirstLastPara="1" rIns="119600" wrap="square" tIns="119600">
              <a:noAutofit/>
            </a:bodyPr>
            <a:lstStyle/>
            <a:p>
              <a:pPr indent="0" lvl="0" marL="0" rtl="0" algn="l">
                <a:spcBef>
                  <a:spcPts val="0"/>
                </a:spcBef>
                <a:spcAft>
                  <a:spcPts val="0"/>
                </a:spcAft>
                <a:buNone/>
              </a:pPr>
              <a:r>
                <a:t/>
              </a:r>
              <a:endParaRPr sz="1832">
                <a:latin typeface="Red Hat Display"/>
                <a:ea typeface="Red Hat Display"/>
                <a:cs typeface="Red Hat Display"/>
                <a:sym typeface="Red Hat Display"/>
              </a:endParaRPr>
            </a:p>
          </p:txBody>
        </p:sp>
        <p:sp>
          <p:nvSpPr>
            <p:cNvPr id="637" name="Google Shape;637;p51"/>
            <p:cNvSpPr/>
            <p:nvPr/>
          </p:nvSpPr>
          <p:spPr>
            <a:xfrm>
              <a:off x="2117749" y="2106877"/>
              <a:ext cx="239139" cy="239142"/>
            </a:xfrm>
            <a:custGeom>
              <a:rect b="b" l="l" r="r" t="t"/>
              <a:pathLst>
                <a:path extrusionOk="0" h="82534" w="82533">
                  <a:moveTo>
                    <a:pt x="41237" y="1"/>
                  </a:moveTo>
                  <a:lnTo>
                    <a:pt x="40525" y="60"/>
                  </a:lnTo>
                  <a:lnTo>
                    <a:pt x="39872" y="179"/>
                  </a:lnTo>
                  <a:lnTo>
                    <a:pt x="39160" y="357"/>
                  </a:lnTo>
                  <a:lnTo>
                    <a:pt x="38508" y="594"/>
                  </a:lnTo>
                  <a:lnTo>
                    <a:pt x="32337" y="3502"/>
                  </a:lnTo>
                  <a:lnTo>
                    <a:pt x="31803" y="3739"/>
                  </a:lnTo>
                  <a:lnTo>
                    <a:pt x="31269" y="3917"/>
                  </a:lnTo>
                  <a:lnTo>
                    <a:pt x="30676" y="4036"/>
                  </a:lnTo>
                  <a:lnTo>
                    <a:pt x="30142" y="4095"/>
                  </a:lnTo>
                  <a:lnTo>
                    <a:pt x="23318" y="4688"/>
                  </a:lnTo>
                  <a:lnTo>
                    <a:pt x="22606" y="4807"/>
                  </a:lnTo>
                  <a:lnTo>
                    <a:pt x="21894" y="4985"/>
                  </a:lnTo>
                  <a:lnTo>
                    <a:pt x="21242" y="5222"/>
                  </a:lnTo>
                  <a:lnTo>
                    <a:pt x="20648" y="5519"/>
                  </a:lnTo>
                  <a:lnTo>
                    <a:pt x="20055" y="5934"/>
                  </a:lnTo>
                  <a:lnTo>
                    <a:pt x="19521" y="6350"/>
                  </a:lnTo>
                  <a:lnTo>
                    <a:pt x="18987" y="6884"/>
                  </a:lnTo>
                  <a:lnTo>
                    <a:pt x="18572" y="7418"/>
                  </a:lnTo>
                  <a:lnTo>
                    <a:pt x="14656" y="13054"/>
                  </a:lnTo>
                  <a:lnTo>
                    <a:pt x="14300" y="13529"/>
                  </a:lnTo>
                  <a:lnTo>
                    <a:pt x="13884" y="13944"/>
                  </a:lnTo>
                  <a:lnTo>
                    <a:pt x="13469" y="14300"/>
                  </a:lnTo>
                  <a:lnTo>
                    <a:pt x="13054" y="14656"/>
                  </a:lnTo>
                  <a:lnTo>
                    <a:pt x="7417" y="18572"/>
                  </a:lnTo>
                  <a:lnTo>
                    <a:pt x="6883" y="18988"/>
                  </a:lnTo>
                  <a:lnTo>
                    <a:pt x="6349" y="19521"/>
                  </a:lnTo>
                  <a:lnTo>
                    <a:pt x="5933" y="20055"/>
                  </a:lnTo>
                  <a:lnTo>
                    <a:pt x="5518" y="20649"/>
                  </a:lnTo>
                  <a:lnTo>
                    <a:pt x="5221" y="21242"/>
                  </a:lnTo>
                  <a:lnTo>
                    <a:pt x="4984" y="21954"/>
                  </a:lnTo>
                  <a:lnTo>
                    <a:pt x="4806" y="22607"/>
                  </a:lnTo>
                  <a:lnTo>
                    <a:pt x="4687" y="23319"/>
                  </a:lnTo>
                  <a:lnTo>
                    <a:pt x="4094" y="30142"/>
                  </a:lnTo>
                  <a:lnTo>
                    <a:pt x="4035" y="30735"/>
                  </a:lnTo>
                  <a:lnTo>
                    <a:pt x="3916" y="31269"/>
                  </a:lnTo>
                  <a:lnTo>
                    <a:pt x="3738" y="31803"/>
                  </a:lnTo>
                  <a:lnTo>
                    <a:pt x="3501" y="32337"/>
                  </a:lnTo>
                  <a:lnTo>
                    <a:pt x="593" y="38508"/>
                  </a:lnTo>
                  <a:lnTo>
                    <a:pt x="356" y="39220"/>
                  </a:lnTo>
                  <a:lnTo>
                    <a:pt x="178" y="39873"/>
                  </a:lnTo>
                  <a:lnTo>
                    <a:pt x="59" y="40585"/>
                  </a:lnTo>
                  <a:lnTo>
                    <a:pt x="0" y="41297"/>
                  </a:lnTo>
                  <a:lnTo>
                    <a:pt x="59" y="41949"/>
                  </a:lnTo>
                  <a:lnTo>
                    <a:pt x="178" y="42661"/>
                  </a:lnTo>
                  <a:lnTo>
                    <a:pt x="356" y="43373"/>
                  </a:lnTo>
                  <a:lnTo>
                    <a:pt x="593" y="44026"/>
                  </a:lnTo>
                  <a:lnTo>
                    <a:pt x="3501" y="50197"/>
                  </a:lnTo>
                  <a:lnTo>
                    <a:pt x="3738" y="50731"/>
                  </a:lnTo>
                  <a:lnTo>
                    <a:pt x="3916" y="51265"/>
                  </a:lnTo>
                  <a:lnTo>
                    <a:pt x="4035" y="51858"/>
                  </a:lnTo>
                  <a:lnTo>
                    <a:pt x="4094" y="52392"/>
                  </a:lnTo>
                  <a:lnTo>
                    <a:pt x="4687" y="59215"/>
                  </a:lnTo>
                  <a:lnTo>
                    <a:pt x="4806" y="59927"/>
                  </a:lnTo>
                  <a:lnTo>
                    <a:pt x="4984" y="60639"/>
                  </a:lnTo>
                  <a:lnTo>
                    <a:pt x="5221" y="61292"/>
                  </a:lnTo>
                  <a:lnTo>
                    <a:pt x="5518" y="61885"/>
                  </a:lnTo>
                  <a:lnTo>
                    <a:pt x="5933" y="62479"/>
                  </a:lnTo>
                  <a:lnTo>
                    <a:pt x="6349" y="63013"/>
                  </a:lnTo>
                  <a:lnTo>
                    <a:pt x="6883" y="63547"/>
                  </a:lnTo>
                  <a:lnTo>
                    <a:pt x="7417" y="63962"/>
                  </a:lnTo>
                  <a:lnTo>
                    <a:pt x="13054" y="67878"/>
                  </a:lnTo>
                  <a:lnTo>
                    <a:pt x="13469" y="68234"/>
                  </a:lnTo>
                  <a:lnTo>
                    <a:pt x="13884" y="68590"/>
                  </a:lnTo>
                  <a:lnTo>
                    <a:pt x="14300" y="69005"/>
                  </a:lnTo>
                  <a:lnTo>
                    <a:pt x="14656" y="69480"/>
                  </a:lnTo>
                  <a:lnTo>
                    <a:pt x="18572" y="75116"/>
                  </a:lnTo>
                  <a:lnTo>
                    <a:pt x="18987" y="75650"/>
                  </a:lnTo>
                  <a:lnTo>
                    <a:pt x="19521" y="76184"/>
                  </a:lnTo>
                  <a:lnTo>
                    <a:pt x="20055" y="76600"/>
                  </a:lnTo>
                  <a:lnTo>
                    <a:pt x="20648" y="77015"/>
                  </a:lnTo>
                  <a:lnTo>
                    <a:pt x="21242" y="77312"/>
                  </a:lnTo>
                  <a:lnTo>
                    <a:pt x="21894" y="77549"/>
                  </a:lnTo>
                  <a:lnTo>
                    <a:pt x="22606" y="77727"/>
                  </a:lnTo>
                  <a:lnTo>
                    <a:pt x="23318" y="77846"/>
                  </a:lnTo>
                  <a:lnTo>
                    <a:pt x="30142" y="78439"/>
                  </a:lnTo>
                  <a:lnTo>
                    <a:pt x="30676" y="78498"/>
                  </a:lnTo>
                  <a:lnTo>
                    <a:pt x="31269" y="78617"/>
                  </a:lnTo>
                  <a:lnTo>
                    <a:pt x="31803" y="78795"/>
                  </a:lnTo>
                  <a:lnTo>
                    <a:pt x="32337" y="79032"/>
                  </a:lnTo>
                  <a:lnTo>
                    <a:pt x="38508" y="81940"/>
                  </a:lnTo>
                  <a:lnTo>
                    <a:pt x="39160" y="82177"/>
                  </a:lnTo>
                  <a:lnTo>
                    <a:pt x="39872" y="82355"/>
                  </a:lnTo>
                  <a:lnTo>
                    <a:pt x="40525" y="82474"/>
                  </a:lnTo>
                  <a:lnTo>
                    <a:pt x="41237" y="82533"/>
                  </a:lnTo>
                  <a:lnTo>
                    <a:pt x="41949" y="82474"/>
                  </a:lnTo>
                  <a:lnTo>
                    <a:pt x="42661" y="82355"/>
                  </a:lnTo>
                  <a:lnTo>
                    <a:pt x="43314" y="82177"/>
                  </a:lnTo>
                  <a:lnTo>
                    <a:pt x="43966" y="81940"/>
                  </a:lnTo>
                  <a:lnTo>
                    <a:pt x="50196" y="79032"/>
                  </a:lnTo>
                  <a:lnTo>
                    <a:pt x="50730" y="78795"/>
                  </a:lnTo>
                  <a:lnTo>
                    <a:pt x="51264" y="78617"/>
                  </a:lnTo>
                  <a:lnTo>
                    <a:pt x="51798" y="78498"/>
                  </a:lnTo>
                  <a:lnTo>
                    <a:pt x="52392" y="78439"/>
                  </a:lnTo>
                  <a:lnTo>
                    <a:pt x="59215" y="77846"/>
                  </a:lnTo>
                  <a:lnTo>
                    <a:pt x="59927" y="77727"/>
                  </a:lnTo>
                  <a:lnTo>
                    <a:pt x="60580" y="77549"/>
                  </a:lnTo>
                  <a:lnTo>
                    <a:pt x="61232" y="77312"/>
                  </a:lnTo>
                  <a:lnTo>
                    <a:pt x="61885" y="77015"/>
                  </a:lnTo>
                  <a:lnTo>
                    <a:pt x="62478" y="76600"/>
                  </a:lnTo>
                  <a:lnTo>
                    <a:pt x="63012" y="76184"/>
                  </a:lnTo>
                  <a:lnTo>
                    <a:pt x="63487" y="75650"/>
                  </a:lnTo>
                  <a:lnTo>
                    <a:pt x="63962" y="75116"/>
                  </a:lnTo>
                  <a:lnTo>
                    <a:pt x="67878" y="69480"/>
                  </a:lnTo>
                  <a:lnTo>
                    <a:pt x="68234" y="69005"/>
                  </a:lnTo>
                  <a:lnTo>
                    <a:pt x="68590" y="68590"/>
                  </a:lnTo>
                  <a:lnTo>
                    <a:pt x="69005" y="68234"/>
                  </a:lnTo>
                  <a:lnTo>
                    <a:pt x="69480" y="67878"/>
                  </a:lnTo>
                  <a:lnTo>
                    <a:pt x="75057" y="63962"/>
                  </a:lnTo>
                  <a:lnTo>
                    <a:pt x="75650" y="63547"/>
                  </a:lnTo>
                  <a:lnTo>
                    <a:pt x="76125" y="63013"/>
                  </a:lnTo>
                  <a:lnTo>
                    <a:pt x="76600" y="62479"/>
                  </a:lnTo>
                  <a:lnTo>
                    <a:pt x="76956" y="61885"/>
                  </a:lnTo>
                  <a:lnTo>
                    <a:pt x="77312" y="61292"/>
                  </a:lnTo>
                  <a:lnTo>
                    <a:pt x="77549" y="60639"/>
                  </a:lnTo>
                  <a:lnTo>
                    <a:pt x="77727" y="59927"/>
                  </a:lnTo>
                  <a:lnTo>
                    <a:pt x="77846" y="59215"/>
                  </a:lnTo>
                  <a:lnTo>
                    <a:pt x="78439" y="52392"/>
                  </a:lnTo>
                  <a:lnTo>
                    <a:pt x="78498" y="51858"/>
                  </a:lnTo>
                  <a:lnTo>
                    <a:pt x="78617" y="51265"/>
                  </a:lnTo>
                  <a:lnTo>
                    <a:pt x="78795" y="50731"/>
                  </a:lnTo>
                  <a:lnTo>
                    <a:pt x="78973" y="50197"/>
                  </a:lnTo>
                  <a:lnTo>
                    <a:pt x="81880" y="44026"/>
                  </a:lnTo>
                  <a:lnTo>
                    <a:pt x="82177" y="43373"/>
                  </a:lnTo>
                  <a:lnTo>
                    <a:pt x="82355" y="42661"/>
                  </a:lnTo>
                  <a:lnTo>
                    <a:pt x="82474" y="41949"/>
                  </a:lnTo>
                  <a:lnTo>
                    <a:pt x="82533" y="41297"/>
                  </a:lnTo>
                  <a:lnTo>
                    <a:pt x="82474" y="40585"/>
                  </a:lnTo>
                  <a:lnTo>
                    <a:pt x="82355" y="39873"/>
                  </a:lnTo>
                  <a:lnTo>
                    <a:pt x="82177" y="39220"/>
                  </a:lnTo>
                  <a:lnTo>
                    <a:pt x="81880" y="38508"/>
                  </a:lnTo>
                  <a:lnTo>
                    <a:pt x="78973" y="32337"/>
                  </a:lnTo>
                  <a:lnTo>
                    <a:pt x="78795" y="31803"/>
                  </a:lnTo>
                  <a:lnTo>
                    <a:pt x="78617" y="31269"/>
                  </a:lnTo>
                  <a:lnTo>
                    <a:pt x="78498" y="30735"/>
                  </a:lnTo>
                  <a:lnTo>
                    <a:pt x="78439" y="30142"/>
                  </a:lnTo>
                  <a:lnTo>
                    <a:pt x="77846" y="23319"/>
                  </a:lnTo>
                  <a:lnTo>
                    <a:pt x="77727" y="22607"/>
                  </a:lnTo>
                  <a:lnTo>
                    <a:pt x="77549" y="21954"/>
                  </a:lnTo>
                  <a:lnTo>
                    <a:pt x="77312" y="21242"/>
                  </a:lnTo>
                  <a:lnTo>
                    <a:pt x="76956" y="20649"/>
                  </a:lnTo>
                  <a:lnTo>
                    <a:pt x="76600" y="20055"/>
                  </a:lnTo>
                  <a:lnTo>
                    <a:pt x="76125" y="19521"/>
                  </a:lnTo>
                  <a:lnTo>
                    <a:pt x="75650" y="18988"/>
                  </a:lnTo>
                  <a:lnTo>
                    <a:pt x="75057" y="18572"/>
                  </a:lnTo>
                  <a:lnTo>
                    <a:pt x="69480" y="14656"/>
                  </a:lnTo>
                  <a:lnTo>
                    <a:pt x="69005" y="14300"/>
                  </a:lnTo>
                  <a:lnTo>
                    <a:pt x="68590" y="13944"/>
                  </a:lnTo>
                  <a:lnTo>
                    <a:pt x="68234" y="13529"/>
                  </a:lnTo>
                  <a:lnTo>
                    <a:pt x="67878" y="13054"/>
                  </a:lnTo>
                  <a:lnTo>
                    <a:pt x="63962" y="7418"/>
                  </a:lnTo>
                  <a:lnTo>
                    <a:pt x="63487" y="6884"/>
                  </a:lnTo>
                  <a:lnTo>
                    <a:pt x="63012" y="6350"/>
                  </a:lnTo>
                  <a:lnTo>
                    <a:pt x="62478" y="5934"/>
                  </a:lnTo>
                  <a:lnTo>
                    <a:pt x="61885" y="5519"/>
                  </a:lnTo>
                  <a:lnTo>
                    <a:pt x="61232" y="5222"/>
                  </a:lnTo>
                  <a:lnTo>
                    <a:pt x="60580" y="4985"/>
                  </a:lnTo>
                  <a:lnTo>
                    <a:pt x="59927" y="4807"/>
                  </a:lnTo>
                  <a:lnTo>
                    <a:pt x="59215" y="4688"/>
                  </a:lnTo>
                  <a:lnTo>
                    <a:pt x="52392" y="4095"/>
                  </a:lnTo>
                  <a:lnTo>
                    <a:pt x="51798" y="4036"/>
                  </a:lnTo>
                  <a:lnTo>
                    <a:pt x="51264" y="3917"/>
                  </a:lnTo>
                  <a:lnTo>
                    <a:pt x="50730" y="3739"/>
                  </a:lnTo>
                  <a:lnTo>
                    <a:pt x="50196" y="3502"/>
                  </a:lnTo>
                  <a:lnTo>
                    <a:pt x="43966" y="594"/>
                  </a:lnTo>
                  <a:lnTo>
                    <a:pt x="43314" y="357"/>
                  </a:lnTo>
                  <a:lnTo>
                    <a:pt x="42661" y="179"/>
                  </a:lnTo>
                  <a:lnTo>
                    <a:pt x="41949" y="60"/>
                  </a:lnTo>
                  <a:lnTo>
                    <a:pt x="41237" y="1"/>
                  </a:lnTo>
                  <a:close/>
                </a:path>
              </a:pathLst>
            </a:custGeom>
            <a:solidFill>
              <a:srgbClr val="73250B"/>
            </a:solidFill>
            <a:ln>
              <a:noFill/>
            </a:ln>
          </p:spPr>
          <p:txBody>
            <a:bodyPr anchorCtr="0" anchor="ctr" bIns="119600" lIns="119600" spcFirstLastPara="1" rIns="119600" wrap="square" tIns="119600">
              <a:noAutofit/>
            </a:bodyPr>
            <a:lstStyle/>
            <a:p>
              <a:pPr indent="0" lvl="0" marL="0" rtl="0" algn="l">
                <a:spcBef>
                  <a:spcPts val="0"/>
                </a:spcBef>
                <a:spcAft>
                  <a:spcPts val="0"/>
                </a:spcAft>
                <a:buNone/>
              </a:pPr>
              <a:r>
                <a:t/>
              </a:r>
              <a:endParaRPr sz="1832">
                <a:latin typeface="Red Hat Display"/>
                <a:ea typeface="Red Hat Display"/>
                <a:cs typeface="Red Hat Display"/>
                <a:sym typeface="Red Hat Display"/>
              </a:endParaRPr>
            </a:p>
          </p:txBody>
        </p:sp>
        <p:sp>
          <p:nvSpPr>
            <p:cNvPr id="638" name="Google Shape;638;p51"/>
            <p:cNvSpPr txBox="1"/>
            <p:nvPr/>
          </p:nvSpPr>
          <p:spPr>
            <a:xfrm>
              <a:off x="2530100" y="1366494"/>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County-level data for all 33 New Mexico counties</a:t>
              </a:r>
              <a:endParaRPr sz="2093">
                <a:solidFill>
                  <a:srgbClr val="202124"/>
                </a:solidFill>
                <a:latin typeface="Red Hat Display SemiBold"/>
                <a:ea typeface="Red Hat Display SemiBold"/>
                <a:cs typeface="Red Hat Display SemiBold"/>
                <a:sym typeface="Red Hat Display SemiBold"/>
              </a:endParaRPr>
            </a:p>
          </p:txBody>
        </p:sp>
        <p:cxnSp>
          <p:nvCxnSpPr>
            <p:cNvPr id="639" name="Google Shape;639;p51"/>
            <p:cNvCxnSpPr/>
            <p:nvPr/>
          </p:nvCxnSpPr>
          <p:spPr>
            <a:xfrm>
              <a:off x="2044650" y="1894196"/>
              <a:ext cx="5054700" cy="0"/>
            </a:xfrm>
            <a:prstGeom prst="straightConnector1">
              <a:avLst/>
            </a:prstGeom>
            <a:noFill/>
            <a:ln cap="flat" cmpd="sng" w="12475">
              <a:solidFill>
                <a:srgbClr val="CCCCCC"/>
              </a:solidFill>
              <a:prstDash val="solid"/>
              <a:round/>
              <a:headEnd len="med" w="med" type="none"/>
              <a:tailEnd len="med" w="med" type="none"/>
            </a:ln>
          </p:spPr>
        </p:cxnSp>
        <p:sp>
          <p:nvSpPr>
            <p:cNvPr id="640" name="Google Shape;640;p51"/>
            <p:cNvSpPr txBox="1"/>
            <p:nvPr/>
          </p:nvSpPr>
          <p:spPr>
            <a:xfrm>
              <a:off x="2530100" y="2057098"/>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Included both mental health and housing indicators</a:t>
              </a:r>
              <a:endParaRPr sz="2093">
                <a:solidFill>
                  <a:srgbClr val="202124"/>
                </a:solidFill>
                <a:latin typeface="Red Hat Display SemiBold"/>
                <a:ea typeface="Red Hat Display SemiBold"/>
                <a:cs typeface="Red Hat Display SemiBold"/>
                <a:sym typeface="Red Hat Display SemiBold"/>
              </a:endParaRPr>
            </a:p>
          </p:txBody>
        </p:sp>
        <p:cxnSp>
          <p:nvCxnSpPr>
            <p:cNvPr id="641" name="Google Shape;641;p51"/>
            <p:cNvCxnSpPr/>
            <p:nvPr/>
          </p:nvCxnSpPr>
          <p:spPr>
            <a:xfrm>
              <a:off x="2044650" y="2584800"/>
              <a:ext cx="5054700" cy="0"/>
            </a:xfrm>
            <a:prstGeom prst="straightConnector1">
              <a:avLst/>
            </a:prstGeom>
            <a:noFill/>
            <a:ln cap="flat" cmpd="sng" w="12475">
              <a:solidFill>
                <a:srgbClr val="CCCCCC"/>
              </a:solidFill>
              <a:prstDash val="solid"/>
              <a:round/>
              <a:headEnd len="med" w="med" type="none"/>
              <a:tailEnd len="med" w="med" type="none"/>
            </a:ln>
          </p:spPr>
        </p:cxnSp>
        <p:sp>
          <p:nvSpPr>
            <p:cNvPr id="642" name="Google Shape;642;p51"/>
            <p:cNvSpPr txBox="1"/>
            <p:nvPr/>
          </p:nvSpPr>
          <p:spPr>
            <a:xfrm>
              <a:off x="2530100" y="2747702"/>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Did not require complex preprocessing or combined/engineered features</a:t>
              </a:r>
              <a:endParaRPr sz="2093">
                <a:solidFill>
                  <a:srgbClr val="202124"/>
                </a:solidFill>
                <a:latin typeface="Red Hat Display SemiBold"/>
                <a:ea typeface="Red Hat Display SemiBold"/>
                <a:cs typeface="Red Hat Display SemiBold"/>
                <a:sym typeface="Red Hat Display SemiBold"/>
              </a:endParaRPr>
            </a:p>
          </p:txBody>
        </p:sp>
        <p:cxnSp>
          <p:nvCxnSpPr>
            <p:cNvPr id="643" name="Google Shape;643;p51"/>
            <p:cNvCxnSpPr/>
            <p:nvPr/>
          </p:nvCxnSpPr>
          <p:spPr>
            <a:xfrm>
              <a:off x="2044650" y="3275404"/>
              <a:ext cx="5054700" cy="0"/>
            </a:xfrm>
            <a:prstGeom prst="straightConnector1">
              <a:avLst/>
            </a:prstGeom>
            <a:noFill/>
            <a:ln cap="flat" cmpd="sng" w="12475">
              <a:solidFill>
                <a:srgbClr val="CCCCCC"/>
              </a:solidFill>
              <a:prstDash val="solid"/>
              <a:round/>
              <a:headEnd len="med" w="med" type="none"/>
              <a:tailEnd len="med" w="med" type="none"/>
            </a:ln>
          </p:spPr>
        </p:cxnSp>
        <p:sp>
          <p:nvSpPr>
            <p:cNvPr id="644" name="Google Shape;644;p51"/>
            <p:cNvSpPr txBox="1"/>
            <p:nvPr/>
          </p:nvSpPr>
          <p:spPr>
            <a:xfrm>
              <a:off x="2530100" y="3438306"/>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Publicly available and reproducible</a:t>
              </a:r>
              <a:endParaRPr sz="2093">
                <a:solidFill>
                  <a:srgbClr val="202124"/>
                </a:solidFill>
                <a:latin typeface="Red Hat Display SemiBold"/>
                <a:ea typeface="Red Hat Display SemiBold"/>
                <a:cs typeface="Red Hat Display SemiBold"/>
                <a:sym typeface="Red Hat Display SemiBold"/>
              </a:endParaRPr>
            </a:p>
          </p:txBody>
        </p:sp>
        <p:sp>
          <p:nvSpPr>
            <p:cNvPr id="645" name="Google Shape;645;p51"/>
            <p:cNvSpPr/>
            <p:nvPr/>
          </p:nvSpPr>
          <p:spPr>
            <a:xfrm rot="-2985087">
              <a:off x="2112969" y="1452314"/>
              <a:ext cx="248412" cy="167059"/>
            </a:xfrm>
            <a:prstGeom prst="roundRect">
              <a:avLst>
                <a:gd fmla="val 50000" name="adj"/>
              </a:avLst>
            </a:prstGeom>
            <a:solidFill>
              <a:srgbClr val="FE7A92"/>
            </a:solidFill>
            <a:ln>
              <a:noFill/>
            </a:ln>
          </p:spPr>
          <p:txBody>
            <a:bodyPr anchorCtr="0" anchor="ctr" bIns="119600" lIns="119600" spcFirstLastPara="1" rIns="119600" wrap="square" tIns="119600">
              <a:noAutofit/>
            </a:bodyPr>
            <a:lstStyle/>
            <a:p>
              <a:pPr indent="0" lvl="0" marL="0" rtl="0" algn="ctr">
                <a:spcBef>
                  <a:spcPts val="0"/>
                </a:spcBef>
                <a:spcAft>
                  <a:spcPts val="0"/>
                </a:spcAft>
                <a:buNone/>
              </a:pPr>
              <a:r>
                <a:t/>
              </a:r>
              <a:endParaRPr sz="1832">
                <a:latin typeface="Red Hat Display"/>
                <a:ea typeface="Red Hat Display"/>
                <a:cs typeface="Red Hat Display"/>
                <a:sym typeface="Red Hat Display"/>
              </a:endParaRPr>
            </a:p>
          </p:txBody>
        </p:sp>
      </p:grpSp>
      <p:sp>
        <p:nvSpPr>
          <p:cNvPr id="646" name="Google Shape;646;p51"/>
          <p:cNvSpPr txBox="1"/>
          <p:nvPr/>
        </p:nvSpPr>
        <p:spPr>
          <a:xfrm>
            <a:off x="4382625" y="1875700"/>
            <a:ext cx="4797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lt1"/>
              </a:solidFill>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650" name="Shape 650"/>
        <p:cNvGrpSpPr/>
        <p:nvPr/>
      </p:nvGrpSpPr>
      <p:grpSpPr>
        <a:xfrm>
          <a:off x="0" y="0"/>
          <a:ext cx="0" cy="0"/>
          <a:chOff x="0" y="0"/>
          <a:chExt cx="0" cy="0"/>
        </a:xfrm>
      </p:grpSpPr>
      <p:sp>
        <p:nvSpPr>
          <p:cNvPr id="651" name="Google Shape;651;p52"/>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2" name="Google Shape;652;p52"/>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53" name="Google Shape;653;p52"/>
          <p:cNvSpPr txBox="1"/>
          <p:nvPr>
            <p:ph idx="3"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654" name="Google Shape;654;p52"/>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655" name="Google Shape;655;p52"/>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656" name="Google Shape;656;p52"/>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657" name="Google Shape;657;p52"/>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658" name="Google Shape;658;p52"/>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659" name="Google Shape;659;p52"/>
          <p:cNvSpPr/>
          <p:nvPr/>
        </p:nvSpPr>
        <p:spPr>
          <a:xfrm>
            <a:off x="516300" y="-5550"/>
            <a:ext cx="8376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60" name="Google Shape;660;p52"/>
          <p:cNvSpPr txBox="1"/>
          <p:nvPr>
            <p:ph type="title"/>
          </p:nvPr>
        </p:nvSpPr>
        <p:spPr>
          <a:xfrm>
            <a:off x="643525" y="114300"/>
            <a:ext cx="81579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rgbClr val="B45F06"/>
                </a:solidFill>
              </a:rPr>
              <a:t>the features </a:t>
            </a:r>
            <a:endParaRPr sz="6000">
              <a:solidFill>
                <a:srgbClr val="B45F06"/>
              </a:solidFill>
            </a:endParaRPr>
          </a:p>
        </p:txBody>
      </p:sp>
      <p:sp>
        <p:nvSpPr>
          <p:cNvPr id="661" name="Google Shape;661;p52"/>
          <p:cNvSpPr txBox="1"/>
          <p:nvPr>
            <p:ph idx="2" type="subTitle"/>
          </p:nvPr>
        </p:nvSpPr>
        <p:spPr>
          <a:xfrm>
            <a:off x="781200" y="3181450"/>
            <a:ext cx="3685800" cy="1631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Mental Health Indicators</a:t>
            </a:r>
            <a:endParaRPr sz="2200"/>
          </a:p>
          <a:p>
            <a:pPr indent="-342900" lvl="0" marL="457200" rtl="0" algn="l">
              <a:spcBef>
                <a:spcPts val="0"/>
              </a:spcBef>
              <a:spcAft>
                <a:spcPts val="0"/>
              </a:spcAft>
              <a:buSzPts val="1800"/>
              <a:buFont typeface="Roboto"/>
              <a:buChar char="●"/>
            </a:pPr>
            <a:r>
              <a:rPr lang="en" sz="1800">
                <a:latin typeface="Roboto"/>
                <a:ea typeface="Roboto"/>
                <a:cs typeface="Roboto"/>
                <a:sym typeface="Roboto"/>
              </a:rPr>
              <a:t>Mental Health Providers </a:t>
            </a:r>
            <a:r>
              <a:rPr i="1" lang="en" sz="1800">
                <a:latin typeface="Roboto"/>
                <a:ea typeface="Roboto"/>
                <a:cs typeface="Roboto"/>
                <a:sym typeface="Roboto"/>
              </a:rPr>
              <a:t>(raw value)</a:t>
            </a:r>
            <a:endParaRPr i="1"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Poor Mental Health Days</a:t>
            </a:r>
            <a:r>
              <a:rPr lang="en" sz="1800">
                <a:latin typeface="Roboto"/>
                <a:ea typeface="Roboto"/>
                <a:cs typeface="Roboto"/>
                <a:sym typeface="Roboto"/>
              </a:rPr>
              <a:t> </a:t>
            </a:r>
            <a:r>
              <a:rPr i="1" lang="en" sz="1800">
                <a:latin typeface="Roboto"/>
                <a:ea typeface="Roboto"/>
                <a:cs typeface="Roboto"/>
                <a:sym typeface="Roboto"/>
              </a:rPr>
              <a:t>(raw value)</a:t>
            </a:r>
            <a:endParaRPr i="1" sz="1800">
              <a:latin typeface="Roboto"/>
              <a:ea typeface="Roboto"/>
              <a:cs typeface="Roboto"/>
              <a:sym typeface="Roboto"/>
            </a:endParaRPr>
          </a:p>
        </p:txBody>
      </p:sp>
      <p:sp>
        <p:nvSpPr>
          <p:cNvPr id="662" name="Google Shape;662;p52"/>
          <p:cNvSpPr txBox="1"/>
          <p:nvPr>
            <p:ph idx="4294967295" type="subTitle"/>
          </p:nvPr>
        </p:nvSpPr>
        <p:spPr>
          <a:xfrm>
            <a:off x="4694300" y="1963275"/>
            <a:ext cx="3960600" cy="247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300"/>
              <a:t>Socioeconomic Controls</a:t>
            </a:r>
            <a:endParaRPr sz="2300"/>
          </a:p>
          <a:p>
            <a:pPr indent="-342900" lvl="0" marL="457200" rtl="0" algn="l">
              <a:spcBef>
                <a:spcPts val="0"/>
              </a:spcBef>
              <a:spcAft>
                <a:spcPts val="0"/>
              </a:spcAft>
              <a:buSzPts val="1800"/>
              <a:buFont typeface="Roboto"/>
              <a:buChar char="●"/>
            </a:pPr>
            <a:r>
              <a:rPr lang="en" sz="1800">
                <a:latin typeface="Roboto"/>
                <a:ea typeface="Roboto"/>
                <a:cs typeface="Roboto"/>
                <a:sym typeface="Roboto"/>
              </a:rPr>
              <a:t>Children in Poverty </a:t>
            </a:r>
            <a:r>
              <a:rPr i="1" lang="en" sz="1800">
                <a:latin typeface="Roboto"/>
                <a:ea typeface="Roboto"/>
                <a:cs typeface="Roboto"/>
                <a:sym typeface="Roboto"/>
              </a:rPr>
              <a:t>(raw </a:t>
            </a:r>
            <a:r>
              <a:rPr i="1" lang="en" sz="1800">
                <a:latin typeface="Roboto"/>
                <a:ea typeface="Roboto"/>
                <a:cs typeface="Roboto"/>
                <a:sym typeface="Roboto"/>
              </a:rPr>
              <a:t>value)</a:t>
            </a:r>
            <a:r>
              <a:rPr lang="en" sz="1800">
                <a:latin typeface="Roboto"/>
                <a:ea typeface="Roboto"/>
                <a:cs typeface="Roboto"/>
                <a:sym typeface="Roboto"/>
              </a:rPr>
              <a:t>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Unemployment </a:t>
            </a:r>
            <a:r>
              <a:rPr i="1" lang="en" sz="1800">
                <a:latin typeface="Roboto"/>
                <a:ea typeface="Roboto"/>
                <a:cs typeface="Roboto"/>
                <a:sym typeface="Roboto"/>
              </a:rPr>
              <a:t>(raw value)</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Income Inequality </a:t>
            </a:r>
            <a:r>
              <a:rPr i="1" lang="en" sz="1800">
                <a:latin typeface="Roboto"/>
                <a:ea typeface="Roboto"/>
                <a:cs typeface="Roboto"/>
                <a:sym typeface="Roboto"/>
              </a:rPr>
              <a:t>(raw value)</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Child Care Cost Burden </a:t>
            </a:r>
            <a:r>
              <a:rPr i="1" lang="en" sz="1800">
                <a:latin typeface="Roboto"/>
                <a:ea typeface="Roboto"/>
                <a:cs typeface="Roboto"/>
                <a:sym typeface="Roboto"/>
              </a:rPr>
              <a:t>(raw value)</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Median Household Income </a:t>
            </a:r>
            <a:r>
              <a:rPr i="1" lang="en" sz="1800">
                <a:latin typeface="Roboto"/>
                <a:ea typeface="Roboto"/>
                <a:cs typeface="Roboto"/>
                <a:sym typeface="Roboto"/>
              </a:rPr>
              <a:t>(raw value)</a:t>
            </a:r>
            <a:r>
              <a:rPr lang="en" sz="1800">
                <a:latin typeface="Roboto"/>
                <a:ea typeface="Roboto"/>
                <a:cs typeface="Roboto"/>
                <a:sym typeface="Roboto"/>
              </a:rPr>
              <a:t> </a:t>
            </a:r>
            <a:endParaRPr sz="1800">
              <a:latin typeface="Roboto"/>
              <a:ea typeface="Roboto"/>
              <a:cs typeface="Roboto"/>
              <a:sym typeface="Roboto"/>
            </a:endParaRPr>
          </a:p>
        </p:txBody>
      </p:sp>
      <p:sp>
        <p:nvSpPr>
          <p:cNvPr id="663" name="Google Shape;663;p52"/>
          <p:cNvSpPr txBox="1"/>
          <p:nvPr/>
        </p:nvSpPr>
        <p:spPr>
          <a:xfrm>
            <a:off x="721650" y="1109774"/>
            <a:ext cx="8157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1"/>
                </a:solidFill>
                <a:latin typeface="Roboto"/>
                <a:ea typeface="Roboto"/>
                <a:cs typeface="Roboto"/>
                <a:sym typeface="Roboto"/>
              </a:rPr>
              <a:t>The question evolves: </a:t>
            </a:r>
            <a:r>
              <a:rPr b="1" i="1" lang="en" sz="2000">
                <a:latin typeface="Roboto"/>
                <a:ea typeface="Roboto"/>
                <a:cs typeface="Roboto"/>
                <a:sym typeface="Roboto"/>
              </a:rPr>
              <a:t>“</a:t>
            </a:r>
            <a:r>
              <a:rPr b="1" i="1" lang="en" sz="2000">
                <a:solidFill>
                  <a:srgbClr val="B45F06"/>
                </a:solidFill>
                <a:latin typeface="Roboto"/>
                <a:ea typeface="Roboto"/>
                <a:cs typeface="Roboto"/>
                <a:sym typeface="Roboto"/>
              </a:rPr>
              <a:t>What relationship exists </a:t>
            </a:r>
            <a:r>
              <a:rPr b="1" i="1" lang="en" sz="2000">
                <a:latin typeface="Roboto"/>
                <a:ea typeface="Roboto"/>
                <a:cs typeface="Roboto"/>
                <a:sym typeface="Roboto"/>
              </a:rPr>
              <a:t>between mental healthcare access and housing stability in New Mexico?”</a:t>
            </a:r>
            <a:endParaRPr b="1" i="1" sz="2000">
              <a:latin typeface="Roboto"/>
              <a:ea typeface="Roboto"/>
              <a:cs typeface="Roboto"/>
              <a:sym typeface="Roboto"/>
            </a:endParaRPr>
          </a:p>
        </p:txBody>
      </p:sp>
      <p:sp>
        <p:nvSpPr>
          <p:cNvPr id="664" name="Google Shape;664;p52"/>
          <p:cNvSpPr txBox="1"/>
          <p:nvPr>
            <p:ph idx="2" type="subTitle"/>
          </p:nvPr>
        </p:nvSpPr>
        <p:spPr>
          <a:xfrm>
            <a:off x="781188" y="1963275"/>
            <a:ext cx="3685800" cy="1077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Housing Stability</a:t>
            </a:r>
            <a:endParaRPr sz="2200"/>
          </a:p>
          <a:p>
            <a:pPr indent="-342900" lvl="0" marL="457200" rtl="0" algn="l">
              <a:spcBef>
                <a:spcPts val="0"/>
              </a:spcBef>
              <a:spcAft>
                <a:spcPts val="0"/>
              </a:spcAft>
              <a:buSzPts val="1800"/>
              <a:buFont typeface="Roboto"/>
              <a:buChar char="●"/>
            </a:pPr>
            <a:r>
              <a:rPr lang="en" sz="1800">
                <a:latin typeface="Roboto"/>
                <a:ea typeface="Roboto"/>
                <a:cs typeface="Roboto"/>
                <a:sym typeface="Roboto"/>
              </a:rPr>
              <a:t>Severe Housing Cost Burden </a:t>
            </a:r>
            <a:r>
              <a:rPr i="1" lang="en" sz="1800">
                <a:latin typeface="Roboto"/>
                <a:ea typeface="Roboto"/>
                <a:cs typeface="Roboto"/>
                <a:sym typeface="Roboto"/>
              </a:rPr>
              <a:t>(raw value)</a:t>
            </a:r>
            <a:r>
              <a:rPr lang="en" sz="1800">
                <a:latin typeface="Roboto"/>
                <a:ea typeface="Roboto"/>
                <a:cs typeface="Roboto"/>
                <a:sym typeface="Roboto"/>
              </a:rPr>
              <a:t> [</a:t>
            </a:r>
            <a:r>
              <a:rPr lang="en" sz="1800">
                <a:solidFill>
                  <a:srgbClr val="B45F06"/>
                </a:solidFill>
              </a:rPr>
              <a:t>target</a:t>
            </a:r>
            <a:r>
              <a:rPr lang="en" sz="1800">
                <a:latin typeface="Roboto"/>
                <a:ea typeface="Roboto"/>
                <a:cs typeface="Roboto"/>
                <a:sym typeface="Roboto"/>
              </a:rPr>
              <a:t>]</a:t>
            </a:r>
            <a:endParaRPr sz="1800">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668" name="Shape 668"/>
        <p:cNvGrpSpPr/>
        <p:nvPr/>
      </p:nvGrpSpPr>
      <p:grpSpPr>
        <a:xfrm>
          <a:off x="0" y="0"/>
          <a:ext cx="0" cy="0"/>
          <a:chOff x="0" y="0"/>
          <a:chExt cx="0" cy="0"/>
        </a:xfrm>
      </p:grpSpPr>
      <p:sp>
        <p:nvSpPr>
          <p:cNvPr id="669" name="Google Shape;669;p53"/>
          <p:cNvSpPr/>
          <p:nvPr/>
        </p:nvSpPr>
        <p:spPr>
          <a:xfrm>
            <a:off x="528225" y="-5475"/>
            <a:ext cx="83541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70" name="Google Shape;670;p53"/>
          <p:cNvSpPr/>
          <p:nvPr/>
        </p:nvSpPr>
        <p:spPr>
          <a:xfrm>
            <a:off x="260400" y="375"/>
            <a:ext cx="260400" cy="51435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1" name="Google Shape;671;p53"/>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72" name="Google Shape;672;p53"/>
          <p:cNvSpPr txBox="1"/>
          <p:nvPr>
            <p:ph idx="13"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673" name="Google Shape;673;p53"/>
          <p:cNvSpPr txBox="1"/>
          <p:nvPr>
            <p:ph idx="32"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674" name="Google Shape;674;p53"/>
          <p:cNvSpPr txBox="1"/>
          <p:nvPr>
            <p:ph idx="33"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ASSESSMENT</a:t>
            </a:r>
            <a:endParaRPr>
              <a:solidFill>
                <a:srgbClr val="FDFAF3"/>
              </a:solidFill>
            </a:endParaRPr>
          </a:p>
        </p:txBody>
      </p:sp>
      <p:sp>
        <p:nvSpPr>
          <p:cNvPr id="675" name="Google Shape;675;p53"/>
          <p:cNvSpPr txBox="1"/>
          <p:nvPr>
            <p:ph idx="1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02</a:t>
            </a:r>
            <a:endParaRPr b="1">
              <a:solidFill>
                <a:srgbClr val="FDFAF3"/>
              </a:solidFill>
            </a:endParaRPr>
          </a:p>
        </p:txBody>
      </p:sp>
      <p:sp>
        <p:nvSpPr>
          <p:cNvPr id="676" name="Google Shape;676;p53"/>
          <p:cNvSpPr txBox="1"/>
          <p:nvPr>
            <p:ph idx="26"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677" name="Google Shape;677;p53"/>
          <p:cNvSpPr txBox="1"/>
          <p:nvPr>
            <p:ph type="title"/>
          </p:nvPr>
        </p:nvSpPr>
        <p:spPr>
          <a:xfrm>
            <a:off x="700500" y="-63775"/>
            <a:ext cx="82002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rgbClr val="B45F06"/>
                </a:solidFill>
              </a:rPr>
              <a:t>data challenges &amp; gaps</a:t>
            </a:r>
            <a:endParaRPr sz="6000">
              <a:solidFill>
                <a:srgbClr val="B45F06"/>
              </a:solidFill>
            </a:endParaRPr>
          </a:p>
        </p:txBody>
      </p:sp>
      <p:sp>
        <p:nvSpPr>
          <p:cNvPr id="678" name="Google Shape;678;p53"/>
          <p:cNvSpPr txBox="1"/>
          <p:nvPr>
            <p:ph idx="6" type="subTitle"/>
          </p:nvPr>
        </p:nvSpPr>
        <p:spPr>
          <a:xfrm>
            <a:off x="790600" y="1294313"/>
            <a:ext cx="3618000" cy="2948700"/>
          </a:xfrm>
          <a:prstGeom prst="rect">
            <a:avLst/>
          </a:prstGeom>
        </p:spPr>
        <p:txBody>
          <a:bodyPr anchorCtr="0" anchor="t" bIns="76875" lIns="76875" spcFirstLastPara="1" rIns="76875" wrap="square" tIns="76875">
            <a:spAutoFit/>
          </a:bodyPr>
          <a:lstStyle/>
          <a:p>
            <a:pPr indent="0" lvl="0" marL="0" rtl="0" algn="l">
              <a:spcBef>
                <a:spcPts val="0"/>
              </a:spcBef>
              <a:spcAft>
                <a:spcPts val="0"/>
              </a:spcAft>
              <a:buNone/>
            </a:pPr>
            <a:r>
              <a:rPr lang="en" sz="1650">
                <a:latin typeface="Roboto"/>
                <a:ea typeface="Roboto"/>
                <a:cs typeface="Roboto"/>
                <a:sym typeface="Roboto"/>
              </a:rPr>
              <a:t>Many public datasets exist, but none   combine:</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Homelessness counts</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Social </a:t>
            </a:r>
            <a:r>
              <a:rPr lang="en" sz="1650">
                <a:latin typeface="Roboto"/>
                <a:ea typeface="Roboto"/>
                <a:cs typeface="Roboto"/>
                <a:sym typeface="Roboto"/>
              </a:rPr>
              <a:t>determinants</a:t>
            </a:r>
            <a:r>
              <a:rPr lang="en" sz="1650">
                <a:latin typeface="Roboto"/>
                <a:ea typeface="Roboto"/>
                <a:cs typeface="Roboto"/>
                <a:sym typeface="Roboto"/>
              </a:rPr>
              <a:t> of health</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No direct measure of mental healthcare access  or housing stability</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Evictions</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Access to transportation</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Shelter utilization</a:t>
            </a:r>
            <a:endParaRPr sz="1650">
              <a:latin typeface="Roboto"/>
              <a:ea typeface="Roboto"/>
              <a:cs typeface="Roboto"/>
              <a:sym typeface="Roboto"/>
            </a:endParaRPr>
          </a:p>
          <a:p>
            <a:pPr indent="0" lvl="0" marL="0" rtl="0" algn="l">
              <a:spcBef>
                <a:spcPts val="0"/>
              </a:spcBef>
              <a:spcAft>
                <a:spcPts val="0"/>
              </a:spcAft>
              <a:buNone/>
            </a:pPr>
            <a:r>
              <a:rPr lang="en" sz="1650">
                <a:latin typeface="Roboto"/>
                <a:ea typeface="Roboto"/>
                <a:cs typeface="Roboto"/>
                <a:sym typeface="Roboto"/>
              </a:rPr>
              <a:t>…at a county or census tract level.</a:t>
            </a:r>
            <a:endParaRPr sz="1850"/>
          </a:p>
        </p:txBody>
      </p:sp>
      <p:sp>
        <p:nvSpPr>
          <p:cNvPr id="679" name="Google Shape;679;p53"/>
          <p:cNvSpPr txBox="1"/>
          <p:nvPr/>
        </p:nvSpPr>
        <p:spPr>
          <a:xfrm>
            <a:off x="681800" y="4310700"/>
            <a:ext cx="8039400" cy="718500"/>
          </a:xfrm>
          <a:prstGeom prst="rect">
            <a:avLst/>
          </a:prstGeom>
          <a:noFill/>
          <a:ln>
            <a:noFill/>
          </a:ln>
        </p:spPr>
        <p:txBody>
          <a:bodyPr anchorCtr="0" anchor="t" bIns="76875" lIns="76875" spcFirstLastPara="1" rIns="76875" wrap="square" tIns="76875">
            <a:spAutoFit/>
          </a:bodyPr>
          <a:lstStyle/>
          <a:p>
            <a:pPr indent="0" lvl="0" marL="0" rtl="0" algn="ctr">
              <a:spcBef>
                <a:spcPts val="0"/>
              </a:spcBef>
              <a:spcAft>
                <a:spcPts val="0"/>
              </a:spcAft>
              <a:buNone/>
            </a:pPr>
            <a:r>
              <a:rPr b="1" i="1" lang="en" sz="1829">
                <a:solidFill>
                  <a:srgbClr val="B45F06"/>
                </a:solidFill>
                <a:latin typeface="Roboto"/>
                <a:ea typeface="Roboto"/>
                <a:cs typeface="Roboto"/>
                <a:sym typeface="Roboto"/>
              </a:rPr>
              <a:t>Better integrated, privacy-preserving public data would enable important insights and stronger evidence-based policy decisions.</a:t>
            </a:r>
            <a:endParaRPr b="1" i="1" sz="1829">
              <a:solidFill>
                <a:srgbClr val="B45F06"/>
              </a:solidFill>
              <a:latin typeface="Roboto"/>
              <a:ea typeface="Roboto"/>
              <a:cs typeface="Roboto"/>
              <a:sym typeface="Roboto"/>
            </a:endParaRPr>
          </a:p>
        </p:txBody>
      </p:sp>
      <p:sp>
        <p:nvSpPr>
          <p:cNvPr id="680" name="Google Shape;680;p53"/>
          <p:cNvSpPr txBox="1"/>
          <p:nvPr>
            <p:ph idx="25"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681" name="Google Shape;681;p53"/>
          <p:cNvSpPr txBox="1"/>
          <p:nvPr>
            <p:ph idx="6" type="subTitle"/>
          </p:nvPr>
        </p:nvSpPr>
        <p:spPr>
          <a:xfrm>
            <a:off x="4722938" y="1278863"/>
            <a:ext cx="3835500" cy="2979600"/>
          </a:xfrm>
          <a:prstGeom prst="rect">
            <a:avLst/>
          </a:prstGeom>
        </p:spPr>
        <p:txBody>
          <a:bodyPr anchorCtr="0" anchor="t" bIns="76875" lIns="76875" spcFirstLastPara="1" rIns="76875" wrap="square" tIns="76875">
            <a:spAutoFit/>
          </a:bodyPr>
          <a:lstStyle/>
          <a:p>
            <a:pPr indent="-296989" lvl="0" marL="384443" rtl="0" algn="l">
              <a:spcBef>
                <a:spcPts val="0"/>
              </a:spcBef>
              <a:spcAft>
                <a:spcPts val="0"/>
              </a:spcAft>
              <a:buSzPts val="1650"/>
              <a:buFont typeface="Roboto"/>
              <a:buChar char="●"/>
            </a:pPr>
            <a:r>
              <a:rPr lang="en" sz="1650">
                <a:latin typeface="Roboto"/>
                <a:ea typeface="Roboto"/>
                <a:cs typeface="Roboto"/>
                <a:sym typeface="Roboto"/>
              </a:rPr>
              <a:t>Wait times and appointment availability for  mental health services</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Insurance acceptance</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Psychiatric inpatient admissions</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Behavioral health ER visits</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Diagnoses, crisis visits, suicide attempts, depression, anxiety, substance use</a:t>
            </a:r>
            <a:endParaRPr sz="1650">
              <a:latin typeface="Roboto"/>
              <a:ea typeface="Roboto"/>
              <a:cs typeface="Roboto"/>
              <a:sym typeface="Roboto"/>
            </a:endParaRPr>
          </a:p>
          <a:p>
            <a:pPr indent="-296989" lvl="0" marL="384443" rtl="0" algn="l">
              <a:spcBef>
                <a:spcPts val="0"/>
              </a:spcBef>
              <a:spcAft>
                <a:spcPts val="0"/>
              </a:spcAft>
              <a:buSzPts val="1650"/>
              <a:buFont typeface="Roboto"/>
              <a:buChar char="●"/>
            </a:pPr>
            <a:r>
              <a:rPr lang="en" sz="1650">
                <a:latin typeface="Roboto"/>
                <a:ea typeface="Roboto"/>
                <a:cs typeface="Roboto"/>
                <a:sym typeface="Roboto"/>
              </a:rPr>
              <a:t>Shelter utilization</a:t>
            </a:r>
            <a:endParaRPr sz="1650">
              <a:latin typeface="Roboto"/>
              <a:ea typeface="Roboto"/>
              <a:cs typeface="Roboto"/>
              <a:sym typeface="Roboto"/>
            </a:endParaRPr>
          </a:p>
          <a:p>
            <a:pPr indent="0" lvl="0" marL="384443" rtl="0" algn="l">
              <a:spcBef>
                <a:spcPts val="0"/>
              </a:spcBef>
              <a:spcAft>
                <a:spcPts val="0"/>
              </a:spcAft>
              <a:buNone/>
            </a:pPr>
            <a:r>
              <a:t/>
            </a:r>
            <a:endParaRPr sz="1850"/>
          </a:p>
        </p:txBody>
      </p:sp>
      <p:sp>
        <p:nvSpPr>
          <p:cNvPr id="682" name="Google Shape;682;p53"/>
          <p:cNvSpPr txBox="1"/>
          <p:nvPr>
            <p:ph idx="8" type="subTitle"/>
          </p:nvPr>
        </p:nvSpPr>
        <p:spPr>
          <a:xfrm>
            <a:off x="781200" y="848625"/>
            <a:ext cx="3618000" cy="461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Roboto"/>
                <a:ea typeface="Roboto"/>
                <a:cs typeface="Roboto"/>
                <a:sym typeface="Roboto"/>
              </a:rPr>
              <a:t>What public data can’t tell us</a:t>
            </a:r>
            <a:endParaRPr b="1" sz="1800">
              <a:latin typeface="Roboto"/>
              <a:ea typeface="Roboto"/>
              <a:cs typeface="Roboto"/>
              <a:sym typeface="Roboto"/>
            </a:endParaRPr>
          </a:p>
        </p:txBody>
      </p:sp>
      <p:sp>
        <p:nvSpPr>
          <p:cNvPr id="683" name="Google Shape;683;p53"/>
          <p:cNvSpPr txBox="1"/>
          <p:nvPr>
            <p:ph idx="8" type="subTitle"/>
          </p:nvPr>
        </p:nvSpPr>
        <p:spPr>
          <a:xfrm>
            <a:off x="4678400" y="844675"/>
            <a:ext cx="3006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Roboto"/>
                <a:ea typeface="Roboto"/>
                <a:cs typeface="Roboto"/>
                <a:sym typeface="Roboto"/>
              </a:rPr>
              <a:t>Missing Information </a:t>
            </a:r>
            <a:endParaRPr b="1" sz="1800">
              <a:latin typeface="Roboto"/>
              <a:ea typeface="Roboto"/>
              <a:cs typeface="Roboto"/>
              <a:sym typeface="Roboto"/>
            </a:endParaRPr>
          </a:p>
        </p:txBody>
      </p:sp>
      <p:cxnSp>
        <p:nvCxnSpPr>
          <p:cNvPr id="684" name="Google Shape;684;p53"/>
          <p:cNvCxnSpPr/>
          <p:nvPr/>
        </p:nvCxnSpPr>
        <p:spPr>
          <a:xfrm>
            <a:off x="842675" y="1209517"/>
            <a:ext cx="2886300" cy="17100"/>
          </a:xfrm>
          <a:prstGeom prst="straightConnector1">
            <a:avLst/>
          </a:prstGeom>
          <a:noFill/>
          <a:ln cap="flat" cmpd="sng" w="28575">
            <a:solidFill>
              <a:srgbClr val="B45F06"/>
            </a:solidFill>
            <a:prstDash val="solid"/>
            <a:round/>
            <a:headEnd len="med" w="med" type="none"/>
            <a:tailEnd len="med" w="med" type="none"/>
          </a:ln>
        </p:spPr>
      </p:cxnSp>
      <p:cxnSp>
        <p:nvCxnSpPr>
          <p:cNvPr id="685" name="Google Shape;685;p53"/>
          <p:cNvCxnSpPr/>
          <p:nvPr/>
        </p:nvCxnSpPr>
        <p:spPr>
          <a:xfrm>
            <a:off x="4738540" y="1209533"/>
            <a:ext cx="2886300" cy="17100"/>
          </a:xfrm>
          <a:prstGeom prst="straightConnector1">
            <a:avLst/>
          </a:prstGeom>
          <a:noFill/>
          <a:ln cap="flat" cmpd="sng" w="28575">
            <a:solidFill>
              <a:srgbClr val="B45F06"/>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689" name="Shape 689"/>
        <p:cNvGrpSpPr/>
        <p:nvPr/>
      </p:nvGrpSpPr>
      <p:grpSpPr>
        <a:xfrm>
          <a:off x="0" y="0"/>
          <a:ext cx="0" cy="0"/>
          <a:chOff x="0" y="0"/>
          <a:chExt cx="0" cy="0"/>
        </a:xfrm>
      </p:grpSpPr>
      <p:sp>
        <p:nvSpPr>
          <p:cNvPr id="690" name="Google Shape;690;p54"/>
          <p:cNvSpPr/>
          <p:nvPr/>
        </p:nvSpPr>
        <p:spPr>
          <a:xfrm>
            <a:off x="528225" y="-7075"/>
            <a:ext cx="86157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691" name="Google Shape;691;p54"/>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2" name="Google Shape;692;p54"/>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693" name="Google Shape;693;p54"/>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694" name="Google Shape;694;p54"/>
          <p:cNvSpPr txBox="1"/>
          <p:nvPr>
            <p:ph idx="1" type="subTitle"/>
          </p:nvPr>
        </p:nvSpPr>
        <p:spPr>
          <a:xfrm>
            <a:off x="961199" y="342975"/>
            <a:ext cx="7678800" cy="9234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6000">
                <a:solidFill>
                  <a:srgbClr val="B45F06"/>
                </a:solidFill>
              </a:rPr>
              <a:t>model selection</a:t>
            </a:r>
            <a:endParaRPr sz="6000">
              <a:solidFill>
                <a:srgbClr val="B45F06"/>
              </a:solidFill>
            </a:endParaRPr>
          </a:p>
        </p:txBody>
      </p:sp>
      <p:sp>
        <p:nvSpPr>
          <p:cNvPr id="695" name="Google Shape;695;p54"/>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696" name="Google Shape;696;p54"/>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697" name="Google Shape;697;p54"/>
          <p:cNvSpPr/>
          <p:nvPr/>
        </p:nvSpPr>
        <p:spPr>
          <a:xfrm>
            <a:off x="260388"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8" name="Google Shape;698;p54"/>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699" name="Google Shape;699;p54"/>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700" name="Google Shape;700;p54"/>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aphicFrame>
        <p:nvGraphicFramePr>
          <p:cNvPr id="701" name="Google Shape;701;p54"/>
          <p:cNvGraphicFramePr/>
          <p:nvPr/>
        </p:nvGraphicFramePr>
        <p:xfrm>
          <a:off x="777750" y="1414275"/>
          <a:ext cx="3000000" cy="3000000"/>
        </p:xfrm>
        <a:graphic>
          <a:graphicData uri="http://schemas.openxmlformats.org/drawingml/2006/table">
            <a:tbl>
              <a:tblPr>
                <a:noFill/>
                <a:tableStyleId>{103DC652-8713-4B50-A93F-D350B0A785AA}</a:tableStyleId>
              </a:tblPr>
              <a:tblGrid>
                <a:gridCol w="1778400"/>
                <a:gridCol w="3232550"/>
                <a:gridCol w="2843575"/>
              </a:tblGrid>
              <a:tr h="381000">
                <a:tc>
                  <a:txBody>
                    <a:bodyPr/>
                    <a:lstStyle/>
                    <a:p>
                      <a:pPr indent="0" lvl="0" marL="0" rtl="0" algn="l">
                        <a:spcBef>
                          <a:spcPts val="0"/>
                        </a:spcBef>
                        <a:spcAft>
                          <a:spcPts val="0"/>
                        </a:spcAft>
                        <a:buNone/>
                      </a:pPr>
                      <a:r>
                        <a:rPr b="1" lang="en">
                          <a:solidFill>
                            <a:srgbClr val="FFFFFF"/>
                          </a:solidFill>
                        </a:rPr>
                        <a:t>Model</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Assumptions</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Why this model?</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r>
              <a:tr h="381000">
                <a:tc>
                  <a:txBody>
                    <a:bodyPr/>
                    <a:lstStyle/>
                    <a:p>
                      <a:pPr indent="0" lvl="0" marL="0" rtl="0" algn="l">
                        <a:spcBef>
                          <a:spcPts val="0"/>
                        </a:spcBef>
                        <a:spcAft>
                          <a:spcPts val="0"/>
                        </a:spcAft>
                        <a:buNone/>
                      </a:pPr>
                      <a:r>
                        <a:rPr b="1" lang="en" sz="1300"/>
                        <a:t>OLS Regression</a:t>
                      </a:r>
                      <a:endParaRPr b="1" sz="1300"/>
                    </a:p>
                    <a:p>
                      <a:pPr indent="0" lvl="0" marL="0" rtl="0" algn="l">
                        <a:spcBef>
                          <a:spcPts val="0"/>
                        </a:spcBef>
                        <a:spcAft>
                          <a:spcPts val="0"/>
                        </a:spcAft>
                        <a:buNone/>
                      </a:pPr>
                      <a:r>
                        <a:rPr lang="en" sz="1300"/>
                        <a:t>Which factors are associated with housing instability?</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311150" lvl="0" marL="457200" rtl="0" algn="l">
                        <a:spcBef>
                          <a:spcPts val="0"/>
                        </a:spcBef>
                        <a:spcAft>
                          <a:spcPts val="0"/>
                        </a:spcAft>
                        <a:buSzPts val="1300"/>
                        <a:buChar char="●"/>
                      </a:pPr>
                      <a:r>
                        <a:rPr lang="en" sz="1300"/>
                        <a:t>Linearity between predictors and target</a:t>
                      </a:r>
                      <a:endParaRPr sz="1300"/>
                    </a:p>
                    <a:p>
                      <a:pPr indent="-311150" lvl="0" marL="457200" rtl="0" algn="l">
                        <a:spcBef>
                          <a:spcPts val="0"/>
                        </a:spcBef>
                        <a:spcAft>
                          <a:spcPts val="0"/>
                        </a:spcAft>
                        <a:buSzPts val="1300"/>
                        <a:buChar char="●"/>
                      </a:pPr>
                      <a:r>
                        <a:rPr lang="en" sz="1300"/>
                        <a:t>Each observation is independent of the others</a:t>
                      </a:r>
                      <a:endParaRPr sz="1300"/>
                    </a:p>
                    <a:p>
                      <a:pPr indent="-311150" lvl="0" marL="457200" rtl="0" algn="l">
                        <a:spcBef>
                          <a:spcPts val="0"/>
                        </a:spcBef>
                        <a:spcAft>
                          <a:spcPts val="0"/>
                        </a:spcAft>
                        <a:buSzPts val="1300"/>
                        <a:buChar char="●"/>
                      </a:pPr>
                      <a:r>
                        <a:rPr lang="en" sz="1300"/>
                        <a:t>Normally distributed residuals</a:t>
                      </a:r>
                      <a:endParaRPr sz="1300"/>
                    </a:p>
                    <a:p>
                      <a:pPr indent="-311150" lvl="0" marL="457200" rtl="0" algn="l">
                        <a:spcBef>
                          <a:spcPts val="0"/>
                        </a:spcBef>
                        <a:spcAft>
                          <a:spcPts val="0"/>
                        </a:spcAft>
                        <a:buSzPts val="1300"/>
                        <a:buChar char="●"/>
                      </a:pPr>
                      <a:r>
                        <a:rPr lang="en" sz="1300"/>
                        <a:t>Constant variance</a:t>
                      </a:r>
                      <a:endParaRPr sz="1300"/>
                    </a:p>
                    <a:p>
                      <a:pPr indent="-311150" lvl="0" marL="457200" rtl="0" algn="l">
                        <a:spcBef>
                          <a:spcPts val="0"/>
                        </a:spcBef>
                        <a:spcAft>
                          <a:spcPts val="0"/>
                        </a:spcAft>
                        <a:buSzPts val="1300"/>
                        <a:buChar char="●"/>
                      </a:pPr>
                      <a:r>
                        <a:rPr lang="en" sz="1300"/>
                        <a:t>Low multicollinearity</a:t>
                      </a:r>
                      <a:endParaRPr sz="1300"/>
                    </a:p>
                    <a:p>
                      <a:pPr indent="-311150" lvl="0" marL="457200" rtl="0" algn="l">
                        <a:spcBef>
                          <a:spcPts val="0"/>
                        </a:spcBef>
                        <a:spcAft>
                          <a:spcPts val="0"/>
                        </a:spcAft>
                        <a:buSzPts val="1300"/>
                        <a:buChar char="●"/>
                      </a:pPr>
                      <a:r>
                        <a:rPr lang="en" sz="1300"/>
                        <a:t>No highly Influential Observations</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311150" lvl="0" marL="457200" rtl="0" algn="l">
                        <a:spcBef>
                          <a:spcPts val="0"/>
                        </a:spcBef>
                        <a:spcAft>
                          <a:spcPts val="0"/>
                        </a:spcAft>
                        <a:buSzPts val="1300"/>
                        <a:buChar char="●"/>
                      </a:pPr>
                      <a:r>
                        <a:rPr lang="en" sz="1300"/>
                        <a:t>Identify and quantify statistically significant relationships between mental healthcare access and housing stability while controlling for </a:t>
                      </a:r>
                      <a:r>
                        <a:rPr lang="en" sz="1300"/>
                        <a:t>socioeconomic</a:t>
                      </a:r>
                      <a:r>
                        <a:rPr lang="en" sz="1300"/>
                        <a:t> factors</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300"/>
                        <a:t>Random Forest</a:t>
                      </a:r>
                      <a:endParaRPr b="1" sz="1300"/>
                    </a:p>
                    <a:p>
                      <a:pPr indent="0" lvl="0" marL="0" rtl="0" algn="l">
                        <a:spcBef>
                          <a:spcPts val="0"/>
                        </a:spcBef>
                        <a:spcAft>
                          <a:spcPts val="0"/>
                        </a:spcAft>
                        <a:buNone/>
                      </a:pPr>
                      <a:r>
                        <a:rPr lang="en" sz="1300"/>
                        <a:t>Which factors are most important?</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311150" lvl="0" marL="457200" rtl="0" algn="l">
                        <a:spcBef>
                          <a:spcPts val="0"/>
                        </a:spcBef>
                        <a:spcAft>
                          <a:spcPts val="0"/>
                        </a:spcAft>
                        <a:buSzPts val="1300"/>
                        <a:buChar char="●"/>
                      </a:pPr>
                      <a:r>
                        <a:rPr lang="en" sz="1300"/>
                        <a:t>Nonlinear data relationship</a:t>
                      </a:r>
                      <a:endParaRPr sz="1300"/>
                    </a:p>
                    <a:p>
                      <a:pPr indent="-311150" lvl="0" marL="457200" rtl="0" algn="l">
                        <a:spcBef>
                          <a:spcPts val="0"/>
                        </a:spcBef>
                        <a:spcAft>
                          <a:spcPts val="0"/>
                        </a:spcAft>
                        <a:buSzPts val="1300"/>
                        <a:buChar char="●"/>
                      </a:pPr>
                      <a:r>
                        <a:rPr lang="en" sz="1300"/>
                        <a:t>Sensitive to overfitting</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311150" lvl="0" marL="457200" rtl="0" algn="l">
                        <a:spcBef>
                          <a:spcPts val="0"/>
                        </a:spcBef>
                        <a:spcAft>
                          <a:spcPts val="0"/>
                        </a:spcAft>
                        <a:buSzPts val="1300"/>
                        <a:buChar char="●"/>
                      </a:pPr>
                      <a:r>
                        <a:rPr lang="en" sz="1300"/>
                        <a:t>Identify the most important predictors of housing burden</a:t>
                      </a:r>
                      <a:endParaRPr sz="1300"/>
                    </a:p>
                    <a:p>
                      <a:pPr indent="-311150" lvl="0" marL="457200" rtl="0" algn="l">
                        <a:spcBef>
                          <a:spcPts val="0"/>
                        </a:spcBef>
                        <a:spcAft>
                          <a:spcPts val="0"/>
                        </a:spcAft>
                        <a:buSzPts val="1300"/>
                        <a:buChar char="●"/>
                      </a:pPr>
                      <a:r>
                        <a:rPr lang="en" sz="1300"/>
                        <a:t>Capture potential nonlinear relationships that OLS may not detect</a:t>
                      </a:r>
                      <a:endParaRPr sz="1300"/>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7CDBD"/>
            </a:gs>
            <a:gs pos="100000">
              <a:srgbClr val="B45F06"/>
            </a:gs>
          </a:gsLst>
          <a:lin ang="2700006" scaled="0"/>
        </a:gradFill>
      </p:bgPr>
    </p:bg>
    <p:spTree>
      <p:nvGrpSpPr>
        <p:cNvPr id="705" name="Shape 705"/>
        <p:cNvGrpSpPr/>
        <p:nvPr/>
      </p:nvGrpSpPr>
      <p:grpSpPr>
        <a:xfrm>
          <a:off x="0" y="0"/>
          <a:ext cx="0" cy="0"/>
          <a:chOff x="0" y="0"/>
          <a:chExt cx="0" cy="0"/>
        </a:xfrm>
      </p:grpSpPr>
      <p:sp>
        <p:nvSpPr>
          <p:cNvPr id="706" name="Google Shape;706;p55"/>
          <p:cNvSpPr txBox="1"/>
          <p:nvPr/>
        </p:nvSpPr>
        <p:spPr>
          <a:xfrm>
            <a:off x="181200" y="1432800"/>
            <a:ext cx="8781600" cy="203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rgbClr val="FFFFFF"/>
                </a:solidFill>
                <a:latin typeface="Roboto Light"/>
                <a:ea typeface="Roboto Light"/>
                <a:cs typeface="Roboto Light"/>
                <a:sym typeface="Roboto Light"/>
              </a:rPr>
              <a:t>SECTION 3:</a:t>
            </a:r>
            <a:endParaRPr sz="6000">
              <a:solidFill>
                <a:srgbClr val="FFFFFF"/>
              </a:solidFill>
              <a:latin typeface="Roboto Light"/>
              <a:ea typeface="Roboto Light"/>
              <a:cs typeface="Roboto Light"/>
              <a:sym typeface="Roboto Light"/>
            </a:endParaRPr>
          </a:p>
          <a:p>
            <a:pPr indent="0" lvl="0" marL="0" rtl="0" algn="ctr">
              <a:spcBef>
                <a:spcPts val="0"/>
              </a:spcBef>
              <a:spcAft>
                <a:spcPts val="0"/>
              </a:spcAft>
              <a:buNone/>
            </a:pPr>
            <a:r>
              <a:rPr b="1" lang="en" sz="6000">
                <a:solidFill>
                  <a:srgbClr val="FFFFFF"/>
                </a:solidFill>
                <a:latin typeface="Roboto"/>
                <a:ea typeface="Roboto"/>
                <a:cs typeface="Roboto"/>
                <a:sym typeface="Roboto"/>
              </a:rPr>
              <a:t>RECOMMENDATIONS</a:t>
            </a:r>
            <a:endParaRPr b="1" sz="6000">
              <a:solidFill>
                <a:srgbClr val="FFFFF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710" name="Shape 710"/>
        <p:cNvGrpSpPr/>
        <p:nvPr/>
      </p:nvGrpSpPr>
      <p:grpSpPr>
        <a:xfrm>
          <a:off x="0" y="0"/>
          <a:ext cx="0" cy="0"/>
          <a:chOff x="0" y="0"/>
          <a:chExt cx="0" cy="0"/>
        </a:xfrm>
      </p:grpSpPr>
      <p:sp>
        <p:nvSpPr>
          <p:cNvPr id="711" name="Google Shape;711;p56"/>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12" name="Google Shape;712;p56"/>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3" name="Google Shape;713;p56"/>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714" name="Google Shape;714;p56"/>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715" name="Google Shape;715;p56"/>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model results</a:t>
            </a:r>
            <a:endParaRPr sz="7200">
              <a:solidFill>
                <a:srgbClr val="B45F06"/>
              </a:solidFill>
            </a:endParaRPr>
          </a:p>
        </p:txBody>
      </p:sp>
      <p:sp>
        <p:nvSpPr>
          <p:cNvPr id="716" name="Google Shape;716;p56"/>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717" name="Google Shape;717;p56"/>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718" name="Google Shape;718;p56"/>
          <p:cNvSpPr txBox="1"/>
          <p:nvPr/>
        </p:nvSpPr>
        <p:spPr>
          <a:xfrm>
            <a:off x="961200" y="1272750"/>
            <a:ext cx="76788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statistical summary outputs, translated</a:t>
            </a:r>
            <a:endParaRPr b="1" sz="1900">
              <a:solidFill>
                <a:schemeClr val="lt1"/>
              </a:solidFill>
              <a:latin typeface="Roboto"/>
              <a:ea typeface="Roboto"/>
              <a:cs typeface="Roboto"/>
              <a:sym typeface="Roboto"/>
            </a:endParaRPr>
          </a:p>
        </p:txBody>
      </p:sp>
      <p:sp>
        <p:nvSpPr>
          <p:cNvPr id="719" name="Google Shape;719;p56"/>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20" name="Google Shape;720;p56"/>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1" name="Google Shape;721;p56"/>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722" name="Google Shape;722;p56"/>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723" name="Google Shape;723;p56"/>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724" name="Google Shape;724;p56"/>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aphicFrame>
        <p:nvGraphicFramePr>
          <p:cNvPr id="725" name="Google Shape;725;p56"/>
          <p:cNvGraphicFramePr/>
          <p:nvPr/>
        </p:nvGraphicFramePr>
        <p:xfrm>
          <a:off x="1045600" y="1883425"/>
          <a:ext cx="3000000" cy="3000000"/>
        </p:xfrm>
        <a:graphic>
          <a:graphicData uri="http://schemas.openxmlformats.org/drawingml/2006/table">
            <a:tbl>
              <a:tblPr>
                <a:noFill/>
                <a:tableStyleId>{103DC652-8713-4B50-A93F-D350B0A785AA}</a:tableStyleId>
              </a:tblPr>
              <a:tblGrid>
                <a:gridCol w="2032250"/>
                <a:gridCol w="2246450"/>
                <a:gridCol w="3575825"/>
              </a:tblGrid>
              <a:tr h="381000">
                <a:tc>
                  <a:txBody>
                    <a:bodyPr/>
                    <a:lstStyle/>
                    <a:p>
                      <a:pPr indent="0" lvl="0" marL="0" rtl="0" algn="l">
                        <a:spcBef>
                          <a:spcPts val="0"/>
                        </a:spcBef>
                        <a:spcAft>
                          <a:spcPts val="0"/>
                        </a:spcAft>
                        <a:buNone/>
                      </a:pPr>
                      <a:r>
                        <a:rPr b="1" lang="en">
                          <a:solidFill>
                            <a:srgbClr val="FFFFFF"/>
                          </a:solidFill>
                        </a:rPr>
                        <a:t>Model</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Statistical Significance</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Key Findings</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r>
              <a:tr h="381000">
                <a:tc>
                  <a:txBody>
                    <a:bodyPr/>
                    <a:lstStyle/>
                    <a:p>
                      <a:pPr indent="0" lvl="0" marL="0" rtl="0" algn="l">
                        <a:spcBef>
                          <a:spcPts val="0"/>
                        </a:spcBef>
                        <a:spcAft>
                          <a:spcPts val="0"/>
                        </a:spcAft>
                        <a:buNone/>
                      </a:pPr>
                      <a:r>
                        <a:rPr b="1" lang="en"/>
                        <a:t>OLS Regression</a:t>
                      </a:r>
                      <a:endParaRPr b="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b="1" lang="en"/>
                        <a:t>29%</a:t>
                      </a:r>
                      <a:r>
                        <a:rPr lang="en"/>
                        <a:t> explainability</a:t>
                      </a:r>
                      <a:endParaRPr/>
                    </a:p>
                    <a:p>
                      <a:pPr indent="0" lvl="0" marL="0" rtl="0" algn="l">
                        <a:spcBef>
                          <a:spcPts val="0"/>
                        </a:spcBef>
                        <a:spcAft>
                          <a:spcPts val="0"/>
                        </a:spcAft>
                        <a:buNone/>
                      </a:pPr>
                      <a:r>
                        <a:rPr i="1" lang="en"/>
                        <a:t>(R</a:t>
                      </a:r>
                      <a:r>
                        <a:rPr baseline="30000" i="1" lang="en"/>
                        <a:t>2</a:t>
                      </a:r>
                      <a:r>
                        <a:rPr i="1" lang="en"/>
                        <a:t> = 0.29)</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Proxy variables have </a:t>
                      </a:r>
                      <a:r>
                        <a:rPr lang="en"/>
                        <a:t>limited</a:t>
                      </a:r>
                      <a:r>
                        <a:rPr lang="en"/>
                        <a:t> linear correlation with housing burden.</a:t>
                      </a:r>
                      <a:endParaRPr i="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Random Forest</a:t>
                      </a:r>
                      <a:endParaRPr b="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b="1" lang="en"/>
                        <a:t>87%</a:t>
                      </a:r>
                      <a:r>
                        <a:rPr lang="en"/>
                        <a:t> explainability</a:t>
                      </a:r>
                      <a:endParaRPr/>
                    </a:p>
                    <a:p>
                      <a:pPr indent="0" lvl="0" marL="0" rtl="0" algn="l">
                        <a:spcBef>
                          <a:spcPts val="0"/>
                        </a:spcBef>
                        <a:spcAft>
                          <a:spcPts val="0"/>
                        </a:spcAft>
                        <a:buNone/>
                      </a:pPr>
                      <a:r>
                        <a:rPr i="1" lang="en"/>
                        <a:t>(R</a:t>
                      </a:r>
                      <a:r>
                        <a:rPr baseline="30000" i="1" lang="en"/>
                        <a:t>2</a:t>
                      </a:r>
                      <a:r>
                        <a:rPr i="1" lang="en"/>
                        <a:t> </a:t>
                      </a:r>
                      <a:r>
                        <a:rPr i="1" lang="en"/>
                        <a:t>= 0.87)</a:t>
                      </a:r>
                      <a:endParaRPr i="1"/>
                    </a:p>
                    <a:p>
                      <a:pPr indent="0" lvl="0" marL="0" rtl="0" algn="l">
                        <a:spcBef>
                          <a:spcPts val="0"/>
                        </a:spcBef>
                        <a:spcAft>
                          <a:spcPts val="0"/>
                        </a:spcAft>
                        <a:buNone/>
                      </a:pPr>
                      <a:r>
                        <a:rPr i="1" lang="en"/>
                        <a:t>training set</a:t>
                      </a:r>
                      <a:endParaRPr i="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Nonlinear, high-order effects independently validated the findings of the OLS model.</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r>
            </a:tbl>
          </a:graphicData>
        </a:graphic>
      </p:graphicFrame>
      <p:sp>
        <p:nvSpPr>
          <p:cNvPr id="726" name="Google Shape;726;p56"/>
          <p:cNvSpPr txBox="1"/>
          <p:nvPr/>
        </p:nvSpPr>
        <p:spPr>
          <a:xfrm>
            <a:off x="1133450" y="3824500"/>
            <a:ext cx="7678800" cy="1062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900">
                <a:solidFill>
                  <a:schemeClr val="lt1"/>
                </a:solidFill>
                <a:latin typeface="Roboto"/>
                <a:ea typeface="Roboto"/>
                <a:cs typeface="Roboto"/>
                <a:sym typeface="Roboto"/>
              </a:rPr>
              <a:t>After removing county outliers, </a:t>
            </a:r>
            <a:r>
              <a:rPr b="1" i="1" lang="en" sz="1900">
                <a:solidFill>
                  <a:srgbClr val="B45F06"/>
                </a:solidFill>
                <a:latin typeface="Roboto"/>
                <a:ea typeface="Roboto"/>
                <a:cs typeface="Roboto"/>
                <a:sym typeface="Roboto"/>
              </a:rPr>
              <a:t>number of mental health providers</a:t>
            </a:r>
            <a:r>
              <a:rPr b="1" i="1" lang="en" sz="1900">
                <a:solidFill>
                  <a:schemeClr val="lt1"/>
                </a:solidFill>
                <a:latin typeface="Roboto"/>
                <a:ea typeface="Roboto"/>
                <a:cs typeface="Roboto"/>
                <a:sym typeface="Roboto"/>
              </a:rPr>
              <a:t> and the </a:t>
            </a:r>
            <a:r>
              <a:rPr b="1" i="1" lang="en" sz="1900">
                <a:solidFill>
                  <a:srgbClr val="B45F06"/>
                </a:solidFill>
                <a:latin typeface="Roboto"/>
                <a:ea typeface="Roboto"/>
                <a:cs typeface="Roboto"/>
                <a:sym typeface="Roboto"/>
              </a:rPr>
              <a:t>child care cost burden</a:t>
            </a:r>
            <a:r>
              <a:rPr b="1" i="1" lang="en" sz="1900">
                <a:solidFill>
                  <a:schemeClr val="lt1"/>
                </a:solidFill>
                <a:latin typeface="Roboto"/>
                <a:ea typeface="Roboto"/>
                <a:cs typeface="Roboto"/>
                <a:sym typeface="Roboto"/>
              </a:rPr>
              <a:t> explained severe housing cost burden for De Baca and Guadalupe Counties in 2025</a:t>
            </a:r>
            <a:endParaRPr b="1" i="1" sz="1900">
              <a:solidFill>
                <a:schemeClr val="lt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730" name="Shape 730"/>
        <p:cNvGrpSpPr/>
        <p:nvPr/>
      </p:nvGrpSpPr>
      <p:grpSpPr>
        <a:xfrm>
          <a:off x="0" y="0"/>
          <a:ext cx="0" cy="0"/>
          <a:chOff x="0" y="0"/>
          <a:chExt cx="0" cy="0"/>
        </a:xfrm>
      </p:grpSpPr>
      <p:sp>
        <p:nvSpPr>
          <p:cNvPr id="731" name="Google Shape;731;p57"/>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32" name="Google Shape;732;p57"/>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3" name="Google Shape;733;p57"/>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734" name="Google Shape;734;p57"/>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735" name="Google Shape;735;p57"/>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ranked features</a:t>
            </a:r>
            <a:endParaRPr sz="7200">
              <a:solidFill>
                <a:srgbClr val="B45F06"/>
              </a:solidFill>
            </a:endParaRPr>
          </a:p>
        </p:txBody>
      </p:sp>
      <p:sp>
        <p:nvSpPr>
          <p:cNvPr id="736" name="Google Shape;736;p57"/>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737" name="Google Shape;737;p57"/>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738" name="Google Shape;738;p57"/>
          <p:cNvSpPr txBox="1"/>
          <p:nvPr/>
        </p:nvSpPr>
        <p:spPr>
          <a:xfrm>
            <a:off x="1041600" y="1272750"/>
            <a:ext cx="78585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access to mental health providers the most influential in model’s explanatory power, highlighting approach for housing intervention</a:t>
            </a:r>
            <a:endParaRPr b="1" sz="1900">
              <a:solidFill>
                <a:schemeClr val="lt1"/>
              </a:solidFill>
              <a:latin typeface="Roboto"/>
              <a:ea typeface="Roboto"/>
              <a:cs typeface="Roboto"/>
              <a:sym typeface="Roboto"/>
            </a:endParaRPr>
          </a:p>
        </p:txBody>
      </p:sp>
      <p:sp>
        <p:nvSpPr>
          <p:cNvPr id="739" name="Google Shape;739;p57"/>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40" name="Google Shape;740;p57"/>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1" name="Google Shape;741;p57"/>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742" name="Google Shape;742;p57"/>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743" name="Google Shape;743;p57"/>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744" name="Google Shape;744;p57"/>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pSp>
        <p:nvGrpSpPr>
          <p:cNvPr id="745" name="Google Shape;745;p57"/>
          <p:cNvGrpSpPr/>
          <p:nvPr/>
        </p:nvGrpSpPr>
        <p:grpSpPr>
          <a:xfrm>
            <a:off x="2296386" y="2201409"/>
            <a:ext cx="5008427" cy="2827798"/>
            <a:chOff x="2026462" y="1896600"/>
            <a:chExt cx="5548275" cy="3132600"/>
          </a:xfrm>
        </p:grpSpPr>
        <p:pic>
          <p:nvPicPr>
            <p:cNvPr id="746" name="Google Shape;746;p57"/>
            <p:cNvPicPr preferRelativeResize="0"/>
            <p:nvPr/>
          </p:nvPicPr>
          <p:blipFill rotWithShape="1">
            <a:blip r:embed="rId3">
              <a:alphaModFix/>
            </a:blip>
            <a:srcRect b="0" l="12603" r="0" t="0"/>
            <a:stretch/>
          </p:blipFill>
          <p:spPr>
            <a:xfrm>
              <a:off x="2302837" y="1896600"/>
              <a:ext cx="5271900" cy="3132600"/>
            </a:xfrm>
            <a:prstGeom prst="roundRect">
              <a:avLst>
                <a:gd fmla="val 16667" name="adj"/>
              </a:avLst>
            </a:prstGeom>
            <a:noFill/>
            <a:ln>
              <a:noFill/>
            </a:ln>
          </p:spPr>
        </p:pic>
        <p:pic>
          <p:nvPicPr>
            <p:cNvPr id="747" name="Google Shape;747;p57"/>
            <p:cNvPicPr preferRelativeResize="0"/>
            <p:nvPr/>
          </p:nvPicPr>
          <p:blipFill rotWithShape="1">
            <a:blip r:embed="rId3">
              <a:alphaModFix/>
            </a:blip>
            <a:srcRect b="0" l="0" r="78266" t="0"/>
            <a:stretch/>
          </p:blipFill>
          <p:spPr>
            <a:xfrm>
              <a:off x="2026462" y="1896600"/>
              <a:ext cx="1311000" cy="3132600"/>
            </a:xfrm>
            <a:prstGeom prst="roundRect">
              <a:avLst>
                <a:gd fmla="val 16667" name="adj"/>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751" name="Shape 751"/>
        <p:cNvGrpSpPr/>
        <p:nvPr/>
      </p:nvGrpSpPr>
      <p:grpSpPr>
        <a:xfrm>
          <a:off x="0" y="0"/>
          <a:ext cx="0" cy="0"/>
          <a:chOff x="0" y="0"/>
          <a:chExt cx="0" cy="0"/>
        </a:xfrm>
      </p:grpSpPr>
      <p:sp>
        <p:nvSpPr>
          <p:cNvPr id="752" name="Google Shape;752;p58"/>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53" name="Google Shape;753;p58"/>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4" name="Google Shape;754;p58"/>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755" name="Google Shape;755;p58"/>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756" name="Google Shape;756;p58"/>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future dev</a:t>
            </a:r>
            <a:endParaRPr sz="7200">
              <a:solidFill>
                <a:srgbClr val="B45F06"/>
              </a:solidFill>
            </a:endParaRPr>
          </a:p>
        </p:txBody>
      </p:sp>
      <p:sp>
        <p:nvSpPr>
          <p:cNvPr id="757" name="Google Shape;757;p58"/>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758" name="Google Shape;758;p58"/>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759" name="Google Shape;759;p58"/>
          <p:cNvSpPr txBox="1"/>
          <p:nvPr/>
        </p:nvSpPr>
        <p:spPr>
          <a:xfrm>
            <a:off x="1041600" y="1272750"/>
            <a:ext cx="78585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complex, nonlinear interactions can be explored with a range of advanced statistical and ML methods</a:t>
            </a:r>
            <a:endParaRPr b="1" sz="1900">
              <a:solidFill>
                <a:schemeClr val="lt1"/>
              </a:solidFill>
              <a:latin typeface="Roboto"/>
              <a:ea typeface="Roboto"/>
              <a:cs typeface="Roboto"/>
              <a:sym typeface="Roboto"/>
            </a:endParaRPr>
          </a:p>
        </p:txBody>
      </p:sp>
      <p:sp>
        <p:nvSpPr>
          <p:cNvPr id="760" name="Google Shape;760;p58"/>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61" name="Google Shape;761;p58"/>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2" name="Google Shape;762;p58"/>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763" name="Google Shape;763;p58"/>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764" name="Google Shape;764;p58"/>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765" name="Google Shape;765;p58"/>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pSp>
        <p:nvGrpSpPr>
          <p:cNvPr id="766" name="Google Shape;766;p58"/>
          <p:cNvGrpSpPr/>
          <p:nvPr/>
        </p:nvGrpSpPr>
        <p:grpSpPr>
          <a:xfrm>
            <a:off x="1150255" y="2245953"/>
            <a:ext cx="7641190" cy="2249984"/>
            <a:chOff x="2044650" y="1366494"/>
            <a:chExt cx="5054700" cy="1719908"/>
          </a:xfrm>
        </p:grpSpPr>
        <p:sp>
          <p:nvSpPr>
            <p:cNvPr id="767" name="Google Shape;767;p58"/>
            <p:cNvSpPr/>
            <p:nvPr/>
          </p:nvSpPr>
          <p:spPr>
            <a:xfrm>
              <a:off x="2117762" y="2797454"/>
              <a:ext cx="239202" cy="239196"/>
            </a:xfrm>
            <a:custGeom>
              <a:rect b="b" l="l" r="r" t="t"/>
              <a:pathLst>
                <a:path extrusionOk="0" h="90008" w="90010">
                  <a:moveTo>
                    <a:pt x="44145" y="0"/>
                  </a:moveTo>
                  <a:lnTo>
                    <a:pt x="43255" y="59"/>
                  </a:lnTo>
                  <a:lnTo>
                    <a:pt x="42365" y="178"/>
                  </a:lnTo>
                  <a:lnTo>
                    <a:pt x="41534" y="356"/>
                  </a:lnTo>
                  <a:lnTo>
                    <a:pt x="40644" y="534"/>
                  </a:lnTo>
                  <a:lnTo>
                    <a:pt x="39814" y="771"/>
                  </a:lnTo>
                  <a:lnTo>
                    <a:pt x="38983" y="1009"/>
                  </a:lnTo>
                  <a:lnTo>
                    <a:pt x="38152" y="1365"/>
                  </a:lnTo>
                  <a:lnTo>
                    <a:pt x="37322" y="1721"/>
                  </a:lnTo>
                  <a:lnTo>
                    <a:pt x="36491" y="2077"/>
                  </a:lnTo>
                  <a:lnTo>
                    <a:pt x="35720" y="2551"/>
                  </a:lnTo>
                  <a:lnTo>
                    <a:pt x="34948" y="3026"/>
                  </a:lnTo>
                  <a:lnTo>
                    <a:pt x="34177" y="3560"/>
                  </a:lnTo>
                  <a:lnTo>
                    <a:pt x="33465" y="4094"/>
                  </a:lnTo>
                  <a:lnTo>
                    <a:pt x="32753" y="4687"/>
                  </a:lnTo>
                  <a:lnTo>
                    <a:pt x="32041" y="5340"/>
                  </a:lnTo>
                  <a:lnTo>
                    <a:pt x="5400" y="32040"/>
                  </a:lnTo>
                  <a:lnTo>
                    <a:pt x="4748" y="32752"/>
                  </a:lnTo>
                  <a:lnTo>
                    <a:pt x="4095" y="33464"/>
                  </a:lnTo>
                  <a:lnTo>
                    <a:pt x="3561" y="34176"/>
                  </a:lnTo>
                  <a:lnTo>
                    <a:pt x="3027" y="34947"/>
                  </a:lnTo>
                  <a:lnTo>
                    <a:pt x="2552" y="35718"/>
                  </a:lnTo>
                  <a:lnTo>
                    <a:pt x="2137" y="36490"/>
                  </a:lnTo>
                  <a:lnTo>
                    <a:pt x="1722" y="37261"/>
                  </a:lnTo>
                  <a:lnTo>
                    <a:pt x="1366" y="38092"/>
                  </a:lnTo>
                  <a:lnTo>
                    <a:pt x="1069" y="38922"/>
                  </a:lnTo>
                  <a:lnTo>
                    <a:pt x="772" y="39812"/>
                  </a:lnTo>
                  <a:lnTo>
                    <a:pt x="535" y="40643"/>
                  </a:lnTo>
                  <a:lnTo>
                    <a:pt x="357" y="41533"/>
                  </a:lnTo>
                  <a:lnTo>
                    <a:pt x="179" y="42364"/>
                  </a:lnTo>
                  <a:lnTo>
                    <a:pt x="120" y="43254"/>
                  </a:lnTo>
                  <a:lnTo>
                    <a:pt x="60" y="44144"/>
                  </a:lnTo>
                  <a:lnTo>
                    <a:pt x="1" y="45034"/>
                  </a:lnTo>
                  <a:lnTo>
                    <a:pt x="60" y="45864"/>
                  </a:lnTo>
                  <a:lnTo>
                    <a:pt x="120" y="46754"/>
                  </a:lnTo>
                  <a:lnTo>
                    <a:pt x="179" y="47644"/>
                  </a:lnTo>
                  <a:lnTo>
                    <a:pt x="357" y="48534"/>
                  </a:lnTo>
                  <a:lnTo>
                    <a:pt x="535" y="49365"/>
                  </a:lnTo>
                  <a:lnTo>
                    <a:pt x="772" y="50196"/>
                  </a:lnTo>
                  <a:lnTo>
                    <a:pt x="1069" y="51086"/>
                  </a:lnTo>
                  <a:lnTo>
                    <a:pt x="1366" y="51916"/>
                  </a:lnTo>
                  <a:lnTo>
                    <a:pt x="1722" y="52747"/>
                  </a:lnTo>
                  <a:lnTo>
                    <a:pt x="2137" y="53518"/>
                  </a:lnTo>
                  <a:lnTo>
                    <a:pt x="2552" y="54290"/>
                  </a:lnTo>
                  <a:lnTo>
                    <a:pt x="3027" y="55061"/>
                  </a:lnTo>
                  <a:lnTo>
                    <a:pt x="3561" y="55832"/>
                  </a:lnTo>
                  <a:lnTo>
                    <a:pt x="4095" y="56544"/>
                  </a:lnTo>
                  <a:lnTo>
                    <a:pt x="4748" y="57256"/>
                  </a:lnTo>
                  <a:lnTo>
                    <a:pt x="5400" y="57968"/>
                  </a:lnTo>
                  <a:lnTo>
                    <a:pt x="32041" y="84668"/>
                  </a:lnTo>
                  <a:lnTo>
                    <a:pt x="32753" y="85321"/>
                  </a:lnTo>
                  <a:lnTo>
                    <a:pt x="33465" y="85914"/>
                  </a:lnTo>
                  <a:lnTo>
                    <a:pt x="34177" y="86448"/>
                  </a:lnTo>
                  <a:lnTo>
                    <a:pt x="34948" y="86982"/>
                  </a:lnTo>
                  <a:lnTo>
                    <a:pt x="35720" y="87457"/>
                  </a:lnTo>
                  <a:lnTo>
                    <a:pt x="36491" y="87931"/>
                  </a:lnTo>
                  <a:lnTo>
                    <a:pt x="37322" y="88287"/>
                  </a:lnTo>
                  <a:lnTo>
                    <a:pt x="38152" y="88643"/>
                  </a:lnTo>
                  <a:lnTo>
                    <a:pt x="38983" y="88999"/>
                  </a:lnTo>
                  <a:lnTo>
                    <a:pt x="39814" y="89237"/>
                  </a:lnTo>
                  <a:lnTo>
                    <a:pt x="40644" y="89474"/>
                  </a:lnTo>
                  <a:lnTo>
                    <a:pt x="41534" y="89652"/>
                  </a:lnTo>
                  <a:lnTo>
                    <a:pt x="42365" y="89830"/>
                  </a:lnTo>
                  <a:lnTo>
                    <a:pt x="43255" y="89949"/>
                  </a:lnTo>
                  <a:lnTo>
                    <a:pt x="44145" y="90008"/>
                  </a:lnTo>
                  <a:lnTo>
                    <a:pt x="45925" y="90008"/>
                  </a:lnTo>
                  <a:lnTo>
                    <a:pt x="46756" y="89949"/>
                  </a:lnTo>
                  <a:lnTo>
                    <a:pt x="47646" y="89830"/>
                  </a:lnTo>
                  <a:lnTo>
                    <a:pt x="48536" y="89652"/>
                  </a:lnTo>
                  <a:lnTo>
                    <a:pt x="49366" y="89474"/>
                  </a:lnTo>
                  <a:lnTo>
                    <a:pt x="50256" y="89237"/>
                  </a:lnTo>
                  <a:lnTo>
                    <a:pt x="51087" y="88999"/>
                  </a:lnTo>
                  <a:lnTo>
                    <a:pt x="51918" y="88643"/>
                  </a:lnTo>
                  <a:lnTo>
                    <a:pt x="52748" y="88287"/>
                  </a:lnTo>
                  <a:lnTo>
                    <a:pt x="53520" y="87931"/>
                  </a:lnTo>
                  <a:lnTo>
                    <a:pt x="54350" y="87457"/>
                  </a:lnTo>
                  <a:lnTo>
                    <a:pt x="55122" y="86982"/>
                  </a:lnTo>
                  <a:lnTo>
                    <a:pt x="55834" y="86448"/>
                  </a:lnTo>
                  <a:lnTo>
                    <a:pt x="56605" y="85914"/>
                  </a:lnTo>
                  <a:lnTo>
                    <a:pt x="57317" y="85321"/>
                  </a:lnTo>
                  <a:lnTo>
                    <a:pt x="57970" y="84668"/>
                  </a:lnTo>
                  <a:lnTo>
                    <a:pt x="84670" y="57968"/>
                  </a:lnTo>
                  <a:lnTo>
                    <a:pt x="85322" y="57256"/>
                  </a:lnTo>
                  <a:lnTo>
                    <a:pt x="85916" y="56544"/>
                  </a:lnTo>
                  <a:lnTo>
                    <a:pt x="86509" y="55832"/>
                  </a:lnTo>
                  <a:lnTo>
                    <a:pt x="87043" y="55061"/>
                  </a:lnTo>
                  <a:lnTo>
                    <a:pt x="87518" y="54290"/>
                  </a:lnTo>
                  <a:lnTo>
                    <a:pt x="87933" y="53518"/>
                  </a:lnTo>
                  <a:lnTo>
                    <a:pt x="88348" y="52747"/>
                  </a:lnTo>
                  <a:lnTo>
                    <a:pt x="88704" y="51916"/>
                  </a:lnTo>
                  <a:lnTo>
                    <a:pt x="89001" y="51086"/>
                  </a:lnTo>
                  <a:lnTo>
                    <a:pt x="89298" y="50196"/>
                  </a:lnTo>
                  <a:lnTo>
                    <a:pt x="89535" y="49365"/>
                  </a:lnTo>
                  <a:lnTo>
                    <a:pt x="89713" y="48534"/>
                  </a:lnTo>
                  <a:lnTo>
                    <a:pt x="89832" y="47644"/>
                  </a:lnTo>
                  <a:lnTo>
                    <a:pt x="89950" y="46754"/>
                  </a:lnTo>
                  <a:lnTo>
                    <a:pt x="90010" y="45864"/>
                  </a:lnTo>
                  <a:lnTo>
                    <a:pt x="90010" y="45034"/>
                  </a:lnTo>
                  <a:lnTo>
                    <a:pt x="90010" y="44144"/>
                  </a:lnTo>
                  <a:lnTo>
                    <a:pt x="89950" y="43254"/>
                  </a:lnTo>
                  <a:lnTo>
                    <a:pt x="89832" y="42364"/>
                  </a:lnTo>
                  <a:lnTo>
                    <a:pt x="89713" y="41533"/>
                  </a:lnTo>
                  <a:lnTo>
                    <a:pt x="89535" y="40643"/>
                  </a:lnTo>
                  <a:lnTo>
                    <a:pt x="89298" y="39812"/>
                  </a:lnTo>
                  <a:lnTo>
                    <a:pt x="89001" y="38922"/>
                  </a:lnTo>
                  <a:lnTo>
                    <a:pt x="88704" y="38092"/>
                  </a:lnTo>
                  <a:lnTo>
                    <a:pt x="88348" y="37261"/>
                  </a:lnTo>
                  <a:lnTo>
                    <a:pt x="87933" y="36490"/>
                  </a:lnTo>
                  <a:lnTo>
                    <a:pt x="87518" y="35718"/>
                  </a:lnTo>
                  <a:lnTo>
                    <a:pt x="87043" y="34947"/>
                  </a:lnTo>
                  <a:lnTo>
                    <a:pt x="86509" y="34176"/>
                  </a:lnTo>
                  <a:lnTo>
                    <a:pt x="85916" y="33464"/>
                  </a:lnTo>
                  <a:lnTo>
                    <a:pt x="85322" y="32752"/>
                  </a:lnTo>
                  <a:lnTo>
                    <a:pt x="84670" y="32040"/>
                  </a:lnTo>
                  <a:lnTo>
                    <a:pt x="57970" y="5340"/>
                  </a:lnTo>
                  <a:lnTo>
                    <a:pt x="57317" y="4687"/>
                  </a:lnTo>
                  <a:lnTo>
                    <a:pt x="56605" y="4094"/>
                  </a:lnTo>
                  <a:lnTo>
                    <a:pt x="55834" y="3560"/>
                  </a:lnTo>
                  <a:lnTo>
                    <a:pt x="55122" y="3026"/>
                  </a:lnTo>
                  <a:lnTo>
                    <a:pt x="54350" y="2551"/>
                  </a:lnTo>
                  <a:lnTo>
                    <a:pt x="53520" y="2077"/>
                  </a:lnTo>
                  <a:lnTo>
                    <a:pt x="52748" y="1721"/>
                  </a:lnTo>
                  <a:lnTo>
                    <a:pt x="51918" y="1365"/>
                  </a:lnTo>
                  <a:lnTo>
                    <a:pt x="51087" y="1009"/>
                  </a:lnTo>
                  <a:lnTo>
                    <a:pt x="50256" y="771"/>
                  </a:lnTo>
                  <a:lnTo>
                    <a:pt x="49366" y="534"/>
                  </a:lnTo>
                  <a:lnTo>
                    <a:pt x="48536" y="356"/>
                  </a:lnTo>
                  <a:lnTo>
                    <a:pt x="47646" y="178"/>
                  </a:lnTo>
                  <a:lnTo>
                    <a:pt x="46756" y="59"/>
                  </a:lnTo>
                  <a:lnTo>
                    <a:pt x="45925" y="0"/>
                  </a:lnTo>
                  <a:close/>
                </a:path>
              </a:pathLst>
            </a:custGeom>
            <a:solidFill>
              <a:srgbClr val="FD7754"/>
            </a:solidFill>
            <a:ln>
              <a:noFill/>
            </a:ln>
          </p:spPr>
          <p:txBody>
            <a:bodyPr anchorCtr="0" anchor="ctr" bIns="119600" lIns="119600" spcFirstLastPara="1" rIns="119600" wrap="square" tIns="119600">
              <a:noAutofit/>
            </a:bodyPr>
            <a:lstStyle/>
            <a:p>
              <a:pPr indent="0" lvl="0" marL="0" rtl="0" algn="l">
                <a:spcBef>
                  <a:spcPts val="0"/>
                </a:spcBef>
                <a:spcAft>
                  <a:spcPts val="0"/>
                </a:spcAft>
                <a:buNone/>
              </a:pPr>
              <a:r>
                <a:t/>
              </a:r>
              <a:endParaRPr sz="1832">
                <a:latin typeface="Red Hat Display"/>
                <a:ea typeface="Red Hat Display"/>
                <a:cs typeface="Red Hat Display"/>
                <a:sym typeface="Red Hat Display"/>
              </a:endParaRPr>
            </a:p>
          </p:txBody>
        </p:sp>
        <p:sp>
          <p:nvSpPr>
            <p:cNvPr id="768" name="Google Shape;768;p58"/>
            <p:cNvSpPr/>
            <p:nvPr/>
          </p:nvSpPr>
          <p:spPr>
            <a:xfrm>
              <a:off x="2117749" y="2106877"/>
              <a:ext cx="239139" cy="239142"/>
            </a:xfrm>
            <a:custGeom>
              <a:rect b="b" l="l" r="r" t="t"/>
              <a:pathLst>
                <a:path extrusionOk="0" h="82534" w="82533">
                  <a:moveTo>
                    <a:pt x="41237" y="1"/>
                  </a:moveTo>
                  <a:lnTo>
                    <a:pt x="40525" y="60"/>
                  </a:lnTo>
                  <a:lnTo>
                    <a:pt x="39872" y="179"/>
                  </a:lnTo>
                  <a:lnTo>
                    <a:pt x="39160" y="357"/>
                  </a:lnTo>
                  <a:lnTo>
                    <a:pt x="38508" y="594"/>
                  </a:lnTo>
                  <a:lnTo>
                    <a:pt x="32337" y="3502"/>
                  </a:lnTo>
                  <a:lnTo>
                    <a:pt x="31803" y="3739"/>
                  </a:lnTo>
                  <a:lnTo>
                    <a:pt x="31269" y="3917"/>
                  </a:lnTo>
                  <a:lnTo>
                    <a:pt x="30676" y="4036"/>
                  </a:lnTo>
                  <a:lnTo>
                    <a:pt x="30142" y="4095"/>
                  </a:lnTo>
                  <a:lnTo>
                    <a:pt x="23318" y="4688"/>
                  </a:lnTo>
                  <a:lnTo>
                    <a:pt x="22606" y="4807"/>
                  </a:lnTo>
                  <a:lnTo>
                    <a:pt x="21894" y="4985"/>
                  </a:lnTo>
                  <a:lnTo>
                    <a:pt x="21242" y="5222"/>
                  </a:lnTo>
                  <a:lnTo>
                    <a:pt x="20648" y="5519"/>
                  </a:lnTo>
                  <a:lnTo>
                    <a:pt x="20055" y="5934"/>
                  </a:lnTo>
                  <a:lnTo>
                    <a:pt x="19521" y="6350"/>
                  </a:lnTo>
                  <a:lnTo>
                    <a:pt x="18987" y="6884"/>
                  </a:lnTo>
                  <a:lnTo>
                    <a:pt x="18572" y="7418"/>
                  </a:lnTo>
                  <a:lnTo>
                    <a:pt x="14656" y="13054"/>
                  </a:lnTo>
                  <a:lnTo>
                    <a:pt x="14300" y="13529"/>
                  </a:lnTo>
                  <a:lnTo>
                    <a:pt x="13884" y="13944"/>
                  </a:lnTo>
                  <a:lnTo>
                    <a:pt x="13469" y="14300"/>
                  </a:lnTo>
                  <a:lnTo>
                    <a:pt x="13054" y="14656"/>
                  </a:lnTo>
                  <a:lnTo>
                    <a:pt x="7417" y="18572"/>
                  </a:lnTo>
                  <a:lnTo>
                    <a:pt x="6883" y="18988"/>
                  </a:lnTo>
                  <a:lnTo>
                    <a:pt x="6349" y="19521"/>
                  </a:lnTo>
                  <a:lnTo>
                    <a:pt x="5933" y="20055"/>
                  </a:lnTo>
                  <a:lnTo>
                    <a:pt x="5518" y="20649"/>
                  </a:lnTo>
                  <a:lnTo>
                    <a:pt x="5221" y="21242"/>
                  </a:lnTo>
                  <a:lnTo>
                    <a:pt x="4984" y="21954"/>
                  </a:lnTo>
                  <a:lnTo>
                    <a:pt x="4806" y="22607"/>
                  </a:lnTo>
                  <a:lnTo>
                    <a:pt x="4687" y="23319"/>
                  </a:lnTo>
                  <a:lnTo>
                    <a:pt x="4094" y="30142"/>
                  </a:lnTo>
                  <a:lnTo>
                    <a:pt x="4035" y="30735"/>
                  </a:lnTo>
                  <a:lnTo>
                    <a:pt x="3916" y="31269"/>
                  </a:lnTo>
                  <a:lnTo>
                    <a:pt x="3738" y="31803"/>
                  </a:lnTo>
                  <a:lnTo>
                    <a:pt x="3501" y="32337"/>
                  </a:lnTo>
                  <a:lnTo>
                    <a:pt x="593" y="38508"/>
                  </a:lnTo>
                  <a:lnTo>
                    <a:pt x="356" y="39220"/>
                  </a:lnTo>
                  <a:lnTo>
                    <a:pt x="178" y="39873"/>
                  </a:lnTo>
                  <a:lnTo>
                    <a:pt x="59" y="40585"/>
                  </a:lnTo>
                  <a:lnTo>
                    <a:pt x="0" y="41297"/>
                  </a:lnTo>
                  <a:lnTo>
                    <a:pt x="59" y="41949"/>
                  </a:lnTo>
                  <a:lnTo>
                    <a:pt x="178" y="42661"/>
                  </a:lnTo>
                  <a:lnTo>
                    <a:pt x="356" y="43373"/>
                  </a:lnTo>
                  <a:lnTo>
                    <a:pt x="593" y="44026"/>
                  </a:lnTo>
                  <a:lnTo>
                    <a:pt x="3501" y="50197"/>
                  </a:lnTo>
                  <a:lnTo>
                    <a:pt x="3738" y="50731"/>
                  </a:lnTo>
                  <a:lnTo>
                    <a:pt x="3916" y="51265"/>
                  </a:lnTo>
                  <a:lnTo>
                    <a:pt x="4035" y="51858"/>
                  </a:lnTo>
                  <a:lnTo>
                    <a:pt x="4094" y="52392"/>
                  </a:lnTo>
                  <a:lnTo>
                    <a:pt x="4687" y="59215"/>
                  </a:lnTo>
                  <a:lnTo>
                    <a:pt x="4806" y="59927"/>
                  </a:lnTo>
                  <a:lnTo>
                    <a:pt x="4984" y="60639"/>
                  </a:lnTo>
                  <a:lnTo>
                    <a:pt x="5221" y="61292"/>
                  </a:lnTo>
                  <a:lnTo>
                    <a:pt x="5518" y="61885"/>
                  </a:lnTo>
                  <a:lnTo>
                    <a:pt x="5933" y="62479"/>
                  </a:lnTo>
                  <a:lnTo>
                    <a:pt x="6349" y="63013"/>
                  </a:lnTo>
                  <a:lnTo>
                    <a:pt x="6883" y="63547"/>
                  </a:lnTo>
                  <a:lnTo>
                    <a:pt x="7417" y="63962"/>
                  </a:lnTo>
                  <a:lnTo>
                    <a:pt x="13054" y="67878"/>
                  </a:lnTo>
                  <a:lnTo>
                    <a:pt x="13469" y="68234"/>
                  </a:lnTo>
                  <a:lnTo>
                    <a:pt x="13884" y="68590"/>
                  </a:lnTo>
                  <a:lnTo>
                    <a:pt x="14300" y="69005"/>
                  </a:lnTo>
                  <a:lnTo>
                    <a:pt x="14656" y="69480"/>
                  </a:lnTo>
                  <a:lnTo>
                    <a:pt x="18572" y="75116"/>
                  </a:lnTo>
                  <a:lnTo>
                    <a:pt x="18987" y="75650"/>
                  </a:lnTo>
                  <a:lnTo>
                    <a:pt x="19521" y="76184"/>
                  </a:lnTo>
                  <a:lnTo>
                    <a:pt x="20055" y="76600"/>
                  </a:lnTo>
                  <a:lnTo>
                    <a:pt x="20648" y="77015"/>
                  </a:lnTo>
                  <a:lnTo>
                    <a:pt x="21242" y="77312"/>
                  </a:lnTo>
                  <a:lnTo>
                    <a:pt x="21894" y="77549"/>
                  </a:lnTo>
                  <a:lnTo>
                    <a:pt x="22606" y="77727"/>
                  </a:lnTo>
                  <a:lnTo>
                    <a:pt x="23318" y="77846"/>
                  </a:lnTo>
                  <a:lnTo>
                    <a:pt x="30142" y="78439"/>
                  </a:lnTo>
                  <a:lnTo>
                    <a:pt x="30676" y="78498"/>
                  </a:lnTo>
                  <a:lnTo>
                    <a:pt x="31269" y="78617"/>
                  </a:lnTo>
                  <a:lnTo>
                    <a:pt x="31803" y="78795"/>
                  </a:lnTo>
                  <a:lnTo>
                    <a:pt x="32337" y="79032"/>
                  </a:lnTo>
                  <a:lnTo>
                    <a:pt x="38508" y="81940"/>
                  </a:lnTo>
                  <a:lnTo>
                    <a:pt x="39160" y="82177"/>
                  </a:lnTo>
                  <a:lnTo>
                    <a:pt x="39872" y="82355"/>
                  </a:lnTo>
                  <a:lnTo>
                    <a:pt x="40525" y="82474"/>
                  </a:lnTo>
                  <a:lnTo>
                    <a:pt x="41237" y="82533"/>
                  </a:lnTo>
                  <a:lnTo>
                    <a:pt x="41949" y="82474"/>
                  </a:lnTo>
                  <a:lnTo>
                    <a:pt x="42661" y="82355"/>
                  </a:lnTo>
                  <a:lnTo>
                    <a:pt x="43314" y="82177"/>
                  </a:lnTo>
                  <a:lnTo>
                    <a:pt x="43966" y="81940"/>
                  </a:lnTo>
                  <a:lnTo>
                    <a:pt x="50196" y="79032"/>
                  </a:lnTo>
                  <a:lnTo>
                    <a:pt x="50730" y="78795"/>
                  </a:lnTo>
                  <a:lnTo>
                    <a:pt x="51264" y="78617"/>
                  </a:lnTo>
                  <a:lnTo>
                    <a:pt x="51798" y="78498"/>
                  </a:lnTo>
                  <a:lnTo>
                    <a:pt x="52392" y="78439"/>
                  </a:lnTo>
                  <a:lnTo>
                    <a:pt x="59215" y="77846"/>
                  </a:lnTo>
                  <a:lnTo>
                    <a:pt x="59927" y="77727"/>
                  </a:lnTo>
                  <a:lnTo>
                    <a:pt x="60580" y="77549"/>
                  </a:lnTo>
                  <a:lnTo>
                    <a:pt x="61232" y="77312"/>
                  </a:lnTo>
                  <a:lnTo>
                    <a:pt x="61885" y="77015"/>
                  </a:lnTo>
                  <a:lnTo>
                    <a:pt x="62478" y="76600"/>
                  </a:lnTo>
                  <a:lnTo>
                    <a:pt x="63012" y="76184"/>
                  </a:lnTo>
                  <a:lnTo>
                    <a:pt x="63487" y="75650"/>
                  </a:lnTo>
                  <a:lnTo>
                    <a:pt x="63962" y="75116"/>
                  </a:lnTo>
                  <a:lnTo>
                    <a:pt x="67878" y="69480"/>
                  </a:lnTo>
                  <a:lnTo>
                    <a:pt x="68234" y="69005"/>
                  </a:lnTo>
                  <a:lnTo>
                    <a:pt x="68590" y="68590"/>
                  </a:lnTo>
                  <a:lnTo>
                    <a:pt x="69005" y="68234"/>
                  </a:lnTo>
                  <a:lnTo>
                    <a:pt x="69480" y="67878"/>
                  </a:lnTo>
                  <a:lnTo>
                    <a:pt x="75057" y="63962"/>
                  </a:lnTo>
                  <a:lnTo>
                    <a:pt x="75650" y="63547"/>
                  </a:lnTo>
                  <a:lnTo>
                    <a:pt x="76125" y="63013"/>
                  </a:lnTo>
                  <a:lnTo>
                    <a:pt x="76600" y="62479"/>
                  </a:lnTo>
                  <a:lnTo>
                    <a:pt x="76956" y="61885"/>
                  </a:lnTo>
                  <a:lnTo>
                    <a:pt x="77312" y="61292"/>
                  </a:lnTo>
                  <a:lnTo>
                    <a:pt x="77549" y="60639"/>
                  </a:lnTo>
                  <a:lnTo>
                    <a:pt x="77727" y="59927"/>
                  </a:lnTo>
                  <a:lnTo>
                    <a:pt x="77846" y="59215"/>
                  </a:lnTo>
                  <a:lnTo>
                    <a:pt x="78439" y="52392"/>
                  </a:lnTo>
                  <a:lnTo>
                    <a:pt x="78498" y="51858"/>
                  </a:lnTo>
                  <a:lnTo>
                    <a:pt x="78617" y="51265"/>
                  </a:lnTo>
                  <a:lnTo>
                    <a:pt x="78795" y="50731"/>
                  </a:lnTo>
                  <a:lnTo>
                    <a:pt x="78973" y="50197"/>
                  </a:lnTo>
                  <a:lnTo>
                    <a:pt x="81880" y="44026"/>
                  </a:lnTo>
                  <a:lnTo>
                    <a:pt x="82177" y="43373"/>
                  </a:lnTo>
                  <a:lnTo>
                    <a:pt x="82355" y="42661"/>
                  </a:lnTo>
                  <a:lnTo>
                    <a:pt x="82474" y="41949"/>
                  </a:lnTo>
                  <a:lnTo>
                    <a:pt x="82533" y="41297"/>
                  </a:lnTo>
                  <a:lnTo>
                    <a:pt x="82474" y="40585"/>
                  </a:lnTo>
                  <a:lnTo>
                    <a:pt x="82355" y="39873"/>
                  </a:lnTo>
                  <a:lnTo>
                    <a:pt x="82177" y="39220"/>
                  </a:lnTo>
                  <a:lnTo>
                    <a:pt x="81880" y="38508"/>
                  </a:lnTo>
                  <a:lnTo>
                    <a:pt x="78973" y="32337"/>
                  </a:lnTo>
                  <a:lnTo>
                    <a:pt x="78795" y="31803"/>
                  </a:lnTo>
                  <a:lnTo>
                    <a:pt x="78617" y="31269"/>
                  </a:lnTo>
                  <a:lnTo>
                    <a:pt x="78498" y="30735"/>
                  </a:lnTo>
                  <a:lnTo>
                    <a:pt x="78439" y="30142"/>
                  </a:lnTo>
                  <a:lnTo>
                    <a:pt x="77846" y="23319"/>
                  </a:lnTo>
                  <a:lnTo>
                    <a:pt x="77727" y="22607"/>
                  </a:lnTo>
                  <a:lnTo>
                    <a:pt x="77549" y="21954"/>
                  </a:lnTo>
                  <a:lnTo>
                    <a:pt x="77312" y="21242"/>
                  </a:lnTo>
                  <a:lnTo>
                    <a:pt x="76956" y="20649"/>
                  </a:lnTo>
                  <a:lnTo>
                    <a:pt x="76600" y="20055"/>
                  </a:lnTo>
                  <a:lnTo>
                    <a:pt x="76125" y="19521"/>
                  </a:lnTo>
                  <a:lnTo>
                    <a:pt x="75650" y="18988"/>
                  </a:lnTo>
                  <a:lnTo>
                    <a:pt x="75057" y="18572"/>
                  </a:lnTo>
                  <a:lnTo>
                    <a:pt x="69480" y="14656"/>
                  </a:lnTo>
                  <a:lnTo>
                    <a:pt x="69005" y="14300"/>
                  </a:lnTo>
                  <a:lnTo>
                    <a:pt x="68590" y="13944"/>
                  </a:lnTo>
                  <a:lnTo>
                    <a:pt x="68234" y="13529"/>
                  </a:lnTo>
                  <a:lnTo>
                    <a:pt x="67878" y="13054"/>
                  </a:lnTo>
                  <a:lnTo>
                    <a:pt x="63962" y="7418"/>
                  </a:lnTo>
                  <a:lnTo>
                    <a:pt x="63487" y="6884"/>
                  </a:lnTo>
                  <a:lnTo>
                    <a:pt x="63012" y="6350"/>
                  </a:lnTo>
                  <a:lnTo>
                    <a:pt x="62478" y="5934"/>
                  </a:lnTo>
                  <a:lnTo>
                    <a:pt x="61885" y="5519"/>
                  </a:lnTo>
                  <a:lnTo>
                    <a:pt x="61232" y="5222"/>
                  </a:lnTo>
                  <a:lnTo>
                    <a:pt x="60580" y="4985"/>
                  </a:lnTo>
                  <a:lnTo>
                    <a:pt x="59927" y="4807"/>
                  </a:lnTo>
                  <a:lnTo>
                    <a:pt x="59215" y="4688"/>
                  </a:lnTo>
                  <a:lnTo>
                    <a:pt x="52392" y="4095"/>
                  </a:lnTo>
                  <a:lnTo>
                    <a:pt x="51798" y="4036"/>
                  </a:lnTo>
                  <a:lnTo>
                    <a:pt x="51264" y="3917"/>
                  </a:lnTo>
                  <a:lnTo>
                    <a:pt x="50730" y="3739"/>
                  </a:lnTo>
                  <a:lnTo>
                    <a:pt x="50196" y="3502"/>
                  </a:lnTo>
                  <a:lnTo>
                    <a:pt x="43966" y="594"/>
                  </a:lnTo>
                  <a:lnTo>
                    <a:pt x="43314" y="357"/>
                  </a:lnTo>
                  <a:lnTo>
                    <a:pt x="42661" y="179"/>
                  </a:lnTo>
                  <a:lnTo>
                    <a:pt x="41949" y="60"/>
                  </a:lnTo>
                  <a:lnTo>
                    <a:pt x="41237" y="1"/>
                  </a:lnTo>
                  <a:close/>
                </a:path>
              </a:pathLst>
            </a:custGeom>
            <a:solidFill>
              <a:srgbClr val="73250B"/>
            </a:solidFill>
            <a:ln>
              <a:noFill/>
            </a:ln>
          </p:spPr>
          <p:txBody>
            <a:bodyPr anchorCtr="0" anchor="ctr" bIns="119600" lIns="119600" spcFirstLastPara="1" rIns="119600" wrap="square" tIns="119600">
              <a:noAutofit/>
            </a:bodyPr>
            <a:lstStyle/>
            <a:p>
              <a:pPr indent="0" lvl="0" marL="0" rtl="0" algn="l">
                <a:spcBef>
                  <a:spcPts val="0"/>
                </a:spcBef>
                <a:spcAft>
                  <a:spcPts val="0"/>
                </a:spcAft>
                <a:buNone/>
              </a:pPr>
              <a:r>
                <a:t/>
              </a:r>
              <a:endParaRPr sz="1832">
                <a:latin typeface="Red Hat Display"/>
                <a:ea typeface="Red Hat Display"/>
                <a:cs typeface="Red Hat Display"/>
                <a:sym typeface="Red Hat Display"/>
              </a:endParaRPr>
            </a:p>
          </p:txBody>
        </p:sp>
        <p:sp>
          <p:nvSpPr>
            <p:cNvPr id="769" name="Google Shape;769;p58"/>
            <p:cNvSpPr txBox="1"/>
            <p:nvPr/>
          </p:nvSpPr>
          <p:spPr>
            <a:xfrm>
              <a:off x="2530100" y="1366494"/>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Cross-validation &amp; normalization of advanced model</a:t>
              </a:r>
              <a:endParaRPr sz="2093">
                <a:solidFill>
                  <a:srgbClr val="202124"/>
                </a:solidFill>
                <a:latin typeface="Red Hat Display SemiBold"/>
                <a:ea typeface="Red Hat Display SemiBold"/>
                <a:cs typeface="Red Hat Display SemiBold"/>
                <a:sym typeface="Red Hat Display SemiBold"/>
              </a:endParaRPr>
            </a:p>
          </p:txBody>
        </p:sp>
        <p:cxnSp>
          <p:nvCxnSpPr>
            <p:cNvPr id="770" name="Google Shape;770;p58"/>
            <p:cNvCxnSpPr/>
            <p:nvPr/>
          </p:nvCxnSpPr>
          <p:spPr>
            <a:xfrm>
              <a:off x="2044650" y="1894196"/>
              <a:ext cx="5054700" cy="0"/>
            </a:xfrm>
            <a:prstGeom prst="straightConnector1">
              <a:avLst/>
            </a:prstGeom>
            <a:noFill/>
            <a:ln cap="flat" cmpd="sng" w="12475">
              <a:solidFill>
                <a:srgbClr val="CCCCCC"/>
              </a:solidFill>
              <a:prstDash val="solid"/>
              <a:round/>
              <a:headEnd len="med" w="med" type="none"/>
              <a:tailEnd len="med" w="med" type="none"/>
            </a:ln>
          </p:spPr>
        </p:cxnSp>
        <p:sp>
          <p:nvSpPr>
            <p:cNvPr id="771" name="Google Shape;771;p58"/>
            <p:cNvSpPr txBox="1"/>
            <p:nvPr/>
          </p:nvSpPr>
          <p:spPr>
            <a:xfrm>
              <a:off x="2530100" y="2057098"/>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Multivariate regression, complex interactions</a:t>
              </a:r>
              <a:endParaRPr sz="2093">
                <a:solidFill>
                  <a:srgbClr val="202124"/>
                </a:solidFill>
                <a:latin typeface="Red Hat Display SemiBold"/>
                <a:ea typeface="Red Hat Display SemiBold"/>
                <a:cs typeface="Red Hat Display SemiBold"/>
                <a:sym typeface="Red Hat Display SemiBold"/>
              </a:endParaRPr>
            </a:p>
          </p:txBody>
        </p:sp>
        <p:cxnSp>
          <p:nvCxnSpPr>
            <p:cNvPr id="772" name="Google Shape;772;p58"/>
            <p:cNvCxnSpPr/>
            <p:nvPr/>
          </p:nvCxnSpPr>
          <p:spPr>
            <a:xfrm>
              <a:off x="2044650" y="2584800"/>
              <a:ext cx="5054700" cy="0"/>
            </a:xfrm>
            <a:prstGeom prst="straightConnector1">
              <a:avLst/>
            </a:prstGeom>
            <a:noFill/>
            <a:ln cap="flat" cmpd="sng" w="12475">
              <a:solidFill>
                <a:srgbClr val="CCCCCC"/>
              </a:solidFill>
              <a:prstDash val="solid"/>
              <a:round/>
              <a:headEnd len="med" w="med" type="none"/>
              <a:tailEnd len="med" w="med" type="none"/>
            </a:ln>
          </p:spPr>
        </p:cxnSp>
        <p:sp>
          <p:nvSpPr>
            <p:cNvPr id="773" name="Google Shape;773;p58"/>
            <p:cNvSpPr txBox="1"/>
            <p:nvPr/>
          </p:nvSpPr>
          <p:spPr>
            <a:xfrm>
              <a:off x="2530100" y="2747702"/>
              <a:ext cx="4420200" cy="338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2093">
                  <a:solidFill>
                    <a:srgbClr val="202124"/>
                  </a:solidFill>
                  <a:latin typeface="Red Hat Display SemiBold"/>
                  <a:ea typeface="Red Hat Display SemiBold"/>
                  <a:cs typeface="Red Hat Display SemiBold"/>
                  <a:sym typeface="Red Hat Display SemiBold"/>
                </a:rPr>
                <a:t>Expand scope with additional demographic variables and neighboring states</a:t>
              </a:r>
              <a:endParaRPr sz="2093">
                <a:solidFill>
                  <a:srgbClr val="202124"/>
                </a:solidFill>
                <a:latin typeface="Red Hat Display SemiBold"/>
                <a:ea typeface="Red Hat Display SemiBold"/>
                <a:cs typeface="Red Hat Display SemiBold"/>
                <a:sym typeface="Red Hat Display SemiBold"/>
              </a:endParaRPr>
            </a:p>
          </p:txBody>
        </p:sp>
        <p:sp>
          <p:nvSpPr>
            <p:cNvPr id="774" name="Google Shape;774;p58"/>
            <p:cNvSpPr/>
            <p:nvPr/>
          </p:nvSpPr>
          <p:spPr>
            <a:xfrm rot="-2985087">
              <a:off x="2112969" y="1452314"/>
              <a:ext cx="248412" cy="167059"/>
            </a:xfrm>
            <a:prstGeom prst="roundRect">
              <a:avLst>
                <a:gd fmla="val 50000" name="adj"/>
              </a:avLst>
            </a:prstGeom>
            <a:solidFill>
              <a:srgbClr val="FE7A92"/>
            </a:solidFill>
            <a:ln>
              <a:noFill/>
            </a:ln>
          </p:spPr>
          <p:txBody>
            <a:bodyPr anchorCtr="0" anchor="ctr" bIns="119600" lIns="119600" spcFirstLastPara="1" rIns="119600" wrap="square" tIns="119600">
              <a:noAutofit/>
            </a:bodyPr>
            <a:lstStyle/>
            <a:p>
              <a:pPr indent="0" lvl="0" marL="0" rtl="0" algn="ctr">
                <a:spcBef>
                  <a:spcPts val="0"/>
                </a:spcBef>
                <a:spcAft>
                  <a:spcPts val="0"/>
                </a:spcAft>
                <a:buNone/>
              </a:pPr>
              <a:r>
                <a:t/>
              </a:r>
              <a:endParaRPr sz="1832">
                <a:latin typeface="Red Hat Display"/>
                <a:ea typeface="Red Hat Display"/>
                <a:cs typeface="Red Hat Display"/>
                <a:sym typeface="Red Hat Display"/>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778" name="Shape 778"/>
        <p:cNvGrpSpPr/>
        <p:nvPr/>
      </p:nvGrpSpPr>
      <p:grpSpPr>
        <a:xfrm>
          <a:off x="0" y="0"/>
          <a:ext cx="0" cy="0"/>
          <a:chOff x="0" y="0"/>
          <a:chExt cx="0" cy="0"/>
        </a:xfrm>
      </p:grpSpPr>
      <p:sp>
        <p:nvSpPr>
          <p:cNvPr id="779" name="Google Shape;779;p59"/>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80" name="Google Shape;780;p59"/>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1" name="Google Shape;781;p59"/>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782" name="Google Shape;782;p59"/>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783" name="Google Shape;783;p59"/>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solutions exist</a:t>
            </a:r>
            <a:endParaRPr sz="7200">
              <a:solidFill>
                <a:srgbClr val="B45F06"/>
              </a:solidFill>
            </a:endParaRPr>
          </a:p>
        </p:txBody>
      </p:sp>
      <p:sp>
        <p:nvSpPr>
          <p:cNvPr id="784" name="Google Shape;784;p59"/>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785" name="Google Shape;785;p59"/>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786" name="Google Shape;786;p59"/>
          <p:cNvSpPr txBox="1"/>
          <p:nvPr/>
        </p:nvSpPr>
        <p:spPr>
          <a:xfrm>
            <a:off x="1045600" y="1269050"/>
            <a:ext cx="7559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studying homelessness in open-source literature is on the rise–and studies have applied data science methods to fill the gap</a:t>
            </a:r>
            <a:endParaRPr b="1" i="1" sz="1900">
              <a:solidFill>
                <a:schemeClr val="lt1"/>
              </a:solidFill>
              <a:latin typeface="Roboto"/>
              <a:ea typeface="Roboto"/>
              <a:cs typeface="Roboto"/>
              <a:sym typeface="Roboto"/>
            </a:endParaRPr>
          </a:p>
        </p:txBody>
      </p:sp>
      <p:sp>
        <p:nvSpPr>
          <p:cNvPr id="787" name="Google Shape;787;p59"/>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788" name="Google Shape;788;p59"/>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9" name="Google Shape;789;p59"/>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790" name="Google Shape;790;p59"/>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791" name="Google Shape;791;p59"/>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792" name="Google Shape;792;p59"/>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aphicFrame>
        <p:nvGraphicFramePr>
          <p:cNvPr id="793" name="Google Shape;793;p59"/>
          <p:cNvGraphicFramePr/>
          <p:nvPr/>
        </p:nvGraphicFramePr>
        <p:xfrm>
          <a:off x="1123000" y="2121400"/>
          <a:ext cx="3000000" cy="3000000"/>
        </p:xfrm>
        <a:graphic>
          <a:graphicData uri="http://schemas.openxmlformats.org/drawingml/2006/table">
            <a:tbl>
              <a:tblPr>
                <a:noFill/>
                <a:tableStyleId>{103DC652-8713-4B50-A93F-D350B0A785AA}</a:tableStyleId>
              </a:tblPr>
              <a:tblGrid>
                <a:gridCol w="1874500"/>
                <a:gridCol w="1745000"/>
                <a:gridCol w="1809750"/>
                <a:gridCol w="1809750"/>
              </a:tblGrid>
              <a:tr h="381000">
                <a:tc>
                  <a:txBody>
                    <a:bodyPr/>
                    <a:lstStyle/>
                    <a:p>
                      <a:pPr indent="0" lvl="0" marL="0" rtl="0" algn="l">
                        <a:spcBef>
                          <a:spcPts val="0"/>
                        </a:spcBef>
                        <a:spcAft>
                          <a:spcPts val="0"/>
                        </a:spcAft>
                        <a:buNone/>
                      </a:pPr>
                      <a:r>
                        <a:rPr b="1" lang="en">
                          <a:solidFill>
                            <a:srgbClr val="FFFFFF"/>
                          </a:solidFill>
                        </a:rPr>
                        <a:t>Model</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Application</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What’s Missing</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c>
                  <a:txBody>
                    <a:bodyPr/>
                    <a:lstStyle/>
                    <a:p>
                      <a:pPr indent="0" lvl="0" marL="0" rtl="0" algn="l">
                        <a:spcBef>
                          <a:spcPts val="0"/>
                        </a:spcBef>
                        <a:spcAft>
                          <a:spcPts val="0"/>
                        </a:spcAft>
                        <a:buNone/>
                      </a:pPr>
                      <a:r>
                        <a:rPr b="1" lang="en">
                          <a:solidFill>
                            <a:srgbClr val="FFFFFF"/>
                          </a:solidFill>
                        </a:rPr>
                        <a:t>Citation</a:t>
                      </a:r>
                      <a:endParaRPr b="1">
                        <a:solidFill>
                          <a:srgbClr val="FFFFFF"/>
                        </a:solidFill>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FDFAF3"/>
                      </a:solidFill>
                      <a:prstDash val="solid"/>
                      <a:round/>
                      <a:headEnd len="sm" w="sm" type="none"/>
                      <a:tailEnd len="sm" w="sm" type="none"/>
                    </a:lnB>
                    <a:solidFill>
                      <a:srgbClr val="B45F06"/>
                    </a:solidFill>
                  </a:tcPr>
                </a:tc>
              </a:tr>
              <a:tr h="381000">
                <a:tc>
                  <a:txBody>
                    <a:bodyPr/>
                    <a:lstStyle/>
                    <a:p>
                      <a:pPr indent="0" lvl="0" marL="0" rtl="0" algn="l">
                        <a:spcBef>
                          <a:spcPts val="0"/>
                        </a:spcBef>
                        <a:spcAft>
                          <a:spcPts val="0"/>
                        </a:spcAft>
                        <a:buNone/>
                      </a:pPr>
                      <a:r>
                        <a:rPr b="1" lang="en"/>
                        <a:t>Supervised regression (logistic)</a:t>
                      </a:r>
                      <a:endParaRPr b="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Predict at-risk individuals or populations</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Matching units for geographical variables of interest</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
                        <a:t>Hanauer, M.; et. al. (2020)</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FDFAF3"/>
                      </a:solidFill>
                      <a:prstDash val="solid"/>
                      <a:round/>
                      <a:headEnd len="sm" w="sm" type="none"/>
                      <a:tailEnd len="sm" w="sm" type="none"/>
                    </a:lnT>
                    <a:lnB cap="flat" cmpd="sng" w="9525">
                      <a:solidFill>
                        <a:srgbClr val="B45F06"/>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t>Unsupervised ML (K-means clustering)</a:t>
                      </a:r>
                      <a:endParaRPr b="1"/>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Resource allocation for community services</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c>
                  <a:txBody>
                    <a:bodyPr/>
                    <a:lstStyle/>
                    <a:p>
                      <a:pPr indent="0" lvl="0" marL="0" rtl="0" algn="l">
                        <a:spcBef>
                          <a:spcPts val="0"/>
                        </a:spcBef>
                        <a:spcAft>
                          <a:spcPts val="0"/>
                        </a:spcAft>
                        <a:buNone/>
                      </a:pPr>
                      <a:r>
                        <a:rPr lang="en"/>
                        <a:t>Data-encoded and transparent services by providers</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
                        <a:t>Huey, R.; Shoukry, Y.; Lee, M. K.; Raman, V. (2017)</a:t>
                      </a:r>
                      <a:endParaRPr/>
                    </a:p>
                  </a:txBody>
                  <a:tcPr marT="91425" marB="91425" marR="91425" marL="91425">
                    <a:lnL cap="flat" cmpd="sng" w="9525">
                      <a:solidFill>
                        <a:srgbClr val="FDFAF3"/>
                      </a:solidFill>
                      <a:prstDash val="solid"/>
                      <a:round/>
                      <a:headEnd len="sm" w="sm" type="none"/>
                      <a:tailEnd len="sm" w="sm" type="none"/>
                    </a:lnL>
                    <a:lnR cap="flat" cmpd="sng" w="9525">
                      <a:solidFill>
                        <a:srgbClr val="FDFAF3"/>
                      </a:solidFill>
                      <a:prstDash val="solid"/>
                      <a:round/>
                      <a:headEnd len="sm" w="sm" type="none"/>
                      <a:tailEnd len="sm" w="sm" type="none"/>
                    </a:lnR>
                    <a:lnT cap="flat" cmpd="sng" w="9525">
                      <a:solidFill>
                        <a:srgbClr val="B45F06"/>
                      </a:solidFill>
                      <a:prstDash val="solid"/>
                      <a:round/>
                      <a:headEnd len="sm" w="sm" type="none"/>
                      <a:tailEnd len="sm" w="sm" type="none"/>
                    </a:lnT>
                    <a:lnB cap="flat" cmpd="sng" w="9525">
                      <a:solidFill>
                        <a:srgbClr val="B45F06"/>
                      </a:solidFill>
                      <a:prstDash val="solid"/>
                      <a:round/>
                      <a:headEnd len="sm" w="sm" type="none"/>
                      <a:tailEnd len="sm" w="sm" type="none"/>
                    </a:lnB>
                  </a:tcPr>
                </a:tc>
              </a:tr>
            </a:tbl>
          </a:graphicData>
        </a:graphic>
      </p:graphicFrame>
      <p:sp>
        <p:nvSpPr>
          <p:cNvPr id="794" name="Google Shape;794;p59"/>
          <p:cNvSpPr txBox="1"/>
          <p:nvPr/>
        </p:nvSpPr>
        <p:spPr>
          <a:xfrm>
            <a:off x="1050775" y="4246300"/>
            <a:ext cx="7559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chemeClr val="lt1"/>
                </a:solidFill>
                <a:latin typeface="Roboto"/>
                <a:ea typeface="Roboto"/>
                <a:cs typeface="Roboto"/>
                <a:sym typeface="Roboto"/>
              </a:rPr>
              <a:t>Source</a:t>
            </a:r>
            <a:r>
              <a:rPr i="1" lang="en" sz="1000">
                <a:solidFill>
                  <a:schemeClr val="lt1"/>
                </a:solidFill>
                <a:latin typeface="Roboto Light"/>
                <a:ea typeface="Roboto Light"/>
                <a:cs typeface="Roboto Light"/>
                <a:sym typeface="Roboto Light"/>
              </a:rPr>
              <a:t>: Moon, E. &amp; Guha, R. (2024). A Human-Centered Review of Algorithms in Homelessness Research. In Proceedings of the CHI Conference on Human Factors in Computing Systems (CHI ‘24), May 11-16, 2024, Honolulu, HI, USA. https://doi.org/10.1145/3613904.3642392.</a:t>
            </a:r>
            <a:endParaRPr i="1" sz="1000">
              <a:solidFill>
                <a:schemeClr val="lt1"/>
              </a:solidFill>
              <a:latin typeface="Roboto Light"/>
              <a:ea typeface="Roboto Light"/>
              <a:cs typeface="Roboto Light"/>
              <a:sym typeface="Robo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798" name="Shape 798"/>
        <p:cNvGrpSpPr/>
        <p:nvPr/>
      </p:nvGrpSpPr>
      <p:grpSpPr>
        <a:xfrm>
          <a:off x="0" y="0"/>
          <a:ext cx="0" cy="0"/>
          <a:chOff x="0" y="0"/>
          <a:chExt cx="0" cy="0"/>
        </a:xfrm>
      </p:grpSpPr>
      <p:sp>
        <p:nvSpPr>
          <p:cNvPr id="799" name="Google Shape;799;p60"/>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00" name="Google Shape;800;p60"/>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1" name="Google Shape;801;p60"/>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802" name="Google Shape;802;p60"/>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803" name="Google Shape;803;p60"/>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our proposal</a:t>
            </a:r>
            <a:endParaRPr sz="7200">
              <a:solidFill>
                <a:srgbClr val="B45F06"/>
              </a:solidFill>
            </a:endParaRPr>
          </a:p>
        </p:txBody>
      </p:sp>
      <p:sp>
        <p:nvSpPr>
          <p:cNvPr id="804" name="Google Shape;804;p60"/>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805" name="Google Shape;805;p60"/>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806" name="Google Shape;806;p60"/>
          <p:cNvSpPr txBox="1"/>
          <p:nvPr/>
        </p:nvSpPr>
        <p:spPr>
          <a:xfrm>
            <a:off x="1045600" y="1351825"/>
            <a:ext cx="672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bridging the data gap requires community collaboration</a:t>
            </a:r>
            <a:endParaRPr b="1" i="1" sz="1900">
              <a:solidFill>
                <a:schemeClr val="lt1"/>
              </a:solidFill>
              <a:latin typeface="Roboto"/>
              <a:ea typeface="Roboto"/>
              <a:cs typeface="Roboto"/>
              <a:sym typeface="Roboto"/>
            </a:endParaRPr>
          </a:p>
        </p:txBody>
      </p:sp>
      <p:sp>
        <p:nvSpPr>
          <p:cNvPr id="807" name="Google Shape;807;p60"/>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08" name="Google Shape;808;p60"/>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9" name="Google Shape;809;p60"/>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810" name="Google Shape;810;p60"/>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811" name="Google Shape;811;p60"/>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812" name="Google Shape;812;p60"/>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grpSp>
        <p:nvGrpSpPr>
          <p:cNvPr id="813" name="Google Shape;813;p60"/>
          <p:cNvGrpSpPr/>
          <p:nvPr/>
        </p:nvGrpSpPr>
        <p:grpSpPr>
          <a:xfrm>
            <a:off x="1152825" y="2014850"/>
            <a:ext cx="7295550" cy="1215900"/>
            <a:chOff x="1103700" y="1977050"/>
            <a:chExt cx="7295550" cy="1215900"/>
          </a:xfrm>
        </p:grpSpPr>
        <p:sp>
          <p:nvSpPr>
            <p:cNvPr id="814" name="Google Shape;814;p60"/>
            <p:cNvSpPr txBox="1"/>
            <p:nvPr/>
          </p:nvSpPr>
          <p:spPr>
            <a:xfrm>
              <a:off x="1839750" y="1977050"/>
              <a:ext cx="65595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Central, open-source &amp; anonymized data</a:t>
              </a:r>
              <a:endParaRPr b="1" sz="19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Light"/>
                <a:buChar char="●"/>
              </a:pPr>
              <a:r>
                <a:rPr b="1" lang="en" sz="1600">
                  <a:solidFill>
                    <a:srgbClr val="B45F06"/>
                  </a:solidFill>
                  <a:latin typeface="Roboto"/>
                  <a:ea typeface="Roboto"/>
                  <a:cs typeface="Roboto"/>
                  <a:sym typeface="Roboto"/>
                </a:rPr>
                <a:t>Benefits</a:t>
              </a:r>
              <a:r>
                <a:rPr lang="en" sz="1600">
                  <a:solidFill>
                    <a:schemeClr val="lt1"/>
                  </a:solidFill>
                  <a:latin typeface="Roboto Light"/>
                  <a:ea typeface="Roboto Light"/>
                  <a:cs typeface="Roboto Light"/>
                  <a:sym typeface="Roboto Light"/>
                </a:rPr>
                <a:t>: Accessibility, Transparency, Makes Reproducibility Feasible, Saves Time &amp; Money</a:t>
              </a:r>
              <a:endParaRPr sz="1900">
                <a:solidFill>
                  <a:schemeClr val="lt1"/>
                </a:solidFill>
                <a:latin typeface="Roboto Light"/>
                <a:ea typeface="Roboto Light"/>
                <a:cs typeface="Roboto Light"/>
                <a:sym typeface="Roboto Light"/>
              </a:endParaRPr>
            </a:p>
            <a:p>
              <a:pPr indent="-304800" lvl="0" marL="457200" rtl="0" algn="l">
                <a:spcBef>
                  <a:spcPts val="0"/>
                </a:spcBef>
                <a:spcAft>
                  <a:spcPts val="0"/>
                </a:spcAft>
                <a:buClr>
                  <a:schemeClr val="lt1"/>
                </a:buClr>
                <a:buSzPts val="1200"/>
                <a:buFont typeface="Roboto Light"/>
                <a:buChar char="●"/>
              </a:pPr>
              <a:r>
                <a:rPr b="1" lang="en" sz="1600">
                  <a:solidFill>
                    <a:srgbClr val="B45F06"/>
                  </a:solidFill>
                  <a:latin typeface="Roboto"/>
                  <a:ea typeface="Roboto"/>
                  <a:cs typeface="Roboto"/>
                  <a:sym typeface="Roboto"/>
                </a:rPr>
                <a:t>Mediums</a:t>
              </a:r>
              <a:r>
                <a:rPr lang="en" sz="1600">
                  <a:solidFill>
                    <a:schemeClr val="lt1"/>
                  </a:solidFill>
                  <a:latin typeface="Roboto Light"/>
                  <a:ea typeface="Roboto Light"/>
                  <a:cs typeface="Roboto Light"/>
                  <a:sym typeface="Roboto Light"/>
                </a:rPr>
                <a:t>: Portals, On-Site Data Links, Reports</a:t>
              </a:r>
              <a:endParaRPr sz="1600">
                <a:solidFill>
                  <a:schemeClr val="lt1"/>
                </a:solidFill>
                <a:latin typeface="Courier New"/>
                <a:ea typeface="Courier New"/>
                <a:cs typeface="Courier New"/>
                <a:sym typeface="Courier New"/>
              </a:endParaRPr>
            </a:p>
          </p:txBody>
        </p:sp>
        <p:sp>
          <p:nvSpPr>
            <p:cNvPr id="815" name="Google Shape;815;p60"/>
            <p:cNvSpPr/>
            <p:nvPr/>
          </p:nvSpPr>
          <p:spPr>
            <a:xfrm>
              <a:off x="1103700" y="2233788"/>
              <a:ext cx="675900" cy="675900"/>
            </a:xfrm>
            <a:prstGeom prst="ellipse">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FFFFFF"/>
                  </a:solidFill>
                  <a:latin typeface="Roboto"/>
                  <a:ea typeface="Roboto"/>
                  <a:cs typeface="Roboto"/>
                  <a:sym typeface="Roboto"/>
                </a:rPr>
                <a:t>1</a:t>
              </a:r>
              <a:endParaRPr b="1" sz="3200">
                <a:solidFill>
                  <a:srgbClr val="FFFFFF"/>
                </a:solidFill>
                <a:latin typeface="Roboto"/>
                <a:ea typeface="Roboto"/>
                <a:cs typeface="Roboto"/>
                <a:sym typeface="Roboto"/>
              </a:endParaRPr>
            </a:p>
          </p:txBody>
        </p:sp>
      </p:grpSp>
      <p:grpSp>
        <p:nvGrpSpPr>
          <p:cNvPr id="816" name="Google Shape;816;p60"/>
          <p:cNvGrpSpPr/>
          <p:nvPr/>
        </p:nvGrpSpPr>
        <p:grpSpPr>
          <a:xfrm>
            <a:off x="1152825" y="3378975"/>
            <a:ext cx="7295550" cy="969600"/>
            <a:chOff x="1103700" y="1977050"/>
            <a:chExt cx="7295550" cy="969600"/>
          </a:xfrm>
        </p:grpSpPr>
        <p:sp>
          <p:nvSpPr>
            <p:cNvPr id="817" name="Google Shape;817;p60"/>
            <p:cNvSpPr txBox="1"/>
            <p:nvPr/>
          </p:nvSpPr>
          <p:spPr>
            <a:xfrm>
              <a:off x="1839750" y="1977050"/>
              <a:ext cx="65595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Connect stakeholders with students</a:t>
              </a:r>
              <a:endParaRPr b="1" sz="1900">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Light"/>
                <a:buChar char="●"/>
              </a:pPr>
              <a:r>
                <a:rPr b="1" lang="en" sz="1600">
                  <a:solidFill>
                    <a:srgbClr val="B45F06"/>
                  </a:solidFill>
                  <a:latin typeface="Roboto"/>
                  <a:ea typeface="Roboto"/>
                  <a:cs typeface="Roboto"/>
                  <a:sym typeface="Roboto"/>
                </a:rPr>
                <a:t>Benefits</a:t>
              </a:r>
              <a:r>
                <a:rPr lang="en" sz="1600">
                  <a:solidFill>
                    <a:schemeClr val="lt1"/>
                  </a:solidFill>
                  <a:latin typeface="Roboto Light"/>
                  <a:ea typeface="Roboto Light"/>
                  <a:cs typeface="Roboto Light"/>
                  <a:sym typeface="Roboto Light"/>
                </a:rPr>
                <a:t>: Training, Hiring, Real-World Exposure, Save Resources</a:t>
              </a:r>
              <a:endParaRPr sz="1900">
                <a:solidFill>
                  <a:schemeClr val="lt1"/>
                </a:solidFill>
                <a:latin typeface="Roboto Light"/>
                <a:ea typeface="Roboto Light"/>
                <a:cs typeface="Roboto Light"/>
                <a:sym typeface="Roboto Light"/>
              </a:endParaRPr>
            </a:p>
            <a:p>
              <a:pPr indent="-304800" lvl="0" marL="457200" rtl="0" algn="l">
                <a:spcBef>
                  <a:spcPts val="0"/>
                </a:spcBef>
                <a:spcAft>
                  <a:spcPts val="0"/>
                </a:spcAft>
                <a:buClr>
                  <a:schemeClr val="lt1"/>
                </a:buClr>
                <a:buSzPts val="1200"/>
                <a:buFont typeface="Roboto Light"/>
                <a:buChar char="●"/>
              </a:pPr>
              <a:r>
                <a:rPr b="1" lang="en" sz="1600">
                  <a:solidFill>
                    <a:srgbClr val="B45F06"/>
                  </a:solidFill>
                  <a:latin typeface="Roboto"/>
                  <a:ea typeface="Roboto"/>
                  <a:cs typeface="Roboto"/>
                  <a:sym typeface="Roboto"/>
                </a:rPr>
                <a:t>Examples</a:t>
              </a:r>
              <a:r>
                <a:rPr lang="en" sz="1600">
                  <a:solidFill>
                    <a:schemeClr val="lt1"/>
                  </a:solidFill>
                  <a:latin typeface="Roboto Light"/>
                  <a:ea typeface="Roboto Light"/>
                  <a:cs typeface="Roboto Light"/>
                  <a:sym typeface="Roboto Light"/>
                </a:rPr>
                <a:t>: CNM Ingenuity Capstone, Parker Dewey</a:t>
              </a:r>
              <a:endParaRPr sz="1600">
                <a:solidFill>
                  <a:schemeClr val="lt1"/>
                </a:solidFill>
                <a:latin typeface="Courier New"/>
                <a:ea typeface="Courier New"/>
                <a:cs typeface="Courier New"/>
                <a:sym typeface="Courier New"/>
              </a:endParaRPr>
            </a:p>
          </p:txBody>
        </p:sp>
        <p:sp>
          <p:nvSpPr>
            <p:cNvPr id="818" name="Google Shape;818;p60"/>
            <p:cNvSpPr/>
            <p:nvPr/>
          </p:nvSpPr>
          <p:spPr>
            <a:xfrm>
              <a:off x="1103700" y="2233788"/>
              <a:ext cx="675900" cy="675900"/>
            </a:xfrm>
            <a:prstGeom prst="ellipse">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200">
                  <a:solidFill>
                    <a:srgbClr val="FFFFFF"/>
                  </a:solidFill>
                  <a:latin typeface="Roboto"/>
                  <a:ea typeface="Roboto"/>
                  <a:cs typeface="Roboto"/>
                  <a:sym typeface="Roboto"/>
                </a:rPr>
                <a:t>2</a:t>
              </a:r>
              <a:endParaRPr b="1" sz="3200">
                <a:solidFill>
                  <a:srgbClr val="FFFFFF"/>
                </a:solidFill>
                <a:latin typeface="Roboto"/>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822" name="Shape 822"/>
        <p:cNvGrpSpPr/>
        <p:nvPr/>
      </p:nvGrpSpPr>
      <p:grpSpPr>
        <a:xfrm>
          <a:off x="0" y="0"/>
          <a:ext cx="0" cy="0"/>
          <a:chOff x="0" y="0"/>
          <a:chExt cx="0" cy="0"/>
        </a:xfrm>
      </p:grpSpPr>
      <p:sp>
        <p:nvSpPr>
          <p:cNvPr id="823" name="Google Shape;823;p61"/>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24" name="Google Shape;824;p61"/>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5" name="Google Shape;825;p61"/>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826" name="Google Shape;826;p61"/>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827" name="Google Shape;827;p61"/>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looking ahead</a:t>
            </a:r>
            <a:endParaRPr sz="7200">
              <a:solidFill>
                <a:srgbClr val="B45F06"/>
              </a:solidFill>
            </a:endParaRPr>
          </a:p>
        </p:txBody>
      </p:sp>
      <p:sp>
        <p:nvSpPr>
          <p:cNvPr id="828" name="Google Shape;828;p61"/>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829" name="Google Shape;829;p61"/>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830" name="Google Shape;830;p61"/>
          <p:cNvSpPr txBox="1"/>
          <p:nvPr/>
        </p:nvSpPr>
        <p:spPr>
          <a:xfrm>
            <a:off x="1009750" y="1272750"/>
            <a:ext cx="672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with data- and community-driven advocacy</a:t>
            </a:r>
            <a:endParaRPr b="1" sz="1900">
              <a:solidFill>
                <a:schemeClr val="lt1"/>
              </a:solidFill>
              <a:latin typeface="Roboto"/>
              <a:ea typeface="Roboto"/>
              <a:cs typeface="Roboto"/>
              <a:sym typeface="Roboto"/>
            </a:endParaRPr>
          </a:p>
        </p:txBody>
      </p:sp>
      <p:sp>
        <p:nvSpPr>
          <p:cNvPr id="831" name="Google Shape;831;p61"/>
          <p:cNvSpPr txBox="1"/>
          <p:nvPr/>
        </p:nvSpPr>
        <p:spPr>
          <a:xfrm>
            <a:off x="986475" y="1741800"/>
            <a:ext cx="4865100" cy="3401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chemeClr val="lt1"/>
              </a:buClr>
              <a:buSzPts val="1000"/>
              <a:buChar char="●"/>
            </a:pPr>
            <a:r>
              <a:rPr b="1" lang="en" sz="1900">
                <a:solidFill>
                  <a:schemeClr val="lt1"/>
                </a:solidFill>
                <a:latin typeface="Roboto"/>
                <a:ea typeface="Roboto"/>
                <a:cs typeface="Roboto"/>
                <a:sym typeface="Roboto"/>
              </a:rPr>
              <a:t>Foundational Project</a:t>
            </a:r>
            <a:r>
              <a:rPr lang="en" sz="1900">
                <a:solidFill>
                  <a:schemeClr val="lt1"/>
                </a:solidFill>
                <a:latin typeface="Roboto Light"/>
                <a:ea typeface="Roboto Light"/>
                <a:cs typeface="Roboto Light"/>
                <a:sym typeface="Roboto Light"/>
              </a:rPr>
              <a:t>: Applied data science methods are on the rise nationwide, and New Mexico can lead as a case study.</a:t>
            </a:r>
            <a:endParaRPr sz="1900">
              <a:solidFill>
                <a:schemeClr val="lt1"/>
              </a:solidFill>
              <a:latin typeface="Roboto Light"/>
              <a:ea typeface="Roboto Light"/>
              <a:cs typeface="Roboto Light"/>
              <a:sym typeface="Roboto Light"/>
            </a:endParaRPr>
          </a:p>
          <a:p>
            <a:pPr indent="-292100" lvl="0" marL="457200" rtl="0" algn="l">
              <a:spcBef>
                <a:spcPts val="0"/>
              </a:spcBef>
              <a:spcAft>
                <a:spcPts val="0"/>
              </a:spcAft>
              <a:buClr>
                <a:schemeClr val="lt1"/>
              </a:buClr>
              <a:buSzPts val="1000"/>
              <a:buFont typeface="Roboto Light"/>
              <a:buChar char="●"/>
            </a:pPr>
            <a:r>
              <a:rPr b="1" lang="en" sz="1900">
                <a:solidFill>
                  <a:schemeClr val="lt1"/>
                </a:solidFill>
                <a:latin typeface="Roboto"/>
                <a:ea typeface="Roboto"/>
                <a:cs typeface="Roboto"/>
                <a:sym typeface="Roboto"/>
              </a:rPr>
              <a:t>Improving Decisions: </a:t>
            </a:r>
            <a:r>
              <a:rPr lang="en" sz="1900">
                <a:solidFill>
                  <a:schemeClr val="lt1"/>
                </a:solidFill>
                <a:latin typeface="Roboto Light"/>
                <a:ea typeface="Roboto Light"/>
                <a:cs typeface="Roboto Light"/>
                <a:sym typeface="Roboto Light"/>
              </a:rPr>
              <a:t>Open-source, anonymized data can improve resource allocation and intervention.</a:t>
            </a:r>
            <a:endParaRPr sz="1900">
              <a:solidFill>
                <a:schemeClr val="lt1"/>
              </a:solidFill>
              <a:latin typeface="Roboto Light"/>
              <a:ea typeface="Roboto Light"/>
              <a:cs typeface="Roboto Light"/>
              <a:sym typeface="Roboto Light"/>
            </a:endParaRPr>
          </a:p>
          <a:p>
            <a:pPr indent="-292100" lvl="0" marL="457200" rtl="0" algn="l">
              <a:spcBef>
                <a:spcPts val="0"/>
              </a:spcBef>
              <a:spcAft>
                <a:spcPts val="0"/>
              </a:spcAft>
              <a:buClr>
                <a:schemeClr val="lt1"/>
              </a:buClr>
              <a:buSzPts val="1000"/>
              <a:buFont typeface="Roboto"/>
              <a:buChar char="●"/>
            </a:pPr>
            <a:r>
              <a:rPr b="1" lang="en" sz="1900">
                <a:solidFill>
                  <a:schemeClr val="lt1"/>
                </a:solidFill>
                <a:latin typeface="Roboto"/>
                <a:ea typeface="Roboto"/>
                <a:cs typeface="Roboto"/>
                <a:sym typeface="Roboto"/>
              </a:rPr>
              <a:t>Community Collaboration</a:t>
            </a:r>
            <a:r>
              <a:rPr lang="en" sz="1900">
                <a:solidFill>
                  <a:schemeClr val="lt1"/>
                </a:solidFill>
                <a:latin typeface="Roboto Light"/>
                <a:ea typeface="Roboto Light"/>
                <a:cs typeface="Roboto Light"/>
                <a:sym typeface="Roboto Light"/>
              </a:rPr>
              <a:t>: Quantitative and qualitative measures remain essential to understand and address the homelessness ecosystem.</a:t>
            </a:r>
            <a:endParaRPr sz="1900">
              <a:solidFill>
                <a:schemeClr val="lt1"/>
              </a:solidFill>
              <a:latin typeface="Roboto Light"/>
              <a:ea typeface="Roboto Light"/>
              <a:cs typeface="Roboto Light"/>
              <a:sym typeface="Roboto Light"/>
            </a:endParaRPr>
          </a:p>
        </p:txBody>
      </p:sp>
      <p:sp>
        <p:nvSpPr>
          <p:cNvPr id="832" name="Google Shape;832;p61"/>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33" name="Google Shape;833;p61"/>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4" name="Google Shape;834;p61"/>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835" name="Google Shape;835;p61"/>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836" name="Google Shape;836;p61"/>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837" name="Google Shape;837;p61"/>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pic>
        <p:nvPicPr>
          <p:cNvPr id="838" name="Google Shape;838;p61"/>
          <p:cNvPicPr preferRelativeResize="0"/>
          <p:nvPr/>
        </p:nvPicPr>
        <p:blipFill>
          <a:blip r:embed="rId3">
            <a:alphaModFix/>
          </a:blip>
          <a:stretch>
            <a:fillRect/>
          </a:stretch>
        </p:blipFill>
        <p:spPr>
          <a:xfrm>
            <a:off x="6057099" y="1393199"/>
            <a:ext cx="2843100" cy="3257700"/>
          </a:xfrm>
          <a:prstGeom prst="roundRect">
            <a:avLst>
              <a:gd fmla="val 8755" name="adj"/>
            </a:avLst>
          </a:prstGeom>
          <a:noFill/>
          <a:ln>
            <a:noFill/>
          </a:ln>
        </p:spPr>
      </p:pic>
      <p:sp>
        <p:nvSpPr>
          <p:cNvPr id="839" name="Google Shape;839;p61"/>
          <p:cNvSpPr txBox="1"/>
          <p:nvPr/>
        </p:nvSpPr>
        <p:spPr>
          <a:xfrm>
            <a:off x="5978675" y="4650900"/>
            <a:ext cx="3000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Roboto Light"/>
                <a:ea typeface="Roboto Light"/>
                <a:cs typeface="Roboto Light"/>
                <a:sym typeface="Roboto Light"/>
              </a:rPr>
              <a:t>Nooe, R. M. &amp; Patterson, D. A. (2010). </a:t>
            </a:r>
            <a:r>
              <a:rPr lang="en" sz="1000">
                <a:solidFill>
                  <a:schemeClr val="lt1"/>
                </a:solidFill>
                <a:latin typeface="Roboto Medium"/>
                <a:ea typeface="Roboto Medium"/>
                <a:cs typeface="Roboto Medium"/>
                <a:sym typeface="Roboto Medium"/>
              </a:rPr>
              <a:t>The Ecology of Homelessness.</a:t>
            </a:r>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843" name="Shape 843"/>
        <p:cNvGrpSpPr/>
        <p:nvPr/>
      </p:nvGrpSpPr>
      <p:grpSpPr>
        <a:xfrm>
          <a:off x="0" y="0"/>
          <a:ext cx="0" cy="0"/>
          <a:chOff x="0" y="0"/>
          <a:chExt cx="0" cy="0"/>
        </a:xfrm>
      </p:grpSpPr>
      <p:sp>
        <p:nvSpPr>
          <p:cNvPr id="844" name="Google Shape;844;p62"/>
          <p:cNvSpPr/>
          <p:nvPr/>
        </p:nvSpPr>
        <p:spPr>
          <a:xfrm flipH="1" rot="10800000">
            <a:off x="765650" y="4000"/>
            <a:ext cx="8378400" cy="51525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45" name="Google Shape;845;p62"/>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6" name="Google Shape;846;p62"/>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847" name="Google Shape;847;p62"/>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848" name="Google Shape;848;p62"/>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thank you.</a:t>
            </a:r>
            <a:endParaRPr sz="7200">
              <a:solidFill>
                <a:srgbClr val="B45F06"/>
              </a:solidFill>
            </a:endParaRPr>
          </a:p>
        </p:txBody>
      </p:sp>
      <p:sp>
        <p:nvSpPr>
          <p:cNvPr id="849" name="Google Shape;849;p62"/>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850" name="Google Shape;850;p62"/>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851" name="Google Shape;851;p62"/>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52" name="Google Shape;852;p62"/>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3" name="Google Shape;853;p62"/>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854" name="Google Shape;854;p62"/>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855" name="Google Shape;855;p62"/>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856" name="Google Shape;856;p62"/>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sp>
        <p:nvSpPr>
          <p:cNvPr id="857" name="Google Shape;857;p62"/>
          <p:cNvSpPr txBox="1"/>
          <p:nvPr>
            <p:ph idx="23" type="subTitle"/>
          </p:nvPr>
        </p:nvSpPr>
        <p:spPr>
          <a:xfrm rot="-5400000">
            <a:off x="-694050" y="2443800"/>
            <a:ext cx="1644000" cy="255900"/>
          </a:xfrm>
          <a:prstGeom prst="rect">
            <a:avLst/>
          </a:prstGeom>
          <a:ln>
            <a:noFill/>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858" name="Google Shape;858;p62"/>
          <p:cNvSpPr txBox="1"/>
          <p:nvPr>
            <p:ph idx="26" type="subTitle"/>
          </p:nvPr>
        </p:nvSpPr>
        <p:spPr>
          <a:xfrm>
            <a:off x="6346488" y="3366925"/>
            <a:ext cx="2708700" cy="431100"/>
          </a:xfrm>
          <a:prstGeom prst="rect">
            <a:avLst/>
          </a:prstGeom>
        </p:spPr>
        <p:txBody>
          <a:bodyPr anchorCtr="0" anchor="t" bIns="73150" lIns="91425" spcFirstLastPara="1" rIns="91425" wrap="square" tIns="73150">
            <a:noAutofit/>
          </a:bodyPr>
          <a:lstStyle/>
          <a:p>
            <a:pPr indent="0" lvl="0" marL="0" rtl="0" algn="l">
              <a:spcBef>
                <a:spcPts val="0"/>
              </a:spcBef>
              <a:spcAft>
                <a:spcPts val="0"/>
              </a:spcAft>
              <a:buNone/>
            </a:pPr>
            <a:r>
              <a:rPr b="1" lang="en" sz="1600"/>
              <a:t>Raven Otero-Symphony</a:t>
            </a:r>
            <a:endParaRPr b="1" sz="1600"/>
          </a:p>
        </p:txBody>
      </p:sp>
      <p:sp>
        <p:nvSpPr>
          <p:cNvPr id="859" name="Google Shape;859;p62"/>
          <p:cNvSpPr txBox="1"/>
          <p:nvPr>
            <p:ph idx="26" type="subTitle"/>
          </p:nvPr>
        </p:nvSpPr>
        <p:spPr>
          <a:xfrm>
            <a:off x="6384575" y="3794875"/>
            <a:ext cx="2359800" cy="973500"/>
          </a:xfrm>
          <a:prstGeom prst="rect">
            <a:avLst/>
          </a:prstGeom>
        </p:spPr>
        <p:txBody>
          <a:bodyPr anchorCtr="0" anchor="t" bIns="73150" lIns="91425" spcFirstLastPara="1" rIns="91425" wrap="square" tIns="73150">
            <a:noAutofit/>
          </a:bodyPr>
          <a:lstStyle/>
          <a:p>
            <a:pPr indent="0" lvl="0" marL="0" rtl="0" algn="l">
              <a:lnSpc>
                <a:spcPct val="115000"/>
              </a:lnSpc>
              <a:spcBef>
                <a:spcPts val="0"/>
              </a:spcBef>
              <a:spcAft>
                <a:spcPts val="0"/>
              </a:spcAft>
              <a:buNone/>
            </a:pPr>
            <a:r>
              <a:rPr lang="en" sz="1200">
                <a:latin typeface="Roboto Black"/>
                <a:ea typeface="Roboto Black"/>
                <a:cs typeface="Roboto Black"/>
                <a:sym typeface="Roboto Black"/>
              </a:rPr>
              <a:t>Senior Data Analyst</a:t>
            </a:r>
            <a:r>
              <a:rPr lang="en" sz="1200"/>
              <a:t>, CYFD-JJ</a:t>
            </a:r>
            <a:endParaRPr sz="1200"/>
          </a:p>
          <a:p>
            <a:pPr indent="0" lvl="0" marL="0" rtl="0" algn="l">
              <a:lnSpc>
                <a:spcPct val="115000"/>
              </a:lnSpc>
              <a:spcBef>
                <a:spcPts val="0"/>
              </a:spcBef>
              <a:spcAft>
                <a:spcPts val="0"/>
              </a:spcAft>
              <a:buNone/>
            </a:pPr>
            <a:r>
              <a:rPr lang="en" sz="1200"/>
              <a:t>Data Scientist • NASA • Policy</a:t>
            </a:r>
            <a:endParaRPr b="1" sz="1200"/>
          </a:p>
          <a:p>
            <a:pPr indent="0" lvl="0" marL="0" rtl="0" algn="l">
              <a:lnSpc>
                <a:spcPct val="115000"/>
              </a:lnSpc>
              <a:spcBef>
                <a:spcPts val="0"/>
              </a:spcBef>
              <a:spcAft>
                <a:spcPts val="0"/>
              </a:spcAft>
              <a:buNone/>
            </a:pPr>
            <a:r>
              <a:rPr b="1" lang="en" sz="1100">
                <a:solidFill>
                  <a:srgbClr val="B45F06"/>
                </a:solidFill>
              </a:rPr>
              <a:t>LinkedIn</a:t>
            </a:r>
            <a:r>
              <a:rPr lang="en" sz="1100">
                <a:latin typeface="Roboto"/>
                <a:ea typeface="Roboto"/>
                <a:cs typeface="Roboto"/>
                <a:sym typeface="Roboto"/>
              </a:rPr>
              <a:t>: \raven-dos</a:t>
            </a:r>
            <a:endParaRPr sz="1100">
              <a:latin typeface="Roboto"/>
              <a:ea typeface="Roboto"/>
              <a:cs typeface="Roboto"/>
              <a:sym typeface="Roboto"/>
            </a:endParaRPr>
          </a:p>
          <a:p>
            <a:pPr indent="0" lvl="0" marL="0" rtl="0" algn="l">
              <a:lnSpc>
                <a:spcPct val="115000"/>
              </a:lnSpc>
              <a:spcBef>
                <a:spcPts val="0"/>
              </a:spcBef>
              <a:spcAft>
                <a:spcPts val="0"/>
              </a:spcAft>
              <a:buNone/>
            </a:pPr>
            <a:r>
              <a:rPr b="1" lang="en" sz="1100">
                <a:solidFill>
                  <a:srgbClr val="B45F06"/>
                </a:solidFill>
              </a:rPr>
              <a:t>GitHub</a:t>
            </a:r>
            <a:r>
              <a:rPr lang="en" sz="1100">
                <a:latin typeface="Roboto"/>
                <a:ea typeface="Roboto"/>
                <a:cs typeface="Roboto"/>
                <a:sym typeface="Roboto"/>
              </a:rPr>
              <a:t>: \raven-in-space</a:t>
            </a:r>
            <a:endParaRPr sz="1100">
              <a:latin typeface="Roboto"/>
              <a:ea typeface="Roboto"/>
              <a:cs typeface="Roboto"/>
              <a:sym typeface="Roboto"/>
            </a:endParaRPr>
          </a:p>
        </p:txBody>
      </p:sp>
      <p:pic>
        <p:nvPicPr>
          <p:cNvPr id="860" name="Google Shape;860;p62" title="2024_RavenOteroSymphony-17.jpg"/>
          <p:cNvPicPr preferRelativeResize="0"/>
          <p:nvPr/>
        </p:nvPicPr>
        <p:blipFill rotWithShape="1">
          <a:blip r:embed="rId3">
            <a:alphaModFix/>
          </a:blip>
          <a:srcRect b="51768" l="20776" r="16853" t="7674"/>
          <a:stretch/>
        </p:blipFill>
        <p:spPr>
          <a:xfrm>
            <a:off x="6658619" y="1749745"/>
            <a:ext cx="1398300" cy="1362300"/>
          </a:xfrm>
          <a:prstGeom prst="ellipse">
            <a:avLst/>
          </a:prstGeom>
          <a:noFill/>
          <a:ln cap="flat" cmpd="sng" w="28575">
            <a:solidFill>
              <a:srgbClr val="B45F06"/>
            </a:solidFill>
            <a:prstDash val="solid"/>
            <a:round/>
            <a:headEnd len="sm" w="sm" type="none"/>
            <a:tailEnd len="sm" w="sm" type="none"/>
          </a:ln>
        </p:spPr>
      </p:pic>
      <p:sp>
        <p:nvSpPr>
          <p:cNvPr id="861" name="Google Shape;861;p62"/>
          <p:cNvSpPr txBox="1"/>
          <p:nvPr>
            <p:ph idx="26" type="subTitle"/>
          </p:nvPr>
        </p:nvSpPr>
        <p:spPr>
          <a:xfrm>
            <a:off x="1045588" y="3366914"/>
            <a:ext cx="1983600" cy="431100"/>
          </a:xfrm>
          <a:prstGeom prst="rect">
            <a:avLst/>
          </a:prstGeom>
        </p:spPr>
        <p:txBody>
          <a:bodyPr anchorCtr="0" anchor="t" bIns="73150" lIns="91425" spcFirstLastPara="1" rIns="91425" wrap="square" tIns="73150">
            <a:noAutofit/>
          </a:bodyPr>
          <a:lstStyle/>
          <a:p>
            <a:pPr indent="0" lvl="0" marL="0" rtl="0" algn="l">
              <a:spcBef>
                <a:spcPts val="0"/>
              </a:spcBef>
              <a:spcAft>
                <a:spcPts val="0"/>
              </a:spcAft>
              <a:buNone/>
            </a:pPr>
            <a:r>
              <a:rPr b="1" lang="en" sz="1600"/>
              <a:t>Eljay Smith</a:t>
            </a:r>
            <a:endParaRPr b="1" sz="1600"/>
          </a:p>
        </p:txBody>
      </p:sp>
      <p:cxnSp>
        <p:nvCxnSpPr>
          <p:cNvPr id="862" name="Google Shape;862;p62"/>
          <p:cNvCxnSpPr/>
          <p:nvPr/>
        </p:nvCxnSpPr>
        <p:spPr>
          <a:xfrm flipH="1" rot="10800000">
            <a:off x="1121196" y="3780940"/>
            <a:ext cx="2557500" cy="3300"/>
          </a:xfrm>
          <a:prstGeom prst="straightConnector1">
            <a:avLst/>
          </a:prstGeom>
          <a:noFill/>
          <a:ln cap="flat" cmpd="sng" w="28575">
            <a:solidFill>
              <a:srgbClr val="B45F06"/>
            </a:solidFill>
            <a:prstDash val="solid"/>
            <a:round/>
            <a:headEnd len="med" w="med" type="none"/>
            <a:tailEnd len="med" w="med" type="none"/>
          </a:ln>
        </p:spPr>
      </p:cxnSp>
      <p:sp>
        <p:nvSpPr>
          <p:cNvPr id="863" name="Google Shape;863;p62"/>
          <p:cNvSpPr txBox="1"/>
          <p:nvPr>
            <p:ph idx="26" type="subTitle"/>
          </p:nvPr>
        </p:nvSpPr>
        <p:spPr>
          <a:xfrm>
            <a:off x="3883251" y="3350500"/>
            <a:ext cx="2258700" cy="431100"/>
          </a:xfrm>
          <a:prstGeom prst="rect">
            <a:avLst/>
          </a:prstGeom>
        </p:spPr>
        <p:txBody>
          <a:bodyPr anchorCtr="0" anchor="t" bIns="73150" lIns="91425" spcFirstLastPara="1" rIns="91425" wrap="square" tIns="73150">
            <a:noAutofit/>
          </a:bodyPr>
          <a:lstStyle/>
          <a:p>
            <a:pPr indent="0" lvl="0" marL="0" rtl="0" algn="l">
              <a:spcBef>
                <a:spcPts val="0"/>
              </a:spcBef>
              <a:spcAft>
                <a:spcPts val="0"/>
              </a:spcAft>
              <a:buNone/>
            </a:pPr>
            <a:r>
              <a:rPr b="1" lang="en" sz="1600"/>
              <a:t>Celeste Fischer</a:t>
            </a:r>
            <a:endParaRPr b="1" sz="1600"/>
          </a:p>
        </p:txBody>
      </p:sp>
      <p:cxnSp>
        <p:nvCxnSpPr>
          <p:cNvPr id="864" name="Google Shape;864;p62"/>
          <p:cNvCxnSpPr/>
          <p:nvPr/>
        </p:nvCxnSpPr>
        <p:spPr>
          <a:xfrm>
            <a:off x="4015598" y="3788354"/>
            <a:ext cx="2110200" cy="7200"/>
          </a:xfrm>
          <a:prstGeom prst="straightConnector1">
            <a:avLst/>
          </a:prstGeom>
          <a:noFill/>
          <a:ln cap="flat" cmpd="sng" w="28575">
            <a:solidFill>
              <a:srgbClr val="B45F06"/>
            </a:solidFill>
            <a:prstDash val="solid"/>
            <a:round/>
            <a:headEnd len="med" w="med" type="none"/>
            <a:tailEnd len="med" w="med" type="none"/>
          </a:ln>
        </p:spPr>
      </p:cxnSp>
      <p:sp>
        <p:nvSpPr>
          <p:cNvPr id="865" name="Google Shape;865;p62"/>
          <p:cNvSpPr txBox="1"/>
          <p:nvPr>
            <p:ph idx="26" type="subTitle"/>
          </p:nvPr>
        </p:nvSpPr>
        <p:spPr>
          <a:xfrm>
            <a:off x="1045600" y="3798025"/>
            <a:ext cx="2778600" cy="991200"/>
          </a:xfrm>
          <a:prstGeom prst="rect">
            <a:avLst/>
          </a:prstGeom>
        </p:spPr>
        <p:txBody>
          <a:bodyPr anchorCtr="0" anchor="t" bIns="73150" lIns="91425" spcFirstLastPara="1" rIns="91425" wrap="square" tIns="73150">
            <a:noAutofit/>
          </a:bodyPr>
          <a:lstStyle/>
          <a:p>
            <a:pPr indent="0" lvl="0" marL="0" rtl="0" algn="l">
              <a:lnSpc>
                <a:spcPct val="115000"/>
              </a:lnSpc>
              <a:spcBef>
                <a:spcPts val="0"/>
              </a:spcBef>
              <a:spcAft>
                <a:spcPts val="0"/>
              </a:spcAft>
              <a:buNone/>
            </a:pPr>
            <a:r>
              <a:rPr b="1" lang="en" sz="1200"/>
              <a:t>Mental Health &amp; </a:t>
            </a:r>
            <a:endParaRPr b="1" sz="1200"/>
          </a:p>
          <a:p>
            <a:pPr indent="0" lvl="0" marL="0" rtl="0" algn="l">
              <a:lnSpc>
                <a:spcPct val="115000"/>
              </a:lnSpc>
              <a:spcBef>
                <a:spcPts val="0"/>
              </a:spcBef>
              <a:spcAft>
                <a:spcPts val="0"/>
              </a:spcAft>
              <a:buNone/>
            </a:pPr>
            <a:r>
              <a:rPr b="1" lang="en" sz="1200"/>
              <a:t>Housing Stability Advocate</a:t>
            </a:r>
            <a:endParaRPr b="1" sz="1200"/>
          </a:p>
          <a:p>
            <a:pPr indent="0" lvl="0" marL="0" rtl="0" algn="l">
              <a:lnSpc>
                <a:spcPct val="115000"/>
              </a:lnSpc>
              <a:spcBef>
                <a:spcPts val="0"/>
              </a:spcBef>
              <a:spcAft>
                <a:spcPts val="0"/>
              </a:spcAft>
              <a:buNone/>
            </a:pPr>
            <a:r>
              <a:rPr lang="en" sz="1200"/>
              <a:t>Lived Experience • Public Interest Data </a:t>
            </a:r>
            <a:endParaRPr sz="1000"/>
          </a:p>
          <a:p>
            <a:pPr indent="0" lvl="0" marL="0" rtl="0" algn="l">
              <a:lnSpc>
                <a:spcPct val="115000"/>
              </a:lnSpc>
              <a:spcBef>
                <a:spcPts val="0"/>
              </a:spcBef>
              <a:spcAft>
                <a:spcPts val="0"/>
              </a:spcAft>
              <a:buNone/>
            </a:pPr>
            <a:r>
              <a:rPr b="1" lang="en" sz="1100">
                <a:solidFill>
                  <a:srgbClr val="B45F06"/>
                </a:solidFill>
              </a:rPr>
              <a:t>GitHub</a:t>
            </a:r>
            <a:r>
              <a:rPr lang="en" sz="1100">
                <a:latin typeface="Roboto"/>
                <a:ea typeface="Roboto"/>
                <a:cs typeface="Roboto"/>
                <a:sym typeface="Roboto"/>
              </a:rPr>
              <a:t>: \eljaysmithdata</a:t>
            </a:r>
            <a:endParaRPr sz="1100">
              <a:latin typeface="Roboto"/>
              <a:ea typeface="Roboto"/>
              <a:cs typeface="Roboto"/>
              <a:sym typeface="Roboto"/>
            </a:endParaRPr>
          </a:p>
        </p:txBody>
      </p:sp>
      <p:sp>
        <p:nvSpPr>
          <p:cNvPr id="866" name="Google Shape;866;p62"/>
          <p:cNvSpPr/>
          <p:nvPr/>
        </p:nvSpPr>
        <p:spPr>
          <a:xfrm>
            <a:off x="4133750" y="1749750"/>
            <a:ext cx="1426200" cy="1426200"/>
          </a:xfrm>
          <a:prstGeom prst="ellipse">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67" name="Google Shape;867;p62"/>
          <p:cNvSpPr txBox="1"/>
          <p:nvPr>
            <p:ph idx="26" type="subTitle"/>
          </p:nvPr>
        </p:nvSpPr>
        <p:spPr>
          <a:xfrm>
            <a:off x="3874850" y="3748550"/>
            <a:ext cx="2421000" cy="973500"/>
          </a:xfrm>
          <a:prstGeom prst="rect">
            <a:avLst/>
          </a:prstGeom>
        </p:spPr>
        <p:txBody>
          <a:bodyPr anchorCtr="0" anchor="t" bIns="73150" lIns="91425" spcFirstLastPara="1" rIns="91425" wrap="square" tIns="73150">
            <a:noAutofit/>
          </a:bodyPr>
          <a:lstStyle/>
          <a:p>
            <a:pPr indent="0" lvl="0" marL="0" rtl="0" algn="l">
              <a:lnSpc>
                <a:spcPct val="115000"/>
              </a:lnSpc>
              <a:spcBef>
                <a:spcPts val="0"/>
              </a:spcBef>
              <a:spcAft>
                <a:spcPts val="0"/>
              </a:spcAft>
              <a:buNone/>
            </a:pPr>
            <a:r>
              <a:rPr b="1" lang="en" sz="1200"/>
              <a:t>Nurse,  Data Scientist, Healthcare Analytics Enthusiast</a:t>
            </a:r>
            <a:endParaRPr b="1" sz="1200"/>
          </a:p>
          <a:p>
            <a:pPr indent="0" lvl="0" marL="0" rtl="0" algn="l">
              <a:lnSpc>
                <a:spcPct val="115000"/>
              </a:lnSpc>
              <a:spcBef>
                <a:spcPts val="0"/>
              </a:spcBef>
              <a:spcAft>
                <a:spcPts val="0"/>
              </a:spcAft>
              <a:buNone/>
            </a:pPr>
            <a:r>
              <a:rPr b="1" lang="en" sz="1100">
                <a:solidFill>
                  <a:srgbClr val="B45F06"/>
                </a:solidFill>
              </a:rPr>
              <a:t>LinkedIn</a:t>
            </a:r>
            <a:r>
              <a:rPr lang="en" sz="1100">
                <a:latin typeface="Roboto"/>
                <a:ea typeface="Roboto"/>
                <a:cs typeface="Roboto"/>
                <a:sym typeface="Roboto"/>
              </a:rPr>
              <a:t>: \celestial-nights</a:t>
            </a:r>
            <a:endParaRPr sz="1100">
              <a:latin typeface="Roboto"/>
              <a:ea typeface="Roboto"/>
              <a:cs typeface="Roboto"/>
              <a:sym typeface="Roboto"/>
            </a:endParaRPr>
          </a:p>
          <a:p>
            <a:pPr indent="0" lvl="0" marL="0" rtl="0" algn="l">
              <a:lnSpc>
                <a:spcPct val="115000"/>
              </a:lnSpc>
              <a:spcBef>
                <a:spcPts val="0"/>
              </a:spcBef>
              <a:spcAft>
                <a:spcPts val="0"/>
              </a:spcAft>
              <a:buNone/>
            </a:pPr>
            <a:r>
              <a:rPr b="1" lang="en" sz="1100">
                <a:solidFill>
                  <a:srgbClr val="B45F06"/>
                </a:solidFill>
              </a:rPr>
              <a:t>GitHub</a:t>
            </a:r>
            <a:r>
              <a:rPr lang="en" sz="1100">
                <a:latin typeface="Roboto"/>
                <a:ea typeface="Roboto"/>
                <a:cs typeface="Roboto"/>
                <a:sym typeface="Roboto"/>
              </a:rPr>
              <a:t>: \Celeste1221</a:t>
            </a:r>
            <a:endParaRPr sz="1100">
              <a:latin typeface="Roboto"/>
              <a:ea typeface="Roboto"/>
              <a:cs typeface="Roboto"/>
              <a:sym typeface="Roboto"/>
            </a:endParaRPr>
          </a:p>
        </p:txBody>
      </p:sp>
      <p:pic>
        <p:nvPicPr>
          <p:cNvPr id="868" name="Google Shape;868;p62"/>
          <p:cNvPicPr preferRelativeResize="0"/>
          <p:nvPr/>
        </p:nvPicPr>
        <p:blipFill rotWithShape="1">
          <a:blip r:embed="rId4">
            <a:alphaModFix/>
          </a:blip>
          <a:srcRect b="2317" l="923" r="923" t="2317"/>
          <a:stretch/>
        </p:blipFill>
        <p:spPr>
          <a:xfrm>
            <a:off x="1212419" y="1818220"/>
            <a:ext cx="1372500" cy="1333500"/>
          </a:xfrm>
          <a:prstGeom prst="ellipse">
            <a:avLst/>
          </a:prstGeom>
          <a:solidFill>
            <a:srgbClr val="FDFAF3"/>
          </a:solidFill>
          <a:ln cap="flat" cmpd="sng" w="38100">
            <a:solidFill>
              <a:srgbClr val="B45F06"/>
            </a:solidFill>
            <a:prstDash val="solid"/>
            <a:round/>
            <a:headEnd len="sm" w="sm" type="none"/>
            <a:tailEnd len="sm" w="sm" type="none"/>
          </a:ln>
        </p:spPr>
      </p:pic>
      <p:cxnSp>
        <p:nvCxnSpPr>
          <p:cNvPr id="869" name="Google Shape;869;p62"/>
          <p:cNvCxnSpPr/>
          <p:nvPr/>
        </p:nvCxnSpPr>
        <p:spPr>
          <a:xfrm>
            <a:off x="6384575" y="3782600"/>
            <a:ext cx="2258700" cy="0"/>
          </a:xfrm>
          <a:prstGeom prst="straightConnector1">
            <a:avLst/>
          </a:prstGeom>
          <a:noFill/>
          <a:ln cap="flat" cmpd="sng" w="28575">
            <a:solidFill>
              <a:srgbClr val="B45F06"/>
            </a:solidFill>
            <a:prstDash val="solid"/>
            <a:round/>
            <a:headEnd len="med" w="med" type="none"/>
            <a:tailEnd len="med" w="med" type="none"/>
          </a:ln>
        </p:spPr>
      </p:cxnSp>
      <p:pic>
        <p:nvPicPr>
          <p:cNvPr id="870" name="Google Shape;870;p62" title="headshot_circle_transparent.png"/>
          <p:cNvPicPr preferRelativeResize="0"/>
          <p:nvPr/>
        </p:nvPicPr>
        <p:blipFill>
          <a:blip r:embed="rId5">
            <a:alphaModFix/>
          </a:blip>
          <a:stretch>
            <a:fillRect/>
          </a:stretch>
        </p:blipFill>
        <p:spPr>
          <a:xfrm>
            <a:off x="4162034" y="1778884"/>
            <a:ext cx="1372500" cy="1372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874" name="Shape 874"/>
        <p:cNvGrpSpPr/>
        <p:nvPr/>
      </p:nvGrpSpPr>
      <p:grpSpPr>
        <a:xfrm>
          <a:off x="0" y="0"/>
          <a:ext cx="0" cy="0"/>
          <a:chOff x="0" y="0"/>
          <a:chExt cx="0" cy="0"/>
        </a:xfrm>
      </p:grpSpPr>
      <p:sp>
        <p:nvSpPr>
          <p:cNvPr id="875" name="Google Shape;875;p63"/>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76" name="Google Shape;876;p63"/>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7" name="Google Shape;877;p63"/>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878" name="Google Shape;878;p63"/>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879" name="Google Shape;879;p63"/>
          <p:cNvSpPr txBox="1"/>
          <p:nvPr>
            <p:ph idx="1" type="subTitle"/>
          </p:nvPr>
        </p:nvSpPr>
        <p:spPr>
          <a:xfrm>
            <a:off x="961199" y="114300"/>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citations</a:t>
            </a:r>
            <a:endParaRPr sz="7200">
              <a:solidFill>
                <a:srgbClr val="B45F06"/>
              </a:solidFill>
            </a:endParaRPr>
          </a:p>
        </p:txBody>
      </p:sp>
      <p:sp>
        <p:nvSpPr>
          <p:cNvPr id="880" name="Google Shape;880;p63"/>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881" name="Google Shape;881;p63"/>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882" name="Google Shape;882;p63"/>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883" name="Google Shape;883;p63"/>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4" name="Google Shape;884;p63"/>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885" name="Google Shape;885;p63"/>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886" name="Google Shape;886;p63"/>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887" name="Google Shape;887;p63"/>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sp>
        <p:nvSpPr>
          <p:cNvPr id="888" name="Google Shape;888;p63"/>
          <p:cNvSpPr txBox="1"/>
          <p:nvPr/>
        </p:nvSpPr>
        <p:spPr>
          <a:xfrm>
            <a:off x="961200" y="1058100"/>
            <a:ext cx="7559400" cy="3971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Roboto Light"/>
              <a:buAutoNum type="arabicPeriod"/>
            </a:pPr>
            <a:r>
              <a:rPr lang="en" sz="1200">
                <a:solidFill>
                  <a:schemeClr val="lt1"/>
                </a:solidFill>
                <a:latin typeface="Roboto Light"/>
                <a:ea typeface="Roboto Light"/>
                <a:cs typeface="Roboto Light"/>
                <a:sym typeface="Roboto Light"/>
              </a:rPr>
              <a:t>Nooe, R. M. &amp; Patterson, D. A. (2010). </a:t>
            </a:r>
            <a:r>
              <a:rPr lang="en" sz="1200">
                <a:solidFill>
                  <a:schemeClr val="lt1"/>
                </a:solidFill>
                <a:latin typeface="Roboto Medium"/>
                <a:ea typeface="Roboto Medium"/>
                <a:cs typeface="Roboto Medium"/>
                <a:sym typeface="Roboto Medium"/>
              </a:rPr>
              <a:t>The Ecology of Homelessness.</a:t>
            </a:r>
            <a:r>
              <a:rPr lang="en" sz="1200">
                <a:solidFill>
                  <a:schemeClr val="lt1"/>
                </a:solidFill>
                <a:latin typeface="Roboto Light"/>
                <a:ea typeface="Roboto Light"/>
                <a:cs typeface="Roboto Light"/>
                <a:sym typeface="Roboto Light"/>
              </a:rPr>
              <a:t> </a:t>
            </a:r>
            <a:r>
              <a:rPr i="1" lang="en" sz="1200">
                <a:solidFill>
                  <a:schemeClr val="lt1"/>
                </a:solidFill>
                <a:latin typeface="Roboto Light"/>
                <a:ea typeface="Roboto Light"/>
                <a:cs typeface="Roboto Light"/>
                <a:sym typeface="Roboto Light"/>
              </a:rPr>
              <a:t>Journal of Human Behavior in the Social Environment, 20(2), 105-152.</a:t>
            </a:r>
            <a:r>
              <a:rPr lang="en" sz="1200">
                <a:solidFill>
                  <a:schemeClr val="lt1"/>
                </a:solidFill>
                <a:latin typeface="Roboto Light"/>
                <a:ea typeface="Roboto Light"/>
                <a:cs typeface="Roboto Light"/>
                <a:sym typeface="Roboto Light"/>
              </a:rPr>
              <a:t> </a:t>
            </a:r>
            <a:r>
              <a:rPr lang="en" sz="1200" u="sng">
                <a:solidFill>
                  <a:srgbClr val="B45F06"/>
                </a:solidFill>
                <a:latin typeface="Roboto Light"/>
                <a:ea typeface="Roboto Light"/>
                <a:cs typeface="Roboto Light"/>
                <a:sym typeface="Roboto Light"/>
                <a:hlinkClick r:id="rId3">
                  <a:extLst>
                    <a:ext uri="{A12FA001-AC4F-418D-AE19-62706E023703}">
                      <ahyp:hlinkClr val="tx"/>
                    </a:ext>
                  </a:extLst>
                </a:hlinkClick>
              </a:rPr>
              <a:t>https://doi.org/10.1080/10911350903269757</a:t>
            </a:r>
            <a:r>
              <a:rPr lang="en" sz="1200">
                <a:latin typeface="Roboto Light"/>
                <a:ea typeface="Roboto Light"/>
                <a:cs typeface="Roboto Light"/>
                <a:sym typeface="Roboto Light"/>
              </a:rPr>
              <a:t>.</a:t>
            </a:r>
            <a:endParaRPr sz="1200">
              <a:latin typeface="Roboto Light"/>
              <a:ea typeface="Roboto Light"/>
              <a:cs typeface="Roboto Light"/>
              <a:sym typeface="Roboto Light"/>
            </a:endParaRPr>
          </a:p>
          <a:p>
            <a:pPr indent="-304800" lvl="0" marL="457200" rtl="0" algn="l">
              <a:spcBef>
                <a:spcPts val="0"/>
              </a:spcBef>
              <a:spcAft>
                <a:spcPts val="0"/>
              </a:spcAft>
              <a:buSzPts val="1200"/>
              <a:buFont typeface="Roboto Light"/>
              <a:buAutoNum type="arabicPeriod"/>
            </a:pPr>
            <a:r>
              <a:rPr lang="en" sz="1200">
                <a:latin typeface="Roboto Light"/>
                <a:ea typeface="Roboto Light"/>
                <a:cs typeface="Roboto Light"/>
                <a:sym typeface="Roboto Light"/>
              </a:rPr>
              <a:t>Hanauer, M;</a:t>
            </a:r>
            <a:r>
              <a:rPr lang="en" sz="1200">
                <a:latin typeface="Roboto Light"/>
                <a:ea typeface="Roboto Light"/>
                <a:cs typeface="Roboto Light"/>
                <a:sym typeface="Roboto Light"/>
              </a:rPr>
              <a:t> </a:t>
            </a:r>
            <a:r>
              <a:rPr lang="en" sz="1200">
                <a:latin typeface="Roboto Light"/>
                <a:ea typeface="Roboto Light"/>
                <a:cs typeface="Roboto Light"/>
                <a:sym typeface="Roboto Light"/>
              </a:rPr>
              <a:t>Watterson, K;</a:t>
            </a:r>
            <a:r>
              <a:rPr lang="en" sz="1200">
                <a:latin typeface="Roboto Light"/>
                <a:ea typeface="Roboto Light"/>
                <a:cs typeface="Roboto Light"/>
                <a:sym typeface="Roboto Light"/>
              </a:rPr>
              <a:t> </a:t>
            </a:r>
            <a:r>
              <a:rPr lang="en" sz="1200">
                <a:latin typeface="Roboto Light"/>
                <a:ea typeface="Roboto Light"/>
                <a:cs typeface="Roboto Light"/>
                <a:sym typeface="Roboto Light"/>
              </a:rPr>
              <a:t>Ragatz, M.;</a:t>
            </a:r>
            <a:r>
              <a:rPr lang="en" sz="1200">
                <a:latin typeface="Roboto Light"/>
                <a:ea typeface="Roboto Light"/>
                <a:cs typeface="Roboto Light"/>
                <a:sym typeface="Roboto Light"/>
              </a:rPr>
              <a:t> </a:t>
            </a:r>
            <a:r>
              <a:rPr lang="en" sz="1200">
                <a:latin typeface="Roboto Light"/>
                <a:ea typeface="Roboto Light"/>
                <a:cs typeface="Roboto Light"/>
                <a:sym typeface="Roboto Light"/>
              </a:rPr>
              <a:t>Macy, J. T;</a:t>
            </a:r>
            <a:r>
              <a:rPr lang="en" sz="1200">
                <a:latin typeface="Roboto Light"/>
                <a:ea typeface="Roboto Light"/>
                <a:cs typeface="Roboto Light"/>
                <a:sym typeface="Roboto Light"/>
              </a:rPr>
              <a:t> Sinclair, E.; &amp; Suisman, S. (2021). </a:t>
            </a:r>
            <a:r>
              <a:rPr lang="en" sz="1200">
                <a:latin typeface="Roboto Medium"/>
                <a:ea typeface="Roboto Medium"/>
                <a:cs typeface="Roboto Medium"/>
                <a:sym typeface="Roboto Medium"/>
              </a:rPr>
              <a:t>Predictors of successful housing in a housing first program</a:t>
            </a:r>
            <a:r>
              <a:rPr lang="en" sz="1200">
                <a:latin typeface="Roboto Light"/>
                <a:ea typeface="Roboto Light"/>
                <a:cs typeface="Roboto Light"/>
                <a:sym typeface="Roboto Light"/>
              </a:rPr>
              <a:t>. </a:t>
            </a:r>
            <a:r>
              <a:rPr i="1" lang="en" sz="1200">
                <a:latin typeface="Roboto Light"/>
                <a:ea typeface="Roboto Light"/>
                <a:cs typeface="Roboto Light"/>
                <a:sym typeface="Roboto Light"/>
              </a:rPr>
              <a:t>Journal of Social Distress and Homelessness 30, 1 (Jan 2021), 84–89.</a:t>
            </a:r>
            <a:r>
              <a:rPr lang="en" sz="1200">
                <a:latin typeface="Roboto Light"/>
                <a:ea typeface="Roboto Light"/>
                <a:cs typeface="Roboto Light"/>
                <a:sym typeface="Roboto Light"/>
              </a:rPr>
              <a:t> </a:t>
            </a:r>
            <a:r>
              <a:rPr lang="en" sz="1200" u="sng">
                <a:solidFill>
                  <a:srgbClr val="B45F06"/>
                </a:solidFill>
                <a:latin typeface="Roboto Light"/>
                <a:ea typeface="Roboto Light"/>
                <a:cs typeface="Roboto Light"/>
                <a:sym typeface="Roboto Light"/>
                <a:hlinkClick r:id="rId4">
                  <a:extLst>
                    <a:ext uri="{A12FA001-AC4F-418D-AE19-62706E023703}">
                      <ahyp:hlinkClr val="tx"/>
                    </a:ext>
                  </a:extLst>
                </a:hlinkClick>
              </a:rPr>
              <a:t>https://doi.org/10.1080/10530789.2020.1738636</a:t>
            </a:r>
            <a:r>
              <a:rPr lang="en" sz="1200">
                <a:latin typeface="Roboto Light"/>
                <a:ea typeface="Roboto Light"/>
                <a:cs typeface="Roboto Light"/>
                <a:sym typeface="Roboto Light"/>
              </a:rPr>
              <a:t>.</a:t>
            </a:r>
            <a:endParaRPr sz="1200">
              <a:latin typeface="Roboto Light"/>
              <a:ea typeface="Roboto Light"/>
              <a:cs typeface="Roboto Light"/>
              <a:sym typeface="Roboto Light"/>
            </a:endParaRPr>
          </a:p>
          <a:p>
            <a:pPr indent="-304800" lvl="0" marL="457200" rtl="0" algn="l">
              <a:spcBef>
                <a:spcPts val="0"/>
              </a:spcBef>
              <a:spcAft>
                <a:spcPts val="0"/>
              </a:spcAft>
              <a:buClr>
                <a:schemeClr val="lt1"/>
              </a:buClr>
              <a:buSzPts val="1200"/>
              <a:buFont typeface="Roboto Light"/>
              <a:buAutoNum type="arabicPeriod"/>
            </a:pPr>
            <a:r>
              <a:rPr lang="en" sz="1200">
                <a:solidFill>
                  <a:schemeClr val="lt1"/>
                </a:solidFill>
                <a:latin typeface="Roboto Light"/>
                <a:ea typeface="Roboto Light"/>
                <a:cs typeface="Roboto Light"/>
                <a:sym typeface="Roboto Light"/>
              </a:rPr>
              <a:t>Moon, E. &amp; Guha, R. (2024). </a:t>
            </a:r>
            <a:r>
              <a:rPr lang="en" sz="1200">
                <a:solidFill>
                  <a:schemeClr val="lt1"/>
                </a:solidFill>
                <a:latin typeface="Roboto Medium"/>
                <a:ea typeface="Roboto Medium"/>
                <a:cs typeface="Roboto Medium"/>
                <a:sym typeface="Roboto Medium"/>
              </a:rPr>
              <a:t>A Human-Centered Review of Algorithms in Homelessness Research</a:t>
            </a:r>
            <a:r>
              <a:rPr lang="en" sz="1200">
                <a:solidFill>
                  <a:schemeClr val="lt1"/>
                </a:solidFill>
                <a:latin typeface="Roboto Light"/>
                <a:ea typeface="Roboto Light"/>
                <a:cs typeface="Roboto Light"/>
                <a:sym typeface="Roboto Light"/>
              </a:rPr>
              <a:t>. </a:t>
            </a:r>
            <a:r>
              <a:rPr i="1" lang="en" sz="1200">
                <a:solidFill>
                  <a:schemeClr val="lt1"/>
                </a:solidFill>
                <a:latin typeface="Roboto Light"/>
                <a:ea typeface="Roboto Light"/>
                <a:cs typeface="Roboto Light"/>
                <a:sym typeface="Roboto Light"/>
              </a:rPr>
              <a:t>In Proceedings of the CHI Conference on Human Factors in Computing Systems (CHI ‘24), May 11-16, 2024, Honolulu, HI, USA. </a:t>
            </a:r>
            <a:r>
              <a:rPr lang="en" sz="1200" u="sng">
                <a:solidFill>
                  <a:srgbClr val="B45F06"/>
                </a:solidFill>
                <a:latin typeface="Roboto Light"/>
                <a:ea typeface="Roboto Light"/>
                <a:cs typeface="Roboto Light"/>
                <a:sym typeface="Roboto Light"/>
                <a:hlinkClick r:id="rId5">
                  <a:extLst>
                    <a:ext uri="{A12FA001-AC4F-418D-AE19-62706E023703}">
                      <ahyp:hlinkClr val="tx"/>
                    </a:ext>
                  </a:extLst>
                </a:hlinkClick>
              </a:rPr>
              <a:t>https://doi.org/10.1145/3613904.3642392</a:t>
            </a:r>
            <a:r>
              <a:rPr lang="en" sz="1200">
                <a:solidFill>
                  <a:schemeClr val="lt1"/>
                </a:solidFill>
                <a:latin typeface="Roboto Light"/>
                <a:ea typeface="Roboto Light"/>
                <a:cs typeface="Roboto Light"/>
                <a:sym typeface="Roboto Light"/>
              </a:rPr>
              <a:t>.</a:t>
            </a:r>
            <a:endParaRPr sz="1200">
              <a:solidFill>
                <a:schemeClr val="lt1"/>
              </a:solidFill>
              <a:latin typeface="Roboto Light"/>
              <a:ea typeface="Roboto Light"/>
              <a:cs typeface="Roboto Light"/>
              <a:sym typeface="Roboto Light"/>
            </a:endParaRPr>
          </a:p>
          <a:p>
            <a:pPr indent="-311150" lvl="0" marL="457200" rtl="0" algn="l">
              <a:lnSpc>
                <a:spcPct val="100000"/>
              </a:lnSpc>
              <a:spcBef>
                <a:spcPts val="0"/>
              </a:spcBef>
              <a:spcAft>
                <a:spcPts val="0"/>
              </a:spcAft>
              <a:buClr>
                <a:schemeClr val="lt1"/>
              </a:buClr>
              <a:buSzPts val="1300"/>
              <a:buFont typeface="Roboto Light"/>
              <a:buAutoNum type="arabicPeriod"/>
            </a:pPr>
            <a:r>
              <a:rPr i="1" lang="en" sz="1200">
                <a:latin typeface="Roboto"/>
                <a:ea typeface="Roboto"/>
                <a:cs typeface="Roboto"/>
                <a:sym typeface="Roboto"/>
              </a:rPr>
              <a:t>Consolidated Planning/CHAS Data | HUD USER</a:t>
            </a:r>
            <a:r>
              <a:rPr lang="en" sz="1200">
                <a:latin typeface="Roboto"/>
                <a:ea typeface="Roboto"/>
                <a:cs typeface="Roboto"/>
                <a:sym typeface="Roboto"/>
              </a:rPr>
              <a:t>. (n.d.). Www.huduser.gov. </a:t>
            </a:r>
            <a:r>
              <a:rPr lang="en" sz="1200" u="sng">
                <a:solidFill>
                  <a:srgbClr val="B45F06"/>
                </a:solidFill>
                <a:latin typeface="Roboto"/>
                <a:ea typeface="Roboto"/>
                <a:cs typeface="Roboto"/>
                <a:sym typeface="Roboto"/>
                <a:hlinkClick r:id="rId6">
                  <a:extLst>
                    <a:ext uri="{A12FA001-AC4F-418D-AE19-62706E023703}">
                      <ahyp:hlinkClr val="tx"/>
                    </a:ext>
                  </a:extLst>
                </a:hlinkClick>
              </a:rPr>
              <a:t>https://www.huduser.gov/portal/datasets/cp.html</a:t>
            </a:r>
            <a:endParaRPr sz="1200">
              <a:solidFill>
                <a:srgbClr val="B45F06"/>
              </a:solidFill>
              <a:latin typeface="Roboto"/>
              <a:ea typeface="Roboto"/>
              <a:cs typeface="Roboto"/>
              <a:sym typeface="Roboto"/>
            </a:endParaRPr>
          </a:p>
          <a:p>
            <a:pPr indent="-311150" lvl="0" marL="457200" rtl="0" algn="l">
              <a:lnSpc>
                <a:spcPct val="100000"/>
              </a:lnSpc>
              <a:spcBef>
                <a:spcPts val="0"/>
              </a:spcBef>
              <a:spcAft>
                <a:spcPts val="0"/>
              </a:spcAft>
              <a:buClr>
                <a:schemeClr val="lt1"/>
              </a:buClr>
              <a:buSzPts val="1300"/>
              <a:buFont typeface="Roboto Light"/>
              <a:buAutoNum type="arabicPeriod"/>
            </a:pPr>
            <a:r>
              <a:rPr lang="en" sz="1200">
                <a:latin typeface="Roboto"/>
                <a:ea typeface="Roboto"/>
                <a:cs typeface="Roboto"/>
                <a:sym typeface="Roboto"/>
              </a:rPr>
              <a:t>County Health Rankings &amp; Roadmaps. (2024). </a:t>
            </a:r>
            <a:r>
              <a:rPr i="1" lang="en" sz="1200">
                <a:latin typeface="Roboto"/>
                <a:ea typeface="Roboto"/>
                <a:cs typeface="Roboto"/>
                <a:sym typeface="Roboto"/>
              </a:rPr>
              <a:t>Health Data | County Health Rankings &amp; Roadmaps</a:t>
            </a:r>
            <a:r>
              <a:rPr lang="en" sz="1200">
                <a:latin typeface="Roboto"/>
                <a:ea typeface="Roboto"/>
                <a:cs typeface="Roboto"/>
                <a:sym typeface="Roboto"/>
              </a:rPr>
              <a:t>. Www.countyhealthrankings.org. </a:t>
            </a:r>
            <a:r>
              <a:rPr lang="en" sz="1200" u="sng">
                <a:solidFill>
                  <a:srgbClr val="B45F06"/>
                </a:solidFill>
                <a:latin typeface="Roboto"/>
                <a:ea typeface="Roboto"/>
                <a:cs typeface="Roboto"/>
                <a:sym typeface="Roboto"/>
                <a:hlinkClick r:id="rId7">
                  <a:extLst>
                    <a:ext uri="{A12FA001-AC4F-418D-AE19-62706E023703}">
                      <ahyp:hlinkClr val="tx"/>
                    </a:ext>
                  </a:extLst>
                </a:hlinkClick>
              </a:rPr>
              <a:t>https://www.countyhealthrankings.org/health-data</a:t>
            </a:r>
            <a:endParaRPr sz="1200">
              <a:solidFill>
                <a:srgbClr val="B45F06"/>
              </a:solidFill>
              <a:latin typeface="Roboto"/>
              <a:ea typeface="Roboto"/>
              <a:cs typeface="Roboto"/>
              <a:sym typeface="Roboto"/>
            </a:endParaRPr>
          </a:p>
          <a:p>
            <a:pPr indent="-311150" lvl="0" marL="457200" rtl="0" algn="l">
              <a:lnSpc>
                <a:spcPct val="100000"/>
              </a:lnSpc>
              <a:spcBef>
                <a:spcPts val="0"/>
              </a:spcBef>
              <a:spcAft>
                <a:spcPts val="0"/>
              </a:spcAft>
              <a:buClr>
                <a:schemeClr val="lt1"/>
              </a:buClr>
              <a:buSzPts val="1300"/>
              <a:buFont typeface="Roboto Light"/>
              <a:buAutoNum type="arabicPeriod"/>
            </a:pPr>
            <a:r>
              <a:rPr lang="en" sz="1200">
                <a:latin typeface="Roboto"/>
                <a:ea typeface="Roboto"/>
                <a:cs typeface="Roboto"/>
                <a:sym typeface="Roboto"/>
              </a:rPr>
              <a:t>Pennsylvania State University. (2018a). </a:t>
            </a:r>
            <a:r>
              <a:rPr i="1" lang="en" sz="1200">
                <a:latin typeface="Roboto"/>
                <a:ea typeface="Roboto"/>
                <a:cs typeface="Roboto"/>
                <a:sym typeface="Roboto"/>
              </a:rPr>
              <a:t>2.3 - The Simple Linear Regression Model | STAT 462</a:t>
            </a:r>
            <a:r>
              <a:rPr lang="en" sz="1200">
                <a:latin typeface="Roboto"/>
                <a:ea typeface="Roboto"/>
                <a:cs typeface="Roboto"/>
                <a:sym typeface="Roboto"/>
              </a:rPr>
              <a:t>. Online.stat.psu.edu. </a:t>
            </a:r>
            <a:r>
              <a:rPr lang="en" sz="1200" u="sng">
                <a:solidFill>
                  <a:srgbClr val="B45F06"/>
                </a:solidFill>
                <a:latin typeface="Roboto"/>
                <a:ea typeface="Roboto"/>
                <a:cs typeface="Roboto"/>
                <a:sym typeface="Roboto"/>
                <a:hlinkClick r:id="rId8">
                  <a:extLst>
                    <a:ext uri="{A12FA001-AC4F-418D-AE19-62706E023703}">
                      <ahyp:hlinkClr val="tx"/>
                    </a:ext>
                  </a:extLst>
                </a:hlinkClick>
              </a:rPr>
              <a:t>https://online.stat.psu.edu/stat462/node/93/</a:t>
            </a:r>
            <a:endParaRPr sz="1200">
              <a:solidFill>
                <a:srgbClr val="B45F06"/>
              </a:solidFill>
              <a:latin typeface="Roboto"/>
              <a:ea typeface="Roboto"/>
              <a:cs typeface="Roboto"/>
              <a:sym typeface="Roboto"/>
            </a:endParaRPr>
          </a:p>
          <a:p>
            <a:pPr indent="-311150" lvl="0" marL="457200" rtl="0" algn="l">
              <a:lnSpc>
                <a:spcPct val="100000"/>
              </a:lnSpc>
              <a:spcBef>
                <a:spcPts val="0"/>
              </a:spcBef>
              <a:spcAft>
                <a:spcPts val="0"/>
              </a:spcAft>
              <a:buClr>
                <a:schemeClr val="lt1"/>
              </a:buClr>
              <a:buSzPts val="1300"/>
              <a:buFont typeface="Roboto Light"/>
              <a:buAutoNum type="arabicPeriod"/>
            </a:pPr>
            <a:r>
              <a:rPr lang="en" sz="1200">
                <a:latin typeface="Roboto"/>
                <a:ea typeface="Roboto"/>
                <a:cs typeface="Roboto"/>
                <a:sym typeface="Roboto"/>
              </a:rPr>
              <a:t>Pennsylvania State University. (2018b). </a:t>
            </a:r>
            <a:r>
              <a:rPr i="1" lang="en" sz="1200">
                <a:latin typeface="Roboto"/>
                <a:ea typeface="Roboto"/>
                <a:cs typeface="Roboto"/>
                <a:sym typeface="Roboto"/>
              </a:rPr>
              <a:t>10.7 - Detecting Multicollinearity Using Variance Inflation Factors | STAT 462</a:t>
            </a:r>
            <a:r>
              <a:rPr lang="en" sz="1200">
                <a:latin typeface="Roboto"/>
                <a:ea typeface="Roboto"/>
                <a:cs typeface="Roboto"/>
                <a:sym typeface="Roboto"/>
              </a:rPr>
              <a:t>. Online.stat.psu.edu. </a:t>
            </a:r>
            <a:r>
              <a:rPr lang="en" sz="1200" u="sng">
                <a:solidFill>
                  <a:srgbClr val="B45F06"/>
                </a:solidFill>
                <a:latin typeface="Roboto"/>
                <a:ea typeface="Roboto"/>
                <a:cs typeface="Roboto"/>
                <a:sym typeface="Roboto"/>
                <a:hlinkClick r:id="rId9">
                  <a:extLst>
                    <a:ext uri="{A12FA001-AC4F-418D-AE19-62706E023703}">
                      <ahyp:hlinkClr val="tx"/>
                    </a:ext>
                  </a:extLst>
                </a:hlinkClick>
              </a:rPr>
              <a:t>https://online.stat.psu.edu/stat462/node/180/</a:t>
            </a:r>
            <a:endParaRPr sz="1200">
              <a:solidFill>
                <a:srgbClr val="B45F06"/>
              </a:solidFill>
              <a:latin typeface="Roboto"/>
              <a:ea typeface="Roboto"/>
              <a:cs typeface="Roboto"/>
              <a:sym typeface="Roboto"/>
            </a:endParaRPr>
          </a:p>
          <a:p>
            <a:pPr indent="-311150" lvl="0" marL="457200" rtl="0" algn="l">
              <a:lnSpc>
                <a:spcPct val="100000"/>
              </a:lnSpc>
              <a:spcBef>
                <a:spcPts val="0"/>
              </a:spcBef>
              <a:spcAft>
                <a:spcPts val="0"/>
              </a:spcAft>
              <a:buClr>
                <a:schemeClr val="lt1"/>
              </a:buClr>
              <a:buSzPts val="1300"/>
              <a:buFont typeface="Roboto Light"/>
              <a:buAutoNum type="arabicPeriod"/>
            </a:pPr>
            <a:r>
              <a:rPr lang="en" sz="1200">
                <a:latin typeface="Roboto"/>
                <a:ea typeface="Roboto"/>
                <a:cs typeface="Roboto"/>
                <a:sym typeface="Roboto"/>
              </a:rPr>
              <a:t>Potters, C. (2024, June 27). </a:t>
            </a:r>
            <a:r>
              <a:rPr i="1" lang="en" sz="1200">
                <a:latin typeface="Roboto"/>
                <a:ea typeface="Roboto"/>
                <a:cs typeface="Roboto"/>
                <a:sym typeface="Roboto"/>
              </a:rPr>
              <a:t>Variance Inflation Factor Definition</a:t>
            </a:r>
            <a:r>
              <a:rPr lang="en" sz="1200">
                <a:latin typeface="Roboto"/>
                <a:ea typeface="Roboto"/>
                <a:cs typeface="Roboto"/>
                <a:sym typeface="Roboto"/>
              </a:rPr>
              <a:t>. Investopedia. </a:t>
            </a:r>
            <a:r>
              <a:rPr lang="en" sz="1200" u="sng">
                <a:solidFill>
                  <a:srgbClr val="B45F06"/>
                </a:solidFill>
                <a:latin typeface="Roboto"/>
                <a:ea typeface="Roboto"/>
                <a:cs typeface="Roboto"/>
                <a:sym typeface="Roboto"/>
                <a:hlinkClick r:id="rId10">
                  <a:extLst>
                    <a:ext uri="{A12FA001-AC4F-418D-AE19-62706E023703}">
                      <ahyp:hlinkClr val="tx"/>
                    </a:ext>
                  </a:extLst>
                </a:hlinkClick>
              </a:rPr>
              <a:t>https://www.investopedia.com/terms/v/variance-inflation-factor.asp</a:t>
            </a:r>
            <a:endParaRPr sz="1200">
              <a:solidFill>
                <a:srgbClr val="B45F06"/>
              </a:solidFill>
              <a:latin typeface="Roboto"/>
              <a:ea typeface="Roboto"/>
              <a:cs typeface="Roboto"/>
              <a:sym typeface="Roboto"/>
            </a:endParaRPr>
          </a:p>
          <a:p>
            <a:pPr indent="-311150" lvl="0" marL="457200" rtl="0" algn="l">
              <a:lnSpc>
                <a:spcPct val="100000"/>
              </a:lnSpc>
              <a:spcBef>
                <a:spcPts val="0"/>
              </a:spcBef>
              <a:spcAft>
                <a:spcPts val="0"/>
              </a:spcAft>
              <a:buClr>
                <a:schemeClr val="lt1"/>
              </a:buClr>
              <a:buSzPts val="1300"/>
              <a:buFont typeface="Roboto Light"/>
              <a:buAutoNum type="arabicPeriod"/>
            </a:pPr>
            <a:r>
              <a:rPr lang="en" sz="1200">
                <a:latin typeface="Roboto"/>
                <a:ea typeface="Roboto"/>
                <a:cs typeface="Roboto"/>
                <a:sym typeface="Roboto"/>
              </a:rPr>
              <a:t>US Census Bureau. (2021). </a:t>
            </a:r>
            <a:r>
              <a:rPr i="1" lang="en" sz="1200">
                <a:latin typeface="Roboto"/>
                <a:ea typeface="Roboto"/>
                <a:cs typeface="Roboto"/>
                <a:sym typeface="Roboto"/>
              </a:rPr>
              <a:t>American Community Survey (ACS)</a:t>
            </a:r>
            <a:r>
              <a:rPr lang="en" sz="1200">
                <a:latin typeface="Roboto"/>
                <a:ea typeface="Roboto"/>
                <a:cs typeface="Roboto"/>
                <a:sym typeface="Roboto"/>
              </a:rPr>
              <a:t>. Census.gov. </a:t>
            </a:r>
            <a:r>
              <a:rPr lang="en" sz="1200" u="sng">
                <a:solidFill>
                  <a:srgbClr val="B45F06"/>
                </a:solidFill>
                <a:latin typeface="Roboto"/>
                <a:ea typeface="Roboto"/>
                <a:cs typeface="Roboto"/>
                <a:sym typeface="Roboto"/>
                <a:hlinkClick r:id="rId11">
                  <a:extLst>
                    <a:ext uri="{A12FA001-AC4F-418D-AE19-62706E023703}">
                      <ahyp:hlinkClr val="tx"/>
                    </a:ext>
                  </a:extLst>
                </a:hlinkClick>
              </a:rPr>
              <a:t>https://www.census.gov/programs-surveys/acs</a:t>
            </a:r>
            <a:endParaRPr sz="1200">
              <a:solidFill>
                <a:schemeClr val="lt1"/>
              </a:solidFill>
              <a:latin typeface="Roboto Light"/>
              <a:ea typeface="Roboto Light"/>
              <a:cs typeface="Roboto Light"/>
              <a:sym typeface="Robo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2" name="Shape 892"/>
        <p:cNvGrpSpPr/>
        <p:nvPr/>
      </p:nvGrpSpPr>
      <p:grpSpPr>
        <a:xfrm>
          <a:off x="0" y="0"/>
          <a:ext cx="0" cy="0"/>
          <a:chOff x="0" y="0"/>
          <a:chExt cx="0" cy="0"/>
        </a:xfrm>
      </p:grpSpPr>
      <p:sp>
        <p:nvSpPr>
          <p:cNvPr id="893" name="Google Shape;893;p64"/>
          <p:cNvSpPr txBox="1"/>
          <p:nvPr/>
        </p:nvSpPr>
        <p:spPr>
          <a:xfrm>
            <a:off x="1226700" y="2094600"/>
            <a:ext cx="66906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rgbClr val="FDFAF3"/>
                </a:solidFill>
                <a:latin typeface="Roboto"/>
                <a:ea typeface="Roboto"/>
                <a:cs typeface="Roboto"/>
                <a:sym typeface="Roboto"/>
              </a:rPr>
              <a:t>APPENDICES</a:t>
            </a:r>
            <a:endParaRPr b="1" sz="5000">
              <a:solidFill>
                <a:srgbClr val="FDFAF3"/>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897" name="Shape 897"/>
        <p:cNvGrpSpPr/>
        <p:nvPr/>
      </p:nvGrpSpPr>
      <p:grpSpPr>
        <a:xfrm>
          <a:off x="0" y="0"/>
          <a:ext cx="0" cy="0"/>
          <a:chOff x="0" y="0"/>
          <a:chExt cx="0" cy="0"/>
        </a:xfrm>
      </p:grpSpPr>
      <p:sp>
        <p:nvSpPr>
          <p:cNvPr id="898" name="Google Shape;898;p65"/>
          <p:cNvSpPr txBox="1"/>
          <p:nvPr>
            <p:ph type="title"/>
          </p:nvPr>
        </p:nvSpPr>
        <p:spPr>
          <a:xfrm>
            <a:off x="507400" y="1531025"/>
            <a:ext cx="3687300" cy="18471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Appendix 1: </a:t>
            </a:r>
            <a:endParaRPr/>
          </a:p>
          <a:p>
            <a:pPr indent="0" lvl="0" marL="0" rtl="0" algn="ctr">
              <a:spcBef>
                <a:spcPts val="0"/>
              </a:spcBef>
              <a:spcAft>
                <a:spcPts val="0"/>
              </a:spcAft>
              <a:buNone/>
            </a:pPr>
            <a:r>
              <a:rPr lang="en"/>
              <a:t>modeling workflow</a:t>
            </a:r>
            <a:endParaRPr/>
          </a:p>
        </p:txBody>
      </p:sp>
      <p:sp>
        <p:nvSpPr>
          <p:cNvPr id="899" name="Google Shape;899;p65"/>
          <p:cNvSpPr txBox="1"/>
          <p:nvPr/>
        </p:nvSpPr>
        <p:spPr>
          <a:xfrm>
            <a:off x="4264975" y="720175"/>
            <a:ext cx="4651500" cy="4164000"/>
          </a:xfrm>
          <a:prstGeom prst="rect">
            <a:avLst/>
          </a:prstGeom>
          <a:noFill/>
          <a:ln>
            <a:noFill/>
          </a:ln>
        </p:spPr>
        <p:txBody>
          <a:bodyPr anchorCtr="0" anchor="ctr" bIns="91425" lIns="91425" spcFirstLastPara="1" rIns="91425" wrap="square" tIns="91425">
            <a:noAutofit/>
          </a:bodyPr>
          <a:lstStyle/>
          <a:p>
            <a:pPr indent="-361950" lvl="0" marL="457200" rtl="0" algn="l">
              <a:lnSpc>
                <a:spcPct val="115000"/>
              </a:lnSpc>
              <a:spcBef>
                <a:spcPts val="1200"/>
              </a:spcBef>
              <a:spcAft>
                <a:spcPts val="0"/>
              </a:spcAft>
              <a:buSzPts val="2100"/>
              <a:buFont typeface="Roboto"/>
              <a:buChar char="●"/>
            </a:pPr>
            <a:r>
              <a:rPr b="1" lang="en" sz="2100">
                <a:latin typeface="Roboto"/>
                <a:ea typeface="Roboto"/>
                <a:cs typeface="Roboto"/>
                <a:sym typeface="Roboto"/>
              </a:rPr>
              <a:t>Cleaned County Health Rankings data</a:t>
            </a:r>
            <a:endParaRPr b="1" sz="2100">
              <a:latin typeface="Roboto"/>
              <a:ea typeface="Roboto"/>
              <a:cs typeface="Roboto"/>
              <a:sym typeface="Roboto"/>
            </a:endParaRPr>
          </a:p>
          <a:p>
            <a:pPr indent="-361950" lvl="0" marL="457200" rtl="0" algn="l">
              <a:lnSpc>
                <a:spcPct val="115000"/>
              </a:lnSpc>
              <a:spcBef>
                <a:spcPts val="0"/>
              </a:spcBef>
              <a:spcAft>
                <a:spcPts val="0"/>
              </a:spcAft>
              <a:buSzPts val="2100"/>
              <a:buFont typeface="Roboto"/>
              <a:buChar char="●"/>
            </a:pPr>
            <a:r>
              <a:rPr b="1" lang="en" sz="2100">
                <a:latin typeface="Roboto"/>
                <a:ea typeface="Roboto"/>
                <a:cs typeface="Roboto"/>
                <a:sym typeface="Roboto"/>
              </a:rPr>
              <a:t>Selected NM counties only</a:t>
            </a:r>
            <a:endParaRPr b="1" sz="2100">
              <a:latin typeface="Roboto"/>
              <a:ea typeface="Roboto"/>
              <a:cs typeface="Roboto"/>
              <a:sym typeface="Roboto"/>
            </a:endParaRPr>
          </a:p>
          <a:p>
            <a:pPr indent="-361950" lvl="0" marL="457200" rtl="0" algn="l">
              <a:lnSpc>
                <a:spcPct val="115000"/>
              </a:lnSpc>
              <a:spcBef>
                <a:spcPts val="0"/>
              </a:spcBef>
              <a:spcAft>
                <a:spcPts val="0"/>
              </a:spcAft>
              <a:buSzPts val="2100"/>
              <a:buFont typeface="Roboto"/>
              <a:buChar char="●"/>
            </a:pPr>
            <a:r>
              <a:rPr b="1" lang="en" sz="2100">
                <a:latin typeface="Roboto"/>
                <a:ea typeface="Roboto"/>
                <a:cs typeface="Roboto"/>
                <a:sym typeface="Roboto"/>
              </a:rPr>
              <a:t>Chose housing, mental health, and economic variables</a:t>
            </a:r>
            <a:endParaRPr b="1" sz="2100">
              <a:latin typeface="Roboto"/>
              <a:ea typeface="Roboto"/>
              <a:cs typeface="Roboto"/>
              <a:sym typeface="Roboto"/>
            </a:endParaRPr>
          </a:p>
          <a:p>
            <a:pPr indent="-361950" lvl="0" marL="457200" rtl="0" algn="l">
              <a:lnSpc>
                <a:spcPct val="115000"/>
              </a:lnSpc>
              <a:spcBef>
                <a:spcPts val="0"/>
              </a:spcBef>
              <a:spcAft>
                <a:spcPts val="0"/>
              </a:spcAft>
              <a:buSzPts val="2100"/>
              <a:buFont typeface="Roboto"/>
              <a:buChar char="●"/>
            </a:pPr>
            <a:r>
              <a:rPr b="1" lang="en" sz="2100">
                <a:latin typeface="Roboto"/>
                <a:ea typeface="Roboto"/>
                <a:cs typeface="Roboto"/>
                <a:sym typeface="Roboto"/>
              </a:rPr>
              <a:t>Ran EDA, correlations, OLS models, random forest, and clustering</a:t>
            </a:r>
            <a:endParaRPr b="1" sz="2100">
              <a:latin typeface="Roboto"/>
              <a:ea typeface="Roboto"/>
              <a:cs typeface="Roboto"/>
              <a:sym typeface="Roboto"/>
            </a:endParaRPr>
          </a:p>
          <a:p>
            <a:pPr indent="0" lvl="0" marL="0" rtl="0" algn="l">
              <a:lnSpc>
                <a:spcPct val="115000"/>
              </a:lnSpc>
              <a:spcBef>
                <a:spcPts val="1200"/>
              </a:spcBef>
              <a:spcAft>
                <a:spcPts val="0"/>
              </a:spcAft>
              <a:buNone/>
            </a:pPr>
            <a:r>
              <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000"/>
              </a:spcAft>
              <a:buNone/>
            </a:pPr>
            <a:r>
              <a:t/>
            </a:r>
            <a:endParaRPr b="1" i="1" sz="18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903" name="Shape 903"/>
        <p:cNvGrpSpPr/>
        <p:nvPr/>
      </p:nvGrpSpPr>
      <p:grpSpPr>
        <a:xfrm>
          <a:off x="0" y="0"/>
          <a:ext cx="0" cy="0"/>
          <a:chOff x="0" y="0"/>
          <a:chExt cx="0" cy="0"/>
        </a:xfrm>
      </p:grpSpPr>
      <p:sp>
        <p:nvSpPr>
          <p:cNvPr id="904" name="Google Shape;904;p66"/>
          <p:cNvSpPr txBox="1"/>
          <p:nvPr>
            <p:ph type="title"/>
          </p:nvPr>
        </p:nvSpPr>
        <p:spPr>
          <a:xfrm>
            <a:off x="435250" y="124250"/>
            <a:ext cx="8600400" cy="6927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300"/>
              <a:t>Appendix 2: Dataset Information</a:t>
            </a:r>
            <a:endParaRPr sz="3300"/>
          </a:p>
        </p:txBody>
      </p:sp>
      <p:graphicFrame>
        <p:nvGraphicFramePr>
          <p:cNvPr id="905" name="Google Shape;905;p66"/>
          <p:cNvGraphicFramePr/>
          <p:nvPr/>
        </p:nvGraphicFramePr>
        <p:xfrm>
          <a:off x="435250" y="945950"/>
          <a:ext cx="3000000" cy="3000000"/>
        </p:xfrm>
        <a:graphic>
          <a:graphicData uri="http://schemas.openxmlformats.org/drawingml/2006/table">
            <a:tbl>
              <a:tblPr>
                <a:noFill/>
                <a:tableStyleId>{28417AAB-C598-4093-861E-54810CBB32D7}</a:tableStyleId>
              </a:tblPr>
              <a:tblGrid>
                <a:gridCol w="3898225"/>
                <a:gridCol w="4497975"/>
              </a:tblGrid>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County Health Rankings and Roadmaps 2025</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Char char="●"/>
                      </a:pPr>
                      <a:r>
                        <a:rPr lang="en" sz="1000"/>
                        <a:t>University of Wisconsin Population Health Institute in partnership with the Robert Wood Johnson Foundation</a:t>
                      </a:r>
                      <a:endParaRPr sz="1000"/>
                    </a:p>
                    <a:p>
                      <a:pPr indent="-292100" lvl="0" marL="457200" rtl="0" algn="l">
                        <a:lnSpc>
                          <a:spcPct val="115000"/>
                        </a:lnSpc>
                        <a:spcBef>
                          <a:spcPts val="0"/>
                        </a:spcBef>
                        <a:spcAft>
                          <a:spcPts val="0"/>
                        </a:spcAft>
                        <a:buSzPts val="1000"/>
                        <a:buChar char="●"/>
                      </a:pPr>
                      <a:r>
                        <a:rPr lang="en" sz="1000"/>
                        <a:t>Integrates data from various federal and state agencies into a single county-level dataset</a:t>
                      </a:r>
                      <a:endParaRPr sz="1000"/>
                    </a:p>
                    <a:p>
                      <a:pPr indent="0" lvl="0" marL="0" rtl="0" algn="l">
                        <a:lnSpc>
                          <a:spcPct val="115000"/>
                        </a:lnSpc>
                        <a:spcBef>
                          <a:spcPts val="0"/>
                        </a:spcBef>
                        <a:spcAft>
                          <a:spcPts val="0"/>
                        </a:spcAft>
                        <a:buNone/>
                      </a:pPr>
                      <a:r>
                        <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1C1C1"/>
                      </a:solidFill>
                      <a:prstDash val="solid"/>
                      <a:round/>
                      <a:headEnd len="sm" w="sm" type="none"/>
                      <a:tailEnd len="sm" w="sm" type="none"/>
                    </a:lnB>
                  </a:tcPr>
                </a:tc>
              </a:tr>
              <a:tr h="3244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HUD Comprehensive Housing Affordability Strategy (CHAS) data</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U.S. Department of Housing and Urban Development</a:t>
                      </a:r>
                      <a:endParaRPr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Integrates data from ACS </a:t>
                      </a:r>
                      <a:endParaRPr sz="1000">
                        <a:latin typeface="Roboto"/>
                        <a:ea typeface="Roboto"/>
                        <a:cs typeface="Roboto"/>
                        <a:sym typeface="Roboto"/>
                      </a:endParaRPr>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American Community Services (ACS)</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292100" lvl="0" marL="457200" rtl="0" algn="l">
                        <a:lnSpc>
                          <a:spcPct val="115000"/>
                        </a:lnSpc>
                        <a:spcBef>
                          <a:spcPts val="0"/>
                        </a:spcBef>
                        <a:spcAft>
                          <a:spcPts val="0"/>
                        </a:spcAft>
                        <a:buSzPts val="1000"/>
                        <a:buChar char="●"/>
                      </a:pPr>
                      <a:r>
                        <a:rPr lang="en" sz="1000"/>
                        <a:t>U.S. Census Bureau</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tcPr>
                </a:tc>
              </a:tr>
              <a:tr h="513750">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HUD Point In Time (PIT) Counts</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285750" lvl="0" marL="457200" rtl="0" algn="l">
                        <a:lnSpc>
                          <a:spcPct val="115000"/>
                        </a:lnSpc>
                        <a:spcBef>
                          <a:spcPts val="0"/>
                        </a:spcBef>
                        <a:spcAft>
                          <a:spcPts val="0"/>
                        </a:spcAft>
                        <a:buSzPts val="900"/>
                        <a:buChar char="●"/>
                      </a:pPr>
                      <a:r>
                        <a:rPr lang="en" sz="900"/>
                        <a:t>U.S. Department of Housing and Urban Development</a:t>
                      </a:r>
                      <a:endParaRPr sz="900"/>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909" name="Shape 909"/>
        <p:cNvGrpSpPr/>
        <p:nvPr/>
      </p:nvGrpSpPr>
      <p:grpSpPr>
        <a:xfrm>
          <a:off x="0" y="0"/>
          <a:ext cx="0" cy="0"/>
          <a:chOff x="0" y="0"/>
          <a:chExt cx="0" cy="0"/>
        </a:xfrm>
      </p:grpSpPr>
      <p:sp>
        <p:nvSpPr>
          <p:cNvPr id="910" name="Google Shape;910;p67"/>
          <p:cNvSpPr txBox="1"/>
          <p:nvPr>
            <p:ph type="title"/>
          </p:nvPr>
        </p:nvSpPr>
        <p:spPr>
          <a:xfrm>
            <a:off x="435250" y="124250"/>
            <a:ext cx="8600400" cy="6927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3300"/>
              <a:t>Appendix 2: feature dictionary</a:t>
            </a:r>
            <a:endParaRPr sz="3300"/>
          </a:p>
        </p:txBody>
      </p:sp>
      <p:graphicFrame>
        <p:nvGraphicFramePr>
          <p:cNvPr id="911" name="Google Shape;911;p67"/>
          <p:cNvGraphicFramePr/>
          <p:nvPr/>
        </p:nvGraphicFramePr>
        <p:xfrm>
          <a:off x="435250" y="945950"/>
          <a:ext cx="3000000" cy="3000000"/>
        </p:xfrm>
        <a:graphic>
          <a:graphicData uri="http://schemas.openxmlformats.org/drawingml/2006/table">
            <a:tbl>
              <a:tblPr>
                <a:noFill/>
                <a:tableStyleId>{28417AAB-C598-4093-861E-54810CBB32D7}</a:tableStyleId>
              </a:tblPr>
              <a:tblGrid>
                <a:gridCol w="3898225"/>
                <a:gridCol w="4497975"/>
              </a:tblGrid>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Severe Housing Cost Burden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Percentage of households that spend 50% or more of their household income on housing.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1C1C1"/>
                      </a:solidFill>
                      <a:prstDash val="solid"/>
                      <a:round/>
                      <a:headEnd len="sm" w="sm" type="none"/>
                      <a:tailEnd len="sm" w="sm" type="none"/>
                    </a:lnB>
                  </a:tcPr>
                </a:tc>
              </a:tr>
              <a:tr h="3244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Children in Poverty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Roboto"/>
                          <a:ea typeface="Roboto"/>
                          <a:cs typeface="Roboto"/>
                          <a:sym typeface="Roboto"/>
                        </a:rPr>
                        <a:t>Percentage of people under age 18 in poverty.</a:t>
                      </a:r>
                      <a:endParaRPr sz="1000">
                        <a:latin typeface="Roboto"/>
                        <a:ea typeface="Roboto"/>
                        <a:cs typeface="Roboto"/>
                        <a:sym typeface="Roboto"/>
                      </a:endParaRPr>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Unemployment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Percentage of population ages 16 and older unemployed but seeking work.</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tcPr>
                </a:tc>
              </a:tr>
              <a:tr h="513750">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Income Inequality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Ratio of household income at the 80th percentile to income at the 20th percentile.</a:t>
                      </a:r>
                      <a:endParaRPr sz="900"/>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r h="513750">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Child Care Cost Burden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Number of child care centers per 1,000 population under 5 years old.</a:t>
                      </a:r>
                      <a:endParaRPr sz="900"/>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Median Household Income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The income where half of households in a county earn more and half of households earn less.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tcPr>
                </a:tc>
              </a:tr>
              <a:tr h="513750">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Mental Health Providers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900"/>
                        <a:t>Number of mental health care providers per 100,000 population</a:t>
                      </a:r>
                      <a:endParaRPr sz="900"/>
                    </a:p>
                  </a:txBody>
                  <a:tcPr marT="19050" marB="19050" marR="28575" marL="28575" anchor="b">
                    <a:lnL cap="flat" cmpd="sng" w="9525">
                      <a:solidFill>
                        <a:srgbClr val="C1C1C1"/>
                      </a:solidFill>
                      <a:prstDash val="solid"/>
                      <a:round/>
                      <a:headEnd len="sm" w="sm" type="none"/>
                      <a:tailEnd len="sm" w="sm" type="none"/>
                    </a:lnL>
                    <a:lnR cap="flat" cmpd="sng" w="9525">
                      <a:solidFill>
                        <a:srgbClr val="C1C1C1"/>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1C1C1"/>
                      </a:solidFill>
                      <a:prstDash val="solid"/>
                      <a:round/>
                      <a:headEnd len="sm" w="sm" type="none"/>
                      <a:tailEnd len="sm" w="sm" type="none"/>
                    </a:lnB>
                    <a:solidFill>
                      <a:srgbClr val="FFFFFF"/>
                    </a:solidFill>
                  </a:tcPr>
                </a:tc>
              </a:tr>
              <a:tr h="540775">
                <a:tc>
                  <a:txBody>
                    <a:bodyPr/>
                    <a:lstStyle/>
                    <a:p>
                      <a:pPr indent="0" lvl="0" marL="0" rtl="0" algn="l">
                        <a:lnSpc>
                          <a:spcPct val="115000"/>
                        </a:lnSpc>
                        <a:spcBef>
                          <a:spcPts val="0"/>
                        </a:spcBef>
                        <a:spcAft>
                          <a:spcPts val="0"/>
                        </a:spcAft>
                        <a:buNone/>
                      </a:pPr>
                      <a:r>
                        <a:rPr lang="en" sz="1100">
                          <a:solidFill>
                            <a:srgbClr val="0E101A"/>
                          </a:solidFill>
                          <a:latin typeface="Roboto"/>
                          <a:ea typeface="Roboto"/>
                          <a:cs typeface="Roboto"/>
                          <a:sym typeface="Roboto"/>
                        </a:rPr>
                        <a:t>Poor Mental Health Days raw value</a:t>
                      </a:r>
                      <a:endParaRPr sz="1100">
                        <a:solidFill>
                          <a:srgbClr val="0E101A"/>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Average number of mentally unhealthy days reported in past 30 days (age-adjusted).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1C1C1"/>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915" name="Shape 915"/>
        <p:cNvGrpSpPr/>
        <p:nvPr/>
      </p:nvGrpSpPr>
      <p:grpSpPr>
        <a:xfrm>
          <a:off x="0" y="0"/>
          <a:ext cx="0" cy="0"/>
          <a:chOff x="0" y="0"/>
          <a:chExt cx="0" cy="0"/>
        </a:xfrm>
      </p:grpSpPr>
      <p:sp>
        <p:nvSpPr>
          <p:cNvPr id="916" name="Google Shape;916;p68"/>
          <p:cNvSpPr txBox="1"/>
          <p:nvPr>
            <p:ph type="title"/>
          </p:nvPr>
        </p:nvSpPr>
        <p:spPr>
          <a:xfrm>
            <a:off x="507400" y="1531025"/>
            <a:ext cx="3687300" cy="18471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Appendix 3: </a:t>
            </a:r>
            <a:endParaRPr/>
          </a:p>
          <a:p>
            <a:pPr indent="0" lvl="0" marL="0" rtl="0" algn="ctr">
              <a:spcBef>
                <a:spcPts val="0"/>
              </a:spcBef>
              <a:spcAft>
                <a:spcPts val="0"/>
              </a:spcAft>
              <a:buNone/>
            </a:pPr>
            <a:r>
              <a:rPr lang="en"/>
              <a:t>EDA - County Extremes</a:t>
            </a:r>
            <a:endParaRPr/>
          </a:p>
        </p:txBody>
      </p:sp>
      <p:sp>
        <p:nvSpPr>
          <p:cNvPr id="917" name="Google Shape;917;p68"/>
          <p:cNvSpPr txBox="1"/>
          <p:nvPr/>
        </p:nvSpPr>
        <p:spPr>
          <a:xfrm>
            <a:off x="4194700" y="840125"/>
            <a:ext cx="4651500" cy="4164000"/>
          </a:xfrm>
          <a:prstGeom prst="rect">
            <a:avLst/>
          </a:prstGeom>
          <a:noFill/>
          <a:ln>
            <a:noFill/>
          </a:ln>
        </p:spPr>
        <p:txBody>
          <a:bodyPr anchorCtr="0" anchor="ctr" bIns="91425" lIns="91425" spcFirstLastPara="1" rIns="91425" wrap="square" tIns="91425">
            <a:noAutofit/>
          </a:bodyPr>
          <a:lstStyle/>
          <a:p>
            <a:pPr indent="-361950" lvl="0" marL="457200" rtl="0" algn="l">
              <a:lnSpc>
                <a:spcPct val="115000"/>
              </a:lnSpc>
              <a:spcBef>
                <a:spcPts val="1200"/>
              </a:spcBef>
              <a:spcAft>
                <a:spcPts val="0"/>
              </a:spcAft>
              <a:buSzPts val="2100"/>
              <a:buFont typeface="Oswald"/>
              <a:buChar char="●"/>
            </a:pPr>
            <a:r>
              <a:rPr b="1" lang="en" sz="2100">
                <a:latin typeface="Oswald"/>
                <a:ea typeface="Oswald"/>
                <a:cs typeface="Oswald"/>
                <a:sym typeface="Oswald"/>
              </a:rPr>
              <a:t>Harding County: 0 mental health providers</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Los Alamos: high providers, high income, low burden</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McKinley: high poverty / high need indicators</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Taos: high housing burden signal</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Median Household Income = economic context</a:t>
            </a:r>
            <a:endParaRPr b="1" sz="2100">
              <a:latin typeface="Oswald"/>
              <a:ea typeface="Oswald"/>
              <a:cs typeface="Oswald"/>
              <a:sym typeface="Oswald"/>
            </a:endParaRPr>
          </a:p>
          <a:p>
            <a:pPr indent="0" lvl="0" marL="0" rtl="0" algn="l">
              <a:lnSpc>
                <a:spcPct val="115000"/>
              </a:lnSpc>
              <a:spcBef>
                <a:spcPts val="1200"/>
              </a:spcBef>
              <a:spcAft>
                <a:spcPts val="0"/>
              </a:spcAft>
              <a:buNone/>
            </a:pPr>
            <a:r>
              <a:t/>
            </a:r>
            <a:endParaRPr sz="1600">
              <a:solidFill>
                <a:schemeClr val="dk1"/>
              </a:solidFill>
              <a:latin typeface="Oswald"/>
              <a:ea typeface="Oswald"/>
              <a:cs typeface="Oswald"/>
              <a:sym typeface="Oswald"/>
            </a:endParaRPr>
          </a:p>
          <a:p>
            <a:pPr indent="0" lvl="0" marL="0" rtl="0" algn="l">
              <a:lnSpc>
                <a:spcPct val="115000"/>
              </a:lnSpc>
              <a:spcBef>
                <a:spcPts val="1200"/>
              </a:spcBef>
              <a:spcAft>
                <a:spcPts val="1000"/>
              </a:spcAft>
              <a:buNone/>
            </a:pPr>
            <a:r>
              <a:t/>
            </a:r>
            <a:endParaRPr b="1" i="1" sz="1800">
              <a:solidFill>
                <a:schemeClr val="dk1"/>
              </a:solidFill>
              <a:latin typeface="Oswald"/>
              <a:ea typeface="Oswald"/>
              <a:cs typeface="Oswald"/>
              <a:sym typeface="Oswa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921" name="Shape 921"/>
        <p:cNvGrpSpPr/>
        <p:nvPr/>
      </p:nvGrpSpPr>
      <p:grpSpPr>
        <a:xfrm>
          <a:off x="0" y="0"/>
          <a:ext cx="0" cy="0"/>
          <a:chOff x="0" y="0"/>
          <a:chExt cx="0" cy="0"/>
        </a:xfrm>
      </p:grpSpPr>
      <p:sp>
        <p:nvSpPr>
          <p:cNvPr id="922" name="Google Shape;922;p69"/>
          <p:cNvSpPr txBox="1"/>
          <p:nvPr>
            <p:ph type="title"/>
          </p:nvPr>
        </p:nvSpPr>
        <p:spPr>
          <a:xfrm>
            <a:off x="309000" y="160325"/>
            <a:ext cx="85371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Appendix 4: </a:t>
            </a:r>
            <a:r>
              <a:rPr lang="en"/>
              <a:t>c</a:t>
            </a:r>
            <a:r>
              <a:rPr lang="en"/>
              <a:t>orrelation matrix</a:t>
            </a:r>
            <a:endParaRPr/>
          </a:p>
        </p:txBody>
      </p:sp>
      <p:sp>
        <p:nvSpPr>
          <p:cNvPr id="923" name="Google Shape;923;p69"/>
          <p:cNvSpPr txBox="1"/>
          <p:nvPr/>
        </p:nvSpPr>
        <p:spPr>
          <a:xfrm>
            <a:off x="4800600" y="897525"/>
            <a:ext cx="4232700" cy="41640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1200"/>
              </a:spcBef>
              <a:spcAft>
                <a:spcPts val="0"/>
              </a:spcAft>
              <a:buSzPts val="1700"/>
              <a:buFont typeface="Oswald"/>
              <a:buChar char="●"/>
            </a:pPr>
            <a:r>
              <a:rPr b="1" lang="en" sz="1700">
                <a:latin typeface="Oswald"/>
                <a:ea typeface="Oswald"/>
                <a:cs typeface="Oswald"/>
                <a:sym typeface="Oswald"/>
              </a:rPr>
              <a:t>Children in poverty and median household income are strongly negatively correlated</a:t>
            </a:r>
            <a:endParaRPr b="1" sz="1700">
              <a:latin typeface="Oswald"/>
              <a:ea typeface="Oswald"/>
              <a:cs typeface="Oswald"/>
              <a:sym typeface="Oswald"/>
            </a:endParaRPr>
          </a:p>
          <a:p>
            <a:pPr indent="-336550" lvl="0" marL="457200" rtl="0" algn="l">
              <a:lnSpc>
                <a:spcPct val="115000"/>
              </a:lnSpc>
              <a:spcBef>
                <a:spcPts val="0"/>
              </a:spcBef>
              <a:spcAft>
                <a:spcPts val="0"/>
              </a:spcAft>
              <a:buSzPts val="1700"/>
              <a:buFont typeface="Oswald"/>
              <a:buChar char="●"/>
            </a:pPr>
            <a:r>
              <a:rPr b="1" lang="en" sz="1700">
                <a:latin typeface="Oswald"/>
                <a:ea typeface="Oswald"/>
                <a:cs typeface="Oswald"/>
                <a:sym typeface="Oswald"/>
              </a:rPr>
              <a:t>Poor mental health days acts like a socioeconomic indicator (similar to poverty or median household income)</a:t>
            </a:r>
            <a:endParaRPr b="1" sz="1700">
              <a:latin typeface="Oswald"/>
              <a:ea typeface="Oswald"/>
              <a:cs typeface="Oswald"/>
              <a:sym typeface="Oswald"/>
            </a:endParaRPr>
          </a:p>
          <a:p>
            <a:pPr indent="-336550" lvl="0" marL="457200" rtl="0" algn="l">
              <a:lnSpc>
                <a:spcPct val="115000"/>
              </a:lnSpc>
              <a:spcBef>
                <a:spcPts val="0"/>
              </a:spcBef>
              <a:spcAft>
                <a:spcPts val="0"/>
              </a:spcAft>
              <a:buSzPts val="1700"/>
              <a:buFont typeface="Oswald"/>
              <a:buChar char="●"/>
            </a:pPr>
            <a:r>
              <a:rPr b="1" lang="en" sz="1700">
                <a:latin typeface="Oswald"/>
                <a:ea typeface="Oswald"/>
                <a:cs typeface="Oswald"/>
                <a:sym typeface="Oswald"/>
              </a:rPr>
              <a:t>Mental health providers is not strongly correlated to socioeconomic indicators</a:t>
            </a:r>
            <a:endParaRPr b="1" sz="1700">
              <a:latin typeface="Oswald"/>
              <a:ea typeface="Oswald"/>
              <a:cs typeface="Oswald"/>
              <a:sym typeface="Oswald"/>
            </a:endParaRPr>
          </a:p>
          <a:p>
            <a:pPr indent="0" lvl="0" marL="0" rtl="0" algn="l">
              <a:lnSpc>
                <a:spcPct val="115000"/>
              </a:lnSpc>
              <a:spcBef>
                <a:spcPts val="1200"/>
              </a:spcBef>
              <a:spcAft>
                <a:spcPts val="0"/>
              </a:spcAft>
              <a:buNone/>
            </a:pPr>
            <a:r>
              <a:t/>
            </a:r>
            <a:endParaRPr sz="1200">
              <a:solidFill>
                <a:schemeClr val="dk1"/>
              </a:solidFill>
              <a:latin typeface="Oswald"/>
              <a:ea typeface="Oswald"/>
              <a:cs typeface="Oswald"/>
              <a:sym typeface="Oswald"/>
            </a:endParaRPr>
          </a:p>
          <a:p>
            <a:pPr indent="0" lvl="0" marL="0" rtl="0" algn="l">
              <a:lnSpc>
                <a:spcPct val="115000"/>
              </a:lnSpc>
              <a:spcBef>
                <a:spcPts val="1200"/>
              </a:spcBef>
              <a:spcAft>
                <a:spcPts val="1000"/>
              </a:spcAft>
              <a:buNone/>
            </a:pPr>
            <a:r>
              <a:t/>
            </a:r>
            <a:endParaRPr b="1" i="1">
              <a:solidFill>
                <a:schemeClr val="dk1"/>
              </a:solidFill>
              <a:latin typeface="Oswald"/>
              <a:ea typeface="Oswald"/>
              <a:cs typeface="Oswald"/>
              <a:sym typeface="Oswald"/>
            </a:endParaRPr>
          </a:p>
        </p:txBody>
      </p:sp>
      <p:pic>
        <p:nvPicPr>
          <p:cNvPr id="924" name="Google Shape;924;p69"/>
          <p:cNvPicPr preferRelativeResize="0"/>
          <p:nvPr/>
        </p:nvPicPr>
        <p:blipFill>
          <a:blip r:embed="rId3">
            <a:alphaModFix/>
          </a:blip>
          <a:stretch>
            <a:fillRect/>
          </a:stretch>
        </p:blipFill>
        <p:spPr>
          <a:xfrm>
            <a:off x="309000" y="954920"/>
            <a:ext cx="4491600" cy="404920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928" name="Shape 928"/>
        <p:cNvGrpSpPr/>
        <p:nvPr/>
      </p:nvGrpSpPr>
      <p:grpSpPr>
        <a:xfrm>
          <a:off x="0" y="0"/>
          <a:ext cx="0" cy="0"/>
          <a:chOff x="0" y="0"/>
          <a:chExt cx="0" cy="0"/>
        </a:xfrm>
      </p:grpSpPr>
      <p:sp>
        <p:nvSpPr>
          <p:cNvPr id="929" name="Google Shape;929;p70"/>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30" name="Google Shape;930;p70"/>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931" name="Google Shape;931;p70"/>
          <p:cNvSpPr txBox="1"/>
          <p:nvPr>
            <p:ph idx="3" type="subTitle"/>
          </p:nvPr>
        </p:nvSpPr>
        <p:spPr>
          <a:xfrm rot="-5400000">
            <a:off x="-283500" y="328925"/>
            <a:ext cx="822900" cy="255900"/>
          </a:xfrm>
          <a:prstGeom prst="rect">
            <a:avLst/>
          </a:prstGeom>
          <a:solidFill>
            <a:srgbClr val="999999"/>
          </a:solidFill>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932" name="Google Shape;932;p70"/>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933" name="Google Shape;933;p70"/>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ASSESSMENT</a:t>
            </a:r>
            <a:endParaRPr>
              <a:solidFill>
                <a:srgbClr val="FDFAF3"/>
              </a:solidFill>
            </a:endParaRPr>
          </a:p>
        </p:txBody>
      </p:sp>
      <p:sp>
        <p:nvSpPr>
          <p:cNvPr id="934" name="Google Shape;934;p70"/>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02</a:t>
            </a:r>
            <a:endParaRPr b="1">
              <a:solidFill>
                <a:srgbClr val="FDFAF3"/>
              </a:solidFill>
            </a:endParaRPr>
          </a:p>
        </p:txBody>
      </p:sp>
      <p:sp>
        <p:nvSpPr>
          <p:cNvPr id="935" name="Google Shape;935;p70"/>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936" name="Google Shape;936;p70"/>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937" name="Google Shape;937;p70"/>
          <p:cNvSpPr/>
          <p:nvPr/>
        </p:nvSpPr>
        <p:spPr>
          <a:xfrm>
            <a:off x="544650" y="-5550"/>
            <a:ext cx="8376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938" name="Google Shape;938;p70"/>
          <p:cNvSpPr txBox="1"/>
          <p:nvPr>
            <p:ph type="title"/>
          </p:nvPr>
        </p:nvSpPr>
        <p:spPr>
          <a:xfrm>
            <a:off x="675925" y="114300"/>
            <a:ext cx="8206200" cy="908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700">
                <a:solidFill>
                  <a:srgbClr val="B45F06"/>
                </a:solidFill>
              </a:rPr>
              <a:t>Appendix 7a</a:t>
            </a:r>
            <a:endParaRPr sz="4700">
              <a:solidFill>
                <a:srgbClr val="B45F06"/>
              </a:solidFill>
            </a:endParaRPr>
          </a:p>
        </p:txBody>
      </p:sp>
      <p:sp>
        <p:nvSpPr>
          <p:cNvPr id="939" name="Google Shape;939;p70"/>
          <p:cNvSpPr txBox="1"/>
          <p:nvPr/>
        </p:nvSpPr>
        <p:spPr>
          <a:xfrm>
            <a:off x="781198" y="1030650"/>
            <a:ext cx="7881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lt1"/>
                </a:solidFill>
                <a:latin typeface="Roboto"/>
                <a:ea typeface="Roboto"/>
                <a:cs typeface="Roboto"/>
                <a:sym typeface="Roboto"/>
              </a:rPr>
              <a:t>County clustering with K-Means</a:t>
            </a:r>
            <a:endParaRPr b="1" sz="2500">
              <a:solidFill>
                <a:schemeClr val="lt1"/>
              </a:solidFill>
              <a:latin typeface="Roboto"/>
              <a:ea typeface="Roboto"/>
              <a:cs typeface="Roboto"/>
              <a:sym typeface="Roboto"/>
            </a:endParaRPr>
          </a:p>
        </p:txBody>
      </p:sp>
      <p:sp>
        <p:nvSpPr>
          <p:cNvPr id="940" name="Google Shape;940;p70"/>
          <p:cNvSpPr txBox="1"/>
          <p:nvPr/>
        </p:nvSpPr>
        <p:spPr>
          <a:xfrm>
            <a:off x="4382625" y="1875700"/>
            <a:ext cx="4797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lt1"/>
              </a:solidFill>
              <a:latin typeface="Roboto Light"/>
              <a:ea typeface="Roboto Light"/>
              <a:cs typeface="Roboto Light"/>
              <a:sym typeface="Roboto Light"/>
            </a:endParaRPr>
          </a:p>
        </p:txBody>
      </p:sp>
      <p:grpSp>
        <p:nvGrpSpPr>
          <p:cNvPr id="941" name="Google Shape;941;p70"/>
          <p:cNvGrpSpPr/>
          <p:nvPr/>
        </p:nvGrpSpPr>
        <p:grpSpPr>
          <a:xfrm>
            <a:off x="581026" y="1875710"/>
            <a:ext cx="8286081" cy="3267842"/>
            <a:chOff x="1102111" y="1537927"/>
            <a:chExt cx="7224763" cy="2067600"/>
          </a:xfrm>
        </p:grpSpPr>
        <p:sp>
          <p:nvSpPr>
            <p:cNvPr id="942" name="Google Shape;942;p70"/>
            <p:cNvSpPr/>
            <p:nvPr/>
          </p:nvSpPr>
          <p:spPr>
            <a:xfrm>
              <a:off x="5264125" y="1585373"/>
              <a:ext cx="198300" cy="198300"/>
            </a:xfrm>
            <a:prstGeom prst="star4">
              <a:avLst>
                <a:gd fmla="val 20600" name="adj"/>
              </a:avLst>
            </a:prstGeom>
            <a:solidFill>
              <a:srgbClr val="202124"/>
            </a:solidFill>
            <a:ln>
              <a:noFill/>
            </a:ln>
          </p:spPr>
          <p:txBody>
            <a:bodyPr anchorCtr="0" anchor="ctr" bIns="104850" lIns="104850" spcFirstLastPara="1" rIns="104850" wrap="square" tIns="104850">
              <a:noAutofit/>
            </a:bodyPr>
            <a:lstStyle/>
            <a:p>
              <a:pPr indent="0" lvl="0" marL="0" rtl="0" algn="ctr">
                <a:spcBef>
                  <a:spcPts val="0"/>
                </a:spcBef>
                <a:spcAft>
                  <a:spcPts val="0"/>
                </a:spcAft>
                <a:buNone/>
              </a:pPr>
              <a:r>
                <a:t/>
              </a:r>
              <a:endParaRPr sz="1606">
                <a:latin typeface="Days One"/>
                <a:ea typeface="Days One"/>
                <a:cs typeface="Days One"/>
                <a:sym typeface="Days One"/>
              </a:endParaRPr>
            </a:p>
          </p:txBody>
        </p:sp>
        <p:sp>
          <p:nvSpPr>
            <p:cNvPr id="943" name="Google Shape;943;p70"/>
            <p:cNvSpPr/>
            <p:nvPr/>
          </p:nvSpPr>
          <p:spPr>
            <a:xfrm rot="10800000">
              <a:off x="3406863" y="1585373"/>
              <a:ext cx="198300" cy="198300"/>
            </a:xfrm>
            <a:prstGeom prst="star4">
              <a:avLst>
                <a:gd fmla="val 20600" name="adj"/>
              </a:avLst>
            </a:prstGeom>
            <a:solidFill>
              <a:srgbClr val="202124"/>
            </a:solidFill>
            <a:ln>
              <a:noFill/>
            </a:ln>
          </p:spPr>
          <p:txBody>
            <a:bodyPr anchorCtr="0" anchor="ctr" bIns="104850" lIns="104850" spcFirstLastPara="1" rIns="104850" wrap="square" tIns="104850">
              <a:noAutofit/>
            </a:bodyPr>
            <a:lstStyle/>
            <a:p>
              <a:pPr indent="0" lvl="0" marL="0" rtl="0" algn="ctr">
                <a:spcBef>
                  <a:spcPts val="0"/>
                </a:spcBef>
                <a:spcAft>
                  <a:spcPts val="0"/>
                </a:spcAft>
                <a:buNone/>
              </a:pPr>
              <a:r>
                <a:t/>
              </a:r>
              <a:endParaRPr sz="1606">
                <a:latin typeface="Days One"/>
                <a:ea typeface="Days One"/>
                <a:cs typeface="Days One"/>
                <a:sym typeface="Days One"/>
              </a:endParaRPr>
            </a:p>
          </p:txBody>
        </p:sp>
        <p:sp>
          <p:nvSpPr>
            <p:cNvPr id="944" name="Google Shape;944;p70"/>
            <p:cNvSpPr/>
            <p:nvPr/>
          </p:nvSpPr>
          <p:spPr>
            <a:xfrm rot="10800000">
              <a:off x="7173300" y="1585373"/>
              <a:ext cx="198300" cy="198300"/>
            </a:xfrm>
            <a:prstGeom prst="star4">
              <a:avLst>
                <a:gd fmla="val 20600" name="adj"/>
              </a:avLst>
            </a:prstGeom>
            <a:solidFill>
              <a:srgbClr val="202124"/>
            </a:solidFill>
            <a:ln>
              <a:noFill/>
            </a:ln>
          </p:spPr>
          <p:txBody>
            <a:bodyPr anchorCtr="0" anchor="ctr" bIns="104850" lIns="104850" spcFirstLastPara="1" rIns="104850" wrap="square" tIns="104850">
              <a:noAutofit/>
            </a:bodyPr>
            <a:lstStyle/>
            <a:p>
              <a:pPr indent="0" lvl="0" marL="0" rtl="0" algn="ctr">
                <a:spcBef>
                  <a:spcPts val="0"/>
                </a:spcBef>
                <a:spcAft>
                  <a:spcPts val="0"/>
                </a:spcAft>
                <a:buNone/>
              </a:pPr>
              <a:r>
                <a:t/>
              </a:r>
              <a:endParaRPr sz="1606">
                <a:latin typeface="Days One"/>
                <a:ea typeface="Days One"/>
                <a:cs typeface="Days One"/>
                <a:sym typeface="Days One"/>
              </a:endParaRPr>
            </a:p>
          </p:txBody>
        </p:sp>
        <p:sp>
          <p:nvSpPr>
            <p:cNvPr id="945" name="Google Shape;945;p70"/>
            <p:cNvSpPr txBox="1"/>
            <p:nvPr/>
          </p:nvSpPr>
          <p:spPr>
            <a:xfrm>
              <a:off x="1102111" y="1860873"/>
              <a:ext cx="14313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606">
                  <a:solidFill>
                    <a:srgbClr val="0461F9"/>
                  </a:solidFill>
                  <a:latin typeface="Days One"/>
                  <a:ea typeface="Days One"/>
                  <a:cs typeface="Days One"/>
                  <a:sym typeface="Days One"/>
                </a:rPr>
                <a:t>Purpose</a:t>
              </a:r>
              <a:endParaRPr b="1" sz="1606">
                <a:solidFill>
                  <a:srgbClr val="0461F9"/>
                </a:solidFill>
                <a:latin typeface="Days One"/>
                <a:ea typeface="Days One"/>
                <a:cs typeface="Days One"/>
                <a:sym typeface="Days One"/>
              </a:endParaRPr>
            </a:p>
          </p:txBody>
        </p:sp>
        <p:sp>
          <p:nvSpPr>
            <p:cNvPr id="946" name="Google Shape;946;p70"/>
            <p:cNvSpPr txBox="1"/>
            <p:nvPr/>
          </p:nvSpPr>
          <p:spPr>
            <a:xfrm>
              <a:off x="1168310" y="2353786"/>
              <a:ext cx="1431300" cy="1142700"/>
            </a:xfrm>
            <a:prstGeom prst="rect">
              <a:avLst/>
            </a:prstGeom>
            <a:noFill/>
            <a:ln>
              <a:noFill/>
            </a:ln>
          </p:spPr>
          <p:txBody>
            <a:bodyPr anchorCtr="0" anchor="t" bIns="0" lIns="104850" spcFirstLastPara="1" rIns="104850" wrap="square" tIns="0">
              <a:noAutofit/>
            </a:bodyPr>
            <a:lstStyle/>
            <a:p>
              <a:pPr indent="0" lvl="0" marL="0" rtl="0" algn="ctr">
                <a:lnSpc>
                  <a:spcPct val="115000"/>
                </a:lnSpc>
                <a:spcBef>
                  <a:spcPts val="0"/>
                </a:spcBef>
                <a:spcAft>
                  <a:spcPts val="229"/>
                </a:spcAft>
                <a:buNone/>
              </a:pPr>
              <a:r>
                <a:rPr lang="en" sz="1147">
                  <a:solidFill>
                    <a:srgbClr val="202124"/>
                  </a:solidFill>
                  <a:latin typeface="Albert Sans"/>
                  <a:ea typeface="Albert Sans"/>
                  <a:cs typeface="Albert Sans"/>
                  <a:sym typeface="Albert Sans"/>
                </a:rPr>
                <a:t>Identify groups of counties with similar housing and mental health characteristics</a:t>
              </a:r>
              <a:endParaRPr sz="1147">
                <a:solidFill>
                  <a:srgbClr val="202124"/>
                </a:solidFill>
                <a:latin typeface="Albert Sans"/>
                <a:ea typeface="Albert Sans"/>
                <a:cs typeface="Albert Sans"/>
                <a:sym typeface="Albert Sans"/>
              </a:endParaRPr>
            </a:p>
          </p:txBody>
        </p:sp>
        <p:sp>
          <p:nvSpPr>
            <p:cNvPr id="947" name="Google Shape;947;p70"/>
            <p:cNvSpPr txBox="1"/>
            <p:nvPr/>
          </p:nvSpPr>
          <p:spPr>
            <a:xfrm>
              <a:off x="2800466" y="2005518"/>
              <a:ext cx="15348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606">
                  <a:solidFill>
                    <a:srgbClr val="0461F9"/>
                  </a:solidFill>
                  <a:latin typeface="Days One"/>
                  <a:ea typeface="Days One"/>
                  <a:cs typeface="Days One"/>
                  <a:sym typeface="Days One"/>
                </a:rPr>
                <a:t>Four County Profiles</a:t>
              </a:r>
              <a:endParaRPr b="1" sz="1606">
                <a:solidFill>
                  <a:srgbClr val="0461F9"/>
                </a:solidFill>
                <a:latin typeface="Days One"/>
                <a:ea typeface="Days One"/>
                <a:cs typeface="Days One"/>
                <a:sym typeface="Days One"/>
              </a:endParaRPr>
            </a:p>
            <a:p>
              <a:pPr indent="0" lvl="0" marL="0" rtl="0" algn="ctr">
                <a:lnSpc>
                  <a:spcPct val="90000"/>
                </a:lnSpc>
                <a:spcBef>
                  <a:spcPts val="0"/>
                </a:spcBef>
                <a:spcAft>
                  <a:spcPts val="0"/>
                </a:spcAft>
                <a:buNone/>
              </a:pPr>
              <a:r>
                <a:t/>
              </a:r>
              <a:endParaRPr b="1" sz="1606">
                <a:solidFill>
                  <a:srgbClr val="0461F9"/>
                </a:solidFill>
                <a:latin typeface="Days One"/>
                <a:ea typeface="Days One"/>
                <a:cs typeface="Days One"/>
                <a:sym typeface="Days One"/>
              </a:endParaRPr>
            </a:p>
          </p:txBody>
        </p:sp>
        <p:sp>
          <p:nvSpPr>
            <p:cNvPr id="948" name="Google Shape;948;p70"/>
            <p:cNvSpPr txBox="1"/>
            <p:nvPr/>
          </p:nvSpPr>
          <p:spPr>
            <a:xfrm>
              <a:off x="2611080" y="2371010"/>
              <a:ext cx="2022000" cy="1233900"/>
            </a:xfrm>
            <a:prstGeom prst="rect">
              <a:avLst/>
            </a:prstGeom>
            <a:noFill/>
            <a:ln>
              <a:noFill/>
            </a:ln>
          </p:spPr>
          <p:txBody>
            <a:bodyPr anchorCtr="0" anchor="t" bIns="0" lIns="104850" spcFirstLastPara="1" rIns="104850" wrap="square" tIns="0">
              <a:noAutofit/>
            </a:bodyPr>
            <a:lstStyle/>
            <a:p>
              <a:pPr indent="0" lvl="0" marL="0" rtl="0" algn="ctr">
                <a:lnSpc>
                  <a:spcPct val="115000"/>
                </a:lnSpc>
                <a:spcBef>
                  <a:spcPts val="0"/>
                </a:spcBef>
                <a:spcAft>
                  <a:spcPts val="0"/>
                </a:spcAft>
                <a:buNone/>
              </a:pPr>
              <a:r>
                <a:rPr lang="en" sz="1147">
                  <a:solidFill>
                    <a:srgbClr val="202124"/>
                  </a:solidFill>
                  <a:latin typeface="Albert Sans"/>
                  <a:ea typeface="Albert Sans"/>
                  <a:cs typeface="Albert Sans"/>
                  <a:sym typeface="Albert Sans"/>
                </a:rPr>
                <a:t>🏙️ Higher-income counties with high housing burden</a:t>
              </a:r>
              <a:endParaRPr sz="1147">
                <a:solidFill>
                  <a:srgbClr val="202124"/>
                </a:solidFill>
                <a:latin typeface="Albert Sans"/>
                <a:ea typeface="Albert Sans"/>
                <a:cs typeface="Albert Sans"/>
                <a:sym typeface="Albert Sans"/>
              </a:endParaRPr>
            </a:p>
            <a:p>
              <a:pPr indent="0" lvl="0" marL="0" rtl="0" algn="ctr">
                <a:lnSpc>
                  <a:spcPct val="115000"/>
                </a:lnSpc>
                <a:spcBef>
                  <a:spcPts val="229"/>
                </a:spcBef>
                <a:spcAft>
                  <a:spcPts val="0"/>
                </a:spcAft>
                <a:buNone/>
              </a:pPr>
              <a:r>
                <a:rPr lang="en" sz="1147">
                  <a:solidFill>
                    <a:srgbClr val="202124"/>
                  </a:solidFill>
                  <a:latin typeface="Albert Sans"/>
                  <a:ea typeface="Albert Sans"/>
                  <a:cs typeface="Albert Sans"/>
                  <a:sym typeface="Albert Sans"/>
                </a:rPr>
                <a:t>🏥 Lower-income counties with greater provider access</a:t>
              </a:r>
              <a:endParaRPr sz="1147">
                <a:solidFill>
                  <a:srgbClr val="202124"/>
                </a:solidFill>
                <a:latin typeface="Albert Sans"/>
                <a:ea typeface="Albert Sans"/>
                <a:cs typeface="Albert Sans"/>
                <a:sym typeface="Albert Sans"/>
              </a:endParaRPr>
            </a:p>
            <a:p>
              <a:pPr indent="0" lvl="0" marL="0" rtl="0" algn="ctr">
                <a:lnSpc>
                  <a:spcPct val="115000"/>
                </a:lnSpc>
                <a:spcBef>
                  <a:spcPts val="229"/>
                </a:spcBef>
                <a:spcAft>
                  <a:spcPts val="0"/>
                </a:spcAft>
                <a:buNone/>
              </a:pPr>
              <a:r>
                <a:rPr lang="en" sz="1147">
                  <a:solidFill>
                    <a:srgbClr val="202124"/>
                  </a:solidFill>
                  <a:latin typeface="Albert Sans"/>
                  <a:ea typeface="Albert Sans"/>
                  <a:cs typeface="Albert Sans"/>
                  <a:sym typeface="Albert Sans"/>
                </a:rPr>
                <a:t>🌾 Rural counties with limited provider access and higher mental health burden</a:t>
              </a:r>
              <a:endParaRPr sz="1147">
                <a:solidFill>
                  <a:srgbClr val="202124"/>
                </a:solidFill>
                <a:latin typeface="Albert Sans"/>
                <a:ea typeface="Albert Sans"/>
                <a:cs typeface="Albert Sans"/>
                <a:sym typeface="Albert Sans"/>
              </a:endParaRPr>
            </a:p>
            <a:p>
              <a:pPr indent="0" lvl="0" marL="0" rtl="0" algn="ctr">
                <a:lnSpc>
                  <a:spcPct val="115000"/>
                </a:lnSpc>
                <a:spcBef>
                  <a:spcPts val="229"/>
                </a:spcBef>
                <a:spcAft>
                  <a:spcPts val="229"/>
                </a:spcAft>
                <a:buNone/>
              </a:pPr>
              <a:r>
                <a:rPr lang="en" sz="1147">
                  <a:solidFill>
                    <a:srgbClr val="202124"/>
                  </a:solidFill>
                  <a:latin typeface="Albert Sans"/>
                  <a:ea typeface="Albert Sans"/>
                  <a:cs typeface="Albert Sans"/>
                  <a:sym typeface="Albert Sans"/>
                </a:rPr>
                <a:t>⭐ Los Alamos County (unique socioeconomic outlier)</a:t>
              </a:r>
              <a:endParaRPr sz="1147">
                <a:solidFill>
                  <a:srgbClr val="202124"/>
                </a:solidFill>
                <a:latin typeface="Albert Sans"/>
                <a:ea typeface="Albert Sans"/>
                <a:cs typeface="Albert Sans"/>
                <a:sym typeface="Albert Sans"/>
              </a:endParaRPr>
            </a:p>
          </p:txBody>
        </p:sp>
        <p:sp>
          <p:nvSpPr>
            <p:cNvPr id="949" name="Google Shape;949;p70"/>
            <p:cNvSpPr txBox="1"/>
            <p:nvPr/>
          </p:nvSpPr>
          <p:spPr>
            <a:xfrm>
              <a:off x="4616380" y="1983737"/>
              <a:ext cx="15873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606">
                  <a:solidFill>
                    <a:srgbClr val="0461F9"/>
                  </a:solidFill>
                  <a:latin typeface="Days One"/>
                  <a:ea typeface="Days One"/>
                  <a:cs typeface="Days One"/>
                  <a:sym typeface="Days One"/>
                </a:rPr>
                <a:t>Why This Matters</a:t>
              </a:r>
              <a:endParaRPr b="1" sz="1606">
                <a:solidFill>
                  <a:srgbClr val="0461F9"/>
                </a:solidFill>
                <a:latin typeface="Days One"/>
                <a:ea typeface="Days One"/>
                <a:cs typeface="Days One"/>
                <a:sym typeface="Days One"/>
              </a:endParaRPr>
            </a:p>
            <a:p>
              <a:pPr indent="0" lvl="0" marL="0" rtl="0" algn="ctr">
                <a:lnSpc>
                  <a:spcPct val="90000"/>
                </a:lnSpc>
                <a:spcBef>
                  <a:spcPts val="0"/>
                </a:spcBef>
                <a:spcAft>
                  <a:spcPts val="0"/>
                </a:spcAft>
                <a:buNone/>
              </a:pPr>
              <a:r>
                <a:t/>
              </a:r>
              <a:endParaRPr b="1" sz="1606">
                <a:solidFill>
                  <a:srgbClr val="0461F9"/>
                </a:solidFill>
                <a:latin typeface="Days One"/>
                <a:ea typeface="Days One"/>
                <a:cs typeface="Days One"/>
                <a:sym typeface="Days One"/>
              </a:endParaRPr>
            </a:p>
          </p:txBody>
        </p:sp>
        <p:sp>
          <p:nvSpPr>
            <p:cNvPr id="950" name="Google Shape;950;p70"/>
            <p:cNvSpPr txBox="1"/>
            <p:nvPr/>
          </p:nvSpPr>
          <p:spPr>
            <a:xfrm>
              <a:off x="6444913" y="1929221"/>
              <a:ext cx="16539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sz="1606">
                  <a:solidFill>
                    <a:srgbClr val="0461F9"/>
                  </a:solidFill>
                  <a:latin typeface="Days One"/>
                  <a:ea typeface="Days One"/>
                  <a:cs typeface="Days One"/>
                  <a:sym typeface="Days One"/>
                </a:rPr>
                <a:t>Key Finding</a:t>
              </a:r>
              <a:endParaRPr b="1" sz="1606">
                <a:solidFill>
                  <a:srgbClr val="0461F9"/>
                </a:solidFill>
                <a:latin typeface="Days One"/>
                <a:ea typeface="Days One"/>
                <a:cs typeface="Days One"/>
                <a:sym typeface="Days One"/>
              </a:endParaRPr>
            </a:p>
            <a:p>
              <a:pPr indent="0" lvl="0" marL="0" rtl="0" algn="ctr">
                <a:lnSpc>
                  <a:spcPct val="90000"/>
                </a:lnSpc>
                <a:spcBef>
                  <a:spcPts val="0"/>
                </a:spcBef>
                <a:spcAft>
                  <a:spcPts val="0"/>
                </a:spcAft>
                <a:buNone/>
              </a:pPr>
              <a:r>
                <a:t/>
              </a:r>
              <a:endParaRPr b="1" sz="1606">
                <a:solidFill>
                  <a:srgbClr val="0461F9"/>
                </a:solidFill>
                <a:latin typeface="Days One"/>
                <a:ea typeface="Days One"/>
                <a:cs typeface="Days One"/>
                <a:sym typeface="Days One"/>
              </a:endParaRPr>
            </a:p>
          </p:txBody>
        </p:sp>
        <p:sp>
          <p:nvSpPr>
            <p:cNvPr id="951" name="Google Shape;951;p70"/>
            <p:cNvSpPr txBox="1"/>
            <p:nvPr/>
          </p:nvSpPr>
          <p:spPr>
            <a:xfrm>
              <a:off x="6304874" y="2317120"/>
              <a:ext cx="2022000" cy="1288200"/>
            </a:xfrm>
            <a:prstGeom prst="rect">
              <a:avLst/>
            </a:prstGeom>
            <a:noFill/>
            <a:ln>
              <a:noFill/>
            </a:ln>
          </p:spPr>
          <p:txBody>
            <a:bodyPr anchorCtr="0" anchor="t" bIns="0" lIns="104850" spcFirstLastPara="1" rIns="104850" wrap="square" tIns="0">
              <a:noAutofit/>
            </a:bodyPr>
            <a:lstStyle/>
            <a:p>
              <a:pPr indent="0" lvl="0" marL="0" rtl="0" algn="ctr">
                <a:lnSpc>
                  <a:spcPct val="115000"/>
                </a:lnSpc>
                <a:spcBef>
                  <a:spcPts val="0"/>
                </a:spcBef>
                <a:spcAft>
                  <a:spcPts val="229"/>
                </a:spcAft>
                <a:buNone/>
              </a:pPr>
              <a:r>
                <a:rPr lang="en" sz="1147">
                  <a:solidFill>
                    <a:srgbClr val="202124"/>
                  </a:solidFill>
                  <a:latin typeface="Albert Sans"/>
                  <a:ea typeface="Albert Sans"/>
                  <a:cs typeface="Albert Sans"/>
                  <a:sym typeface="Albert Sans"/>
                </a:rPr>
                <a:t>County clustering demonstrates that New Mexico's housing and mental health challenges are not uniform. Different county profiles may require different combinations of housing, economic, and mental health interventions to improve community outcomes.</a:t>
              </a:r>
              <a:endParaRPr sz="1147">
                <a:solidFill>
                  <a:srgbClr val="202124"/>
                </a:solidFill>
                <a:latin typeface="Albert Sans"/>
                <a:ea typeface="Albert Sans"/>
                <a:cs typeface="Albert Sans"/>
                <a:sym typeface="Albert Sans"/>
              </a:endParaRPr>
            </a:p>
          </p:txBody>
        </p:sp>
        <p:sp>
          <p:nvSpPr>
            <p:cNvPr id="952" name="Google Shape;952;p70"/>
            <p:cNvSpPr txBox="1"/>
            <p:nvPr/>
          </p:nvSpPr>
          <p:spPr>
            <a:xfrm>
              <a:off x="4546351" y="2317120"/>
              <a:ext cx="1938600" cy="1188900"/>
            </a:xfrm>
            <a:prstGeom prst="rect">
              <a:avLst/>
            </a:prstGeom>
            <a:noFill/>
            <a:ln>
              <a:noFill/>
            </a:ln>
          </p:spPr>
          <p:txBody>
            <a:bodyPr anchorCtr="0" anchor="t" bIns="0" lIns="104850" spcFirstLastPara="1" rIns="104850" wrap="square" tIns="0">
              <a:noAutofit/>
            </a:bodyPr>
            <a:lstStyle/>
            <a:p>
              <a:pPr indent="0" lvl="0" marL="0" rtl="0" algn="ctr">
                <a:lnSpc>
                  <a:spcPct val="115000"/>
                </a:lnSpc>
                <a:spcBef>
                  <a:spcPts val="0"/>
                </a:spcBef>
                <a:spcAft>
                  <a:spcPts val="229"/>
                </a:spcAft>
                <a:buNone/>
              </a:pPr>
              <a:r>
                <a:rPr lang="en" sz="1147">
                  <a:solidFill>
                    <a:srgbClr val="202124"/>
                  </a:solidFill>
                  <a:latin typeface="Albert Sans"/>
                  <a:ea typeface="Albert Sans"/>
                  <a:cs typeface="Albert Sans"/>
                  <a:sym typeface="Albert Sans"/>
                </a:rPr>
                <a:t>Different county profiles may benefit from different policy approaches rather than a one-size-fits-all solution</a:t>
              </a:r>
              <a:endParaRPr sz="1100"/>
            </a:p>
          </p:txBody>
        </p:sp>
        <p:sp>
          <p:nvSpPr>
            <p:cNvPr id="953" name="Google Shape;953;p70"/>
            <p:cNvSpPr/>
            <p:nvPr/>
          </p:nvSpPr>
          <p:spPr>
            <a:xfrm>
              <a:off x="1744000" y="1585373"/>
              <a:ext cx="198300" cy="198300"/>
            </a:xfrm>
            <a:prstGeom prst="star4">
              <a:avLst>
                <a:gd fmla="val 20600" name="adj"/>
              </a:avLst>
            </a:prstGeom>
            <a:solidFill>
              <a:srgbClr val="202124"/>
            </a:solidFill>
            <a:ln>
              <a:noFill/>
            </a:ln>
          </p:spPr>
          <p:txBody>
            <a:bodyPr anchorCtr="0" anchor="ctr" bIns="104850" lIns="104850" spcFirstLastPara="1" rIns="104850" wrap="square" tIns="104850">
              <a:noAutofit/>
            </a:bodyPr>
            <a:lstStyle/>
            <a:p>
              <a:pPr indent="0" lvl="0" marL="0" rtl="0" algn="ctr">
                <a:spcBef>
                  <a:spcPts val="0"/>
                </a:spcBef>
                <a:spcAft>
                  <a:spcPts val="0"/>
                </a:spcAft>
                <a:buNone/>
              </a:pPr>
              <a:r>
                <a:t/>
              </a:r>
              <a:endParaRPr sz="1606">
                <a:latin typeface="Days One"/>
                <a:ea typeface="Days One"/>
                <a:cs typeface="Days One"/>
                <a:sym typeface="Days One"/>
              </a:endParaRPr>
            </a:p>
          </p:txBody>
        </p:sp>
        <p:cxnSp>
          <p:nvCxnSpPr>
            <p:cNvPr id="954" name="Google Shape;954;p70"/>
            <p:cNvCxnSpPr/>
            <p:nvPr/>
          </p:nvCxnSpPr>
          <p:spPr>
            <a:xfrm flipH="1" rot="5400000">
              <a:off x="2130035" y="19205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cxnSp>
          <p:nvCxnSpPr>
            <p:cNvPr id="955" name="Google Shape;955;p70"/>
            <p:cNvCxnSpPr/>
            <p:nvPr/>
          </p:nvCxnSpPr>
          <p:spPr>
            <a:xfrm rot="5400000">
              <a:off x="2130033" y="29543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cxnSp>
          <p:nvCxnSpPr>
            <p:cNvPr id="956" name="Google Shape;956;p70"/>
            <p:cNvCxnSpPr/>
            <p:nvPr/>
          </p:nvCxnSpPr>
          <p:spPr>
            <a:xfrm flipH="1" rot="5400000">
              <a:off x="3971899" y="19205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cxnSp>
          <p:nvCxnSpPr>
            <p:cNvPr id="957" name="Google Shape;957;p70"/>
            <p:cNvCxnSpPr/>
            <p:nvPr/>
          </p:nvCxnSpPr>
          <p:spPr>
            <a:xfrm rot="5400000">
              <a:off x="3971897" y="29543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cxnSp>
          <p:nvCxnSpPr>
            <p:cNvPr id="958" name="Google Shape;958;p70"/>
            <p:cNvCxnSpPr/>
            <p:nvPr/>
          </p:nvCxnSpPr>
          <p:spPr>
            <a:xfrm flipH="1" rot="5400000">
              <a:off x="5811902" y="19205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cxnSp>
          <p:nvCxnSpPr>
            <p:cNvPr id="959" name="Google Shape;959;p70"/>
            <p:cNvCxnSpPr/>
            <p:nvPr/>
          </p:nvCxnSpPr>
          <p:spPr>
            <a:xfrm rot="5400000">
              <a:off x="5811900" y="2954377"/>
              <a:ext cx="1033800" cy="268500"/>
            </a:xfrm>
            <a:prstGeom prst="curvedConnector3">
              <a:avLst>
                <a:gd fmla="val 50000" name="adj1"/>
              </a:avLst>
            </a:prstGeom>
            <a:noFill/>
            <a:ln cap="flat" cmpd="sng" w="10925">
              <a:solidFill>
                <a:srgbClr val="0D5EFF"/>
              </a:solidFill>
              <a:prstDash val="solid"/>
              <a:round/>
              <a:headEnd len="med" w="med" type="none"/>
              <a:tailEnd len="med" w="med" type="none"/>
            </a:ln>
          </p:spPr>
        </p:cxn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963" name="Shape 963"/>
        <p:cNvGrpSpPr/>
        <p:nvPr/>
      </p:nvGrpSpPr>
      <p:grpSpPr>
        <a:xfrm>
          <a:off x="0" y="0"/>
          <a:ext cx="0" cy="0"/>
          <a:chOff x="0" y="0"/>
          <a:chExt cx="0" cy="0"/>
        </a:xfrm>
      </p:grpSpPr>
      <p:sp>
        <p:nvSpPr>
          <p:cNvPr id="964" name="Google Shape;964;p71"/>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65" name="Google Shape;965;p71"/>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966" name="Google Shape;966;p71"/>
          <p:cNvSpPr txBox="1"/>
          <p:nvPr>
            <p:ph idx="3" type="subTitle"/>
          </p:nvPr>
        </p:nvSpPr>
        <p:spPr>
          <a:xfrm rot="-5400000">
            <a:off x="-283500" y="328925"/>
            <a:ext cx="822900" cy="255900"/>
          </a:xfrm>
          <a:prstGeom prst="rect">
            <a:avLst/>
          </a:prstGeom>
          <a:solidFill>
            <a:srgbClr val="999999"/>
          </a:solidFill>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967" name="Google Shape;967;p71"/>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968" name="Google Shape;968;p71"/>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ASSESSMENT</a:t>
            </a:r>
            <a:endParaRPr>
              <a:solidFill>
                <a:srgbClr val="FDFAF3"/>
              </a:solidFill>
            </a:endParaRPr>
          </a:p>
        </p:txBody>
      </p:sp>
      <p:sp>
        <p:nvSpPr>
          <p:cNvPr id="969" name="Google Shape;969;p71"/>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02</a:t>
            </a:r>
            <a:endParaRPr b="1">
              <a:solidFill>
                <a:srgbClr val="FDFAF3"/>
              </a:solidFill>
            </a:endParaRPr>
          </a:p>
        </p:txBody>
      </p:sp>
      <p:sp>
        <p:nvSpPr>
          <p:cNvPr id="970" name="Google Shape;970;p71"/>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971" name="Google Shape;971;p71"/>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972" name="Google Shape;972;p71"/>
          <p:cNvSpPr/>
          <p:nvPr/>
        </p:nvSpPr>
        <p:spPr>
          <a:xfrm>
            <a:off x="544650" y="-5550"/>
            <a:ext cx="83766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973" name="Google Shape;973;p71"/>
          <p:cNvSpPr txBox="1"/>
          <p:nvPr>
            <p:ph type="title"/>
          </p:nvPr>
        </p:nvSpPr>
        <p:spPr>
          <a:xfrm>
            <a:off x="675925" y="114300"/>
            <a:ext cx="8206200" cy="52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B45F06"/>
                </a:solidFill>
              </a:rPr>
              <a:t>Appendix 7b - the elbow method</a:t>
            </a:r>
            <a:endParaRPr sz="2200">
              <a:solidFill>
                <a:srgbClr val="B45F06"/>
              </a:solidFill>
            </a:endParaRPr>
          </a:p>
        </p:txBody>
      </p:sp>
      <p:sp>
        <p:nvSpPr>
          <p:cNvPr id="974" name="Google Shape;974;p71"/>
          <p:cNvSpPr txBox="1"/>
          <p:nvPr/>
        </p:nvSpPr>
        <p:spPr>
          <a:xfrm>
            <a:off x="628098" y="543700"/>
            <a:ext cx="78819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Roboto"/>
                <a:ea typeface="Roboto"/>
                <a:cs typeface="Roboto"/>
                <a:sym typeface="Roboto"/>
              </a:rPr>
              <a:t>A graphical technique used in machine learning to find the optimal number of clusters (often represented as k) in a dataset, primarily for K-Means clustering It helps identify the exact point where adding more clusters yields diminishing returns, preventing under-fitting and over-fitting.</a:t>
            </a:r>
            <a:endParaRPr b="1" sz="1700">
              <a:solidFill>
                <a:schemeClr val="lt1"/>
              </a:solidFill>
              <a:latin typeface="Roboto"/>
              <a:ea typeface="Roboto"/>
              <a:cs typeface="Roboto"/>
              <a:sym typeface="Roboto"/>
            </a:endParaRPr>
          </a:p>
          <a:p>
            <a:pPr indent="0" lvl="0" marL="0" rtl="0" algn="l">
              <a:spcBef>
                <a:spcPts val="0"/>
              </a:spcBef>
              <a:spcAft>
                <a:spcPts val="0"/>
              </a:spcAft>
              <a:buNone/>
            </a:pPr>
            <a:r>
              <a:t/>
            </a:r>
            <a:endParaRPr b="1" sz="1700">
              <a:solidFill>
                <a:schemeClr val="lt1"/>
              </a:solidFill>
              <a:latin typeface="Roboto"/>
              <a:ea typeface="Roboto"/>
              <a:cs typeface="Roboto"/>
              <a:sym typeface="Roboto"/>
            </a:endParaRPr>
          </a:p>
        </p:txBody>
      </p:sp>
      <p:sp>
        <p:nvSpPr>
          <p:cNvPr id="975" name="Google Shape;975;p71"/>
          <p:cNvSpPr txBox="1"/>
          <p:nvPr/>
        </p:nvSpPr>
        <p:spPr>
          <a:xfrm>
            <a:off x="4112075" y="4651125"/>
            <a:ext cx="4797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Roboto Light"/>
                <a:ea typeface="Roboto Light"/>
                <a:cs typeface="Roboto Light"/>
                <a:sym typeface="Roboto Light"/>
              </a:rPr>
              <a:t>https://www.geeksforgeeks.org/machine-learning/elbow-method-for-optimal-value-of-k-in-kmeans/</a:t>
            </a:r>
            <a:endParaRPr sz="1000">
              <a:solidFill>
                <a:schemeClr val="lt1"/>
              </a:solidFill>
              <a:latin typeface="Roboto Light"/>
              <a:ea typeface="Roboto Light"/>
              <a:cs typeface="Roboto Light"/>
              <a:sym typeface="Roboto Light"/>
            </a:endParaRPr>
          </a:p>
        </p:txBody>
      </p:sp>
      <p:pic>
        <p:nvPicPr>
          <p:cNvPr id="976" name="Google Shape;976;p71"/>
          <p:cNvPicPr preferRelativeResize="0"/>
          <p:nvPr/>
        </p:nvPicPr>
        <p:blipFill>
          <a:blip r:embed="rId3">
            <a:alphaModFix/>
          </a:blip>
          <a:stretch>
            <a:fillRect/>
          </a:stretch>
        </p:blipFill>
        <p:spPr>
          <a:xfrm>
            <a:off x="1704150" y="1749750"/>
            <a:ext cx="4981107" cy="33685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8"/>
        </a:solidFill>
      </p:bgPr>
    </p:bg>
    <p:spTree>
      <p:nvGrpSpPr>
        <p:cNvPr id="980" name="Shape 980"/>
        <p:cNvGrpSpPr/>
        <p:nvPr/>
      </p:nvGrpSpPr>
      <p:grpSpPr>
        <a:xfrm>
          <a:off x="0" y="0"/>
          <a:ext cx="0" cy="0"/>
          <a:chOff x="0" y="0"/>
          <a:chExt cx="0" cy="0"/>
        </a:xfrm>
      </p:grpSpPr>
      <p:sp>
        <p:nvSpPr>
          <p:cNvPr id="981" name="Google Shape;981;p72"/>
          <p:cNvSpPr txBox="1"/>
          <p:nvPr>
            <p:ph type="title"/>
          </p:nvPr>
        </p:nvSpPr>
        <p:spPr>
          <a:xfrm>
            <a:off x="507400" y="1531025"/>
            <a:ext cx="3687300" cy="18471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a:t>Appendix 8: </a:t>
            </a:r>
            <a:endParaRPr/>
          </a:p>
          <a:p>
            <a:pPr indent="0" lvl="0" marL="0" rtl="0" algn="ctr">
              <a:spcBef>
                <a:spcPts val="0"/>
              </a:spcBef>
              <a:spcAft>
                <a:spcPts val="0"/>
              </a:spcAft>
              <a:buNone/>
            </a:pPr>
            <a:r>
              <a:rPr lang="en"/>
              <a:t>m</a:t>
            </a:r>
            <a:r>
              <a:rPr lang="en"/>
              <a:t>odeling limitations</a:t>
            </a:r>
            <a:endParaRPr/>
          </a:p>
        </p:txBody>
      </p:sp>
      <p:sp>
        <p:nvSpPr>
          <p:cNvPr id="982" name="Google Shape;982;p72"/>
          <p:cNvSpPr txBox="1"/>
          <p:nvPr/>
        </p:nvSpPr>
        <p:spPr>
          <a:xfrm>
            <a:off x="4194700" y="840125"/>
            <a:ext cx="4651500" cy="4164000"/>
          </a:xfrm>
          <a:prstGeom prst="rect">
            <a:avLst/>
          </a:prstGeom>
          <a:noFill/>
          <a:ln>
            <a:noFill/>
          </a:ln>
        </p:spPr>
        <p:txBody>
          <a:bodyPr anchorCtr="0" anchor="ctr" bIns="91425" lIns="91425" spcFirstLastPara="1" rIns="91425" wrap="square" tIns="91425">
            <a:noAutofit/>
          </a:bodyPr>
          <a:lstStyle/>
          <a:p>
            <a:pPr indent="-361950" lvl="0" marL="457200" rtl="0" algn="l">
              <a:lnSpc>
                <a:spcPct val="115000"/>
              </a:lnSpc>
              <a:spcBef>
                <a:spcPts val="1200"/>
              </a:spcBef>
              <a:spcAft>
                <a:spcPts val="0"/>
              </a:spcAft>
              <a:buSzPts val="2100"/>
              <a:buFont typeface="Oswald"/>
              <a:buChar char="●"/>
            </a:pPr>
            <a:r>
              <a:rPr b="1" lang="en" sz="2100">
                <a:latin typeface="Oswald"/>
                <a:ea typeface="Oswald"/>
                <a:cs typeface="Oswald"/>
                <a:sym typeface="Oswald"/>
              </a:rPr>
              <a:t>Small sample size: only NM counties</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County-level data hides individual experience</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Correlation ≠ causation</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Public data does not link people across housing and healthcare systems</a:t>
            </a:r>
            <a:endParaRPr b="1" sz="2100">
              <a:latin typeface="Oswald"/>
              <a:ea typeface="Oswald"/>
              <a:cs typeface="Oswald"/>
              <a:sym typeface="Oswald"/>
            </a:endParaRPr>
          </a:p>
          <a:p>
            <a:pPr indent="-361950" lvl="0" marL="457200" rtl="0" algn="l">
              <a:lnSpc>
                <a:spcPct val="115000"/>
              </a:lnSpc>
              <a:spcBef>
                <a:spcPts val="0"/>
              </a:spcBef>
              <a:spcAft>
                <a:spcPts val="0"/>
              </a:spcAft>
              <a:buSzPts val="2100"/>
              <a:buFont typeface="Oswald"/>
              <a:buChar char="●"/>
            </a:pPr>
            <a:r>
              <a:rPr b="1" lang="en" sz="2100">
                <a:latin typeface="Oswald"/>
                <a:ea typeface="Oswald"/>
                <a:cs typeface="Oswald"/>
                <a:sym typeface="Oswald"/>
              </a:rPr>
              <a:t>Results are exploratory, not definitive</a:t>
            </a:r>
            <a:endParaRPr b="1" sz="2100">
              <a:latin typeface="Oswald"/>
              <a:ea typeface="Oswald"/>
              <a:cs typeface="Oswald"/>
              <a:sym typeface="Oswald"/>
            </a:endParaRPr>
          </a:p>
          <a:p>
            <a:pPr indent="0" lvl="0" marL="0" rtl="0" algn="l">
              <a:lnSpc>
                <a:spcPct val="115000"/>
              </a:lnSpc>
              <a:spcBef>
                <a:spcPts val="1200"/>
              </a:spcBef>
              <a:spcAft>
                <a:spcPts val="0"/>
              </a:spcAft>
              <a:buNone/>
            </a:pPr>
            <a:r>
              <a:t/>
            </a:r>
            <a:endParaRPr sz="1600">
              <a:solidFill>
                <a:schemeClr val="dk1"/>
              </a:solidFill>
              <a:latin typeface="Oswald"/>
              <a:ea typeface="Oswald"/>
              <a:cs typeface="Oswald"/>
              <a:sym typeface="Oswald"/>
            </a:endParaRPr>
          </a:p>
          <a:p>
            <a:pPr indent="0" lvl="0" marL="0" rtl="0" algn="l">
              <a:lnSpc>
                <a:spcPct val="115000"/>
              </a:lnSpc>
              <a:spcBef>
                <a:spcPts val="1200"/>
              </a:spcBef>
              <a:spcAft>
                <a:spcPts val="1000"/>
              </a:spcAft>
              <a:buNone/>
            </a:pPr>
            <a:r>
              <a:t/>
            </a:r>
            <a:endParaRPr b="1" i="1" sz="1800">
              <a:solidFill>
                <a:schemeClr val="dk1"/>
              </a:solidFill>
              <a:latin typeface="Oswald"/>
              <a:ea typeface="Oswald"/>
              <a:cs typeface="Oswald"/>
              <a:sym typeface="Oswa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6" name="Shape 986"/>
        <p:cNvGrpSpPr/>
        <p:nvPr/>
      </p:nvGrpSpPr>
      <p:grpSpPr>
        <a:xfrm>
          <a:off x="0" y="0"/>
          <a:ext cx="0" cy="0"/>
          <a:chOff x="0" y="0"/>
          <a:chExt cx="0" cy="0"/>
        </a:xfrm>
      </p:grpSpPr>
      <p:sp>
        <p:nvSpPr>
          <p:cNvPr id="987" name="Google Shape;987;p73"/>
          <p:cNvSpPr txBox="1"/>
          <p:nvPr/>
        </p:nvSpPr>
        <p:spPr>
          <a:xfrm>
            <a:off x="1226700" y="2094600"/>
            <a:ext cx="66906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rgbClr val="FDFAF3"/>
                </a:solidFill>
                <a:latin typeface="Roboto"/>
                <a:ea typeface="Roboto"/>
                <a:cs typeface="Roboto"/>
                <a:sym typeface="Roboto"/>
              </a:rPr>
              <a:t>ARCHIVE</a:t>
            </a:r>
            <a:endParaRPr b="1" sz="5000">
              <a:solidFill>
                <a:srgbClr val="FDFAF3"/>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991" name="Shape 991"/>
        <p:cNvGrpSpPr/>
        <p:nvPr/>
      </p:nvGrpSpPr>
      <p:grpSpPr>
        <a:xfrm>
          <a:off x="0" y="0"/>
          <a:ext cx="0" cy="0"/>
          <a:chOff x="0" y="0"/>
          <a:chExt cx="0" cy="0"/>
        </a:xfrm>
      </p:grpSpPr>
      <p:sp>
        <p:nvSpPr>
          <p:cNvPr id="992" name="Google Shape;992;p74"/>
          <p:cNvSpPr/>
          <p:nvPr/>
        </p:nvSpPr>
        <p:spPr>
          <a:xfrm>
            <a:off x="633075" y="-7075"/>
            <a:ext cx="8511000" cy="52041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993" name="Google Shape;993;p74"/>
          <p:cNvSpPr/>
          <p:nvPr/>
        </p:nvSpPr>
        <p:spPr>
          <a:xfrm>
            <a:off x="260400" y="11"/>
            <a:ext cx="260400" cy="5143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94" name="Google Shape;994;p74"/>
          <p:cNvSpPr txBox="1"/>
          <p:nvPr>
            <p:ph idx="1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01</a:t>
            </a:r>
            <a:endParaRPr b="1"/>
          </a:p>
        </p:txBody>
      </p:sp>
      <p:sp>
        <p:nvSpPr>
          <p:cNvPr id="995" name="Google Shape;995;p74"/>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996" name="Google Shape;996;p74"/>
          <p:cNvSpPr txBox="1"/>
          <p:nvPr>
            <p:ph idx="1" type="subTitle"/>
          </p:nvPr>
        </p:nvSpPr>
        <p:spPr>
          <a:xfrm>
            <a:off x="961199" y="342975"/>
            <a:ext cx="7678800" cy="1071300"/>
          </a:xfrm>
          <a:prstGeom prst="rect">
            <a:avLst/>
          </a:prstGeom>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7200">
                <a:solidFill>
                  <a:srgbClr val="B45F06"/>
                </a:solidFill>
              </a:rPr>
              <a:t>TEST</a:t>
            </a:r>
            <a:endParaRPr sz="7200">
              <a:solidFill>
                <a:srgbClr val="B45F06"/>
              </a:solidFill>
            </a:endParaRPr>
          </a:p>
        </p:txBody>
      </p:sp>
      <p:sp>
        <p:nvSpPr>
          <p:cNvPr id="997" name="Google Shape;997;p74"/>
          <p:cNvSpPr txBox="1"/>
          <p:nvPr>
            <p:ph idx="23"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BACKGROUND</a:t>
            </a:r>
            <a:endParaRPr/>
          </a:p>
        </p:txBody>
      </p:sp>
      <p:sp>
        <p:nvSpPr>
          <p:cNvPr id="998" name="Google Shape;998;p74"/>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999" name="Google Shape;999;p74"/>
          <p:cNvSpPr txBox="1"/>
          <p:nvPr/>
        </p:nvSpPr>
        <p:spPr>
          <a:xfrm>
            <a:off x="1103700" y="1318725"/>
            <a:ext cx="672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1"/>
                </a:solidFill>
                <a:latin typeface="Roboto"/>
                <a:ea typeface="Roboto"/>
                <a:cs typeface="Roboto"/>
                <a:sym typeface="Roboto"/>
              </a:rPr>
              <a:t>RAVEN TO EXPLAIN</a:t>
            </a:r>
            <a:endParaRPr b="1" sz="1900">
              <a:solidFill>
                <a:schemeClr val="lt1"/>
              </a:solidFill>
              <a:latin typeface="Roboto"/>
              <a:ea typeface="Roboto"/>
              <a:cs typeface="Roboto"/>
              <a:sym typeface="Roboto"/>
            </a:endParaRPr>
          </a:p>
        </p:txBody>
      </p:sp>
      <p:sp>
        <p:nvSpPr>
          <p:cNvPr id="1000" name="Google Shape;1000;p74"/>
          <p:cNvSpPr/>
          <p:nvPr/>
        </p:nvSpPr>
        <p:spPr>
          <a:xfrm>
            <a:off x="520550" y="-27525"/>
            <a:ext cx="260400" cy="5204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01" name="Google Shape;1001;p74"/>
          <p:cNvSpPr/>
          <p:nvPr/>
        </p:nvSpPr>
        <p:spPr>
          <a:xfrm>
            <a:off x="260388" y="-27525"/>
            <a:ext cx="260400" cy="5204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02" name="Google Shape;1002;p74"/>
          <p:cNvSpPr txBox="1"/>
          <p:nvPr>
            <p:ph idx="24"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1003" name="Google Shape;1003;p74"/>
          <p:cNvSpPr txBox="1"/>
          <p:nvPr>
            <p:ph idx="1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1004" name="Google Shape;1004;p74"/>
          <p:cNvSpPr txBox="1"/>
          <p:nvPr>
            <p:ph idx="1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DFAF3"/>
                </a:solidFill>
              </a:rPr>
              <a:t>03</a:t>
            </a:r>
            <a:endParaRPr b="1">
              <a:solidFill>
                <a:srgbClr val="FDFAF3"/>
              </a:solidFill>
            </a:endParaRPr>
          </a:p>
        </p:txBody>
      </p:sp>
      <p:sp>
        <p:nvSpPr>
          <p:cNvPr id="1005" name="Google Shape;1005;p74"/>
          <p:cNvSpPr txBox="1"/>
          <p:nvPr>
            <p:ph idx="25"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RECOMMENDATIONS</a:t>
            </a:r>
            <a:endParaRPr>
              <a:solidFill>
                <a:srgbClr val="FDFAF3"/>
              </a:solidFill>
            </a:endParaRPr>
          </a:p>
        </p:txBody>
      </p:sp>
      <p:sp>
        <p:nvSpPr>
          <p:cNvPr id="1006" name="Google Shape;1006;p74"/>
          <p:cNvSpPr txBox="1"/>
          <p:nvPr/>
        </p:nvSpPr>
        <p:spPr>
          <a:xfrm>
            <a:off x="2453375" y="3484475"/>
            <a:ext cx="628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latin typeface="Roboto"/>
                <a:ea typeface="Roboto"/>
                <a:cs typeface="Roboto"/>
                <a:sym typeface="Roboto"/>
              </a:rPr>
              <a:t>WILL ELABORATE OVER THE WEEK IF TIME</a:t>
            </a:r>
            <a:endParaRPr b="1" sz="1000">
              <a:solidFill>
                <a:srgbClr val="FF0000"/>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0" name="Shape 1010"/>
        <p:cNvGrpSpPr/>
        <p:nvPr/>
      </p:nvGrpSpPr>
      <p:grpSpPr>
        <a:xfrm>
          <a:off x="0" y="0"/>
          <a:ext cx="0" cy="0"/>
          <a:chOff x="0" y="0"/>
          <a:chExt cx="0" cy="0"/>
        </a:xfrm>
      </p:grpSpPr>
      <p:sp>
        <p:nvSpPr>
          <p:cNvPr id="1011" name="Google Shape;1011;p75"/>
          <p:cNvSpPr txBox="1"/>
          <p:nvPr/>
        </p:nvSpPr>
        <p:spPr>
          <a:xfrm>
            <a:off x="1226700" y="282550"/>
            <a:ext cx="66906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rgbClr val="FDFAF3"/>
                </a:solidFill>
                <a:latin typeface="Roboto"/>
                <a:ea typeface="Roboto"/>
                <a:cs typeface="Roboto"/>
                <a:sym typeface="Roboto"/>
              </a:rPr>
              <a:t>TAB ORDER:</a:t>
            </a:r>
            <a:endParaRPr b="1" sz="5000">
              <a:solidFill>
                <a:srgbClr val="FDFAF3"/>
              </a:solidFill>
              <a:latin typeface="Roboto"/>
              <a:ea typeface="Roboto"/>
              <a:cs typeface="Roboto"/>
              <a:sym typeface="Roboto"/>
            </a:endParaRPr>
          </a:p>
        </p:txBody>
      </p:sp>
      <p:sp>
        <p:nvSpPr>
          <p:cNvPr id="1012" name="Google Shape;1012;p75"/>
          <p:cNvSpPr txBox="1"/>
          <p:nvPr/>
        </p:nvSpPr>
        <p:spPr>
          <a:xfrm>
            <a:off x="67825" y="1362850"/>
            <a:ext cx="8444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FFFF"/>
                </a:solidFill>
                <a:latin typeface="Roboto Light"/>
                <a:ea typeface="Roboto Light"/>
                <a:cs typeface="Roboto Light"/>
                <a:sym typeface="Roboto Light"/>
              </a:rPr>
              <a:t>Check to make sure the side tabs match (</a:t>
            </a:r>
            <a:r>
              <a:rPr b="1" lang="en" sz="1600">
                <a:solidFill>
                  <a:srgbClr val="FFFFFF"/>
                </a:solidFill>
                <a:latin typeface="Roboto"/>
                <a:ea typeface="Roboto"/>
                <a:cs typeface="Roboto"/>
                <a:sym typeface="Roboto"/>
              </a:rPr>
              <a:t>in bold</a:t>
            </a:r>
            <a:r>
              <a:rPr lang="en" sz="1600">
                <a:solidFill>
                  <a:srgbClr val="FFFFFF"/>
                </a:solidFill>
                <a:latin typeface="Roboto Light"/>
                <a:ea typeface="Roboto Light"/>
                <a:cs typeface="Roboto Light"/>
                <a:sym typeface="Roboto Light"/>
              </a:rPr>
              <a:t>) across slides:</a:t>
            </a:r>
            <a:endParaRPr sz="1600">
              <a:solidFill>
                <a:srgbClr val="FFFFFF"/>
              </a:solidFill>
              <a:latin typeface="Roboto Light"/>
              <a:ea typeface="Roboto Light"/>
              <a:cs typeface="Roboto Light"/>
              <a:sym typeface="Roboto Light"/>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BACKGROUND | </a:t>
            </a:r>
            <a:r>
              <a:rPr b="1" lang="en" sz="1600">
                <a:solidFill>
                  <a:srgbClr val="FFFFFF"/>
                </a:solidFill>
                <a:latin typeface="Roboto"/>
                <a:ea typeface="Roboto"/>
                <a:cs typeface="Roboto"/>
                <a:sym typeface="Roboto"/>
              </a:rPr>
              <a:t>Title</a:t>
            </a:r>
            <a:r>
              <a:rPr lang="en" sz="1600">
                <a:solidFill>
                  <a:srgbClr val="FFFFFF"/>
                </a:solidFill>
                <a:latin typeface="Roboto Light"/>
                <a:ea typeface="Roboto Light"/>
                <a:cs typeface="Roboto Light"/>
                <a:sym typeface="Roboto Light"/>
              </a:rPr>
              <a:t> - Title Slide - </a:t>
            </a:r>
            <a:r>
              <a:rPr b="1" lang="en" sz="1600">
                <a:solidFill>
                  <a:srgbClr val="FFFF00"/>
                </a:solidFill>
                <a:latin typeface="Roboto"/>
                <a:ea typeface="Roboto"/>
                <a:cs typeface="Roboto"/>
                <a:sym typeface="Roboto"/>
              </a:rPr>
              <a:t>Eljay</a:t>
            </a:r>
            <a:endParaRPr b="1" sz="1600">
              <a:solidFill>
                <a:srgbClr val="FFFF00"/>
              </a:solidFill>
              <a:latin typeface="Roboto"/>
              <a:ea typeface="Roboto"/>
              <a:cs typeface="Roboto"/>
              <a:sym typeface="Roboto"/>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ALL </a:t>
            </a:r>
            <a:r>
              <a:rPr lang="en" sz="1600">
                <a:solidFill>
                  <a:srgbClr val="FFFFFF"/>
                </a:solidFill>
                <a:latin typeface="Roboto Light"/>
                <a:ea typeface="Roboto Light"/>
                <a:cs typeface="Roboto Light"/>
                <a:sym typeface="Roboto Light"/>
              </a:rPr>
              <a:t>| </a:t>
            </a:r>
            <a:r>
              <a:rPr b="1" lang="en" sz="1600">
                <a:solidFill>
                  <a:srgbClr val="FFFFFF"/>
                </a:solidFill>
                <a:latin typeface="Roboto"/>
                <a:ea typeface="Roboto"/>
                <a:cs typeface="Roboto"/>
                <a:sym typeface="Roboto"/>
              </a:rPr>
              <a:t>Our Team </a:t>
            </a:r>
            <a:r>
              <a:rPr lang="en" sz="1600">
                <a:solidFill>
                  <a:srgbClr val="FFFFFF"/>
                </a:solidFill>
                <a:latin typeface="Roboto Light"/>
                <a:ea typeface="Roboto Light"/>
                <a:cs typeface="Roboto Light"/>
                <a:sym typeface="Roboto Light"/>
              </a:rPr>
              <a:t>- Our beautiful faces :) </a:t>
            </a:r>
            <a:r>
              <a:rPr lang="en" sz="1600">
                <a:solidFill>
                  <a:srgbClr val="FFFFFF"/>
                </a:solidFill>
                <a:latin typeface="Roboto Light"/>
                <a:ea typeface="Roboto Light"/>
                <a:cs typeface="Roboto Light"/>
                <a:sym typeface="Roboto Light"/>
              </a:rPr>
              <a:t>- </a:t>
            </a:r>
            <a:r>
              <a:rPr b="1" lang="en" sz="1600">
                <a:solidFill>
                  <a:srgbClr val="FFFF00"/>
                </a:solidFill>
                <a:latin typeface="Roboto"/>
                <a:ea typeface="Roboto"/>
                <a:cs typeface="Roboto"/>
                <a:sym typeface="Roboto"/>
              </a:rPr>
              <a:t>pass from Celeste &gt; Raven &gt; Eljay</a:t>
            </a:r>
            <a:endParaRPr sz="1600">
              <a:solidFill>
                <a:srgbClr val="FFFFFF"/>
              </a:solidFill>
              <a:latin typeface="Roboto Light"/>
              <a:ea typeface="Roboto Light"/>
              <a:cs typeface="Roboto Light"/>
              <a:sym typeface="Roboto Light"/>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BACKGROUND | </a:t>
            </a:r>
            <a:r>
              <a:rPr b="1" lang="en" sz="1600">
                <a:solidFill>
                  <a:srgbClr val="FFFFFF"/>
                </a:solidFill>
                <a:latin typeface="Roboto"/>
                <a:ea typeface="Roboto"/>
                <a:cs typeface="Roboto"/>
                <a:sym typeface="Roboto"/>
              </a:rPr>
              <a:t>Research</a:t>
            </a:r>
            <a:r>
              <a:rPr lang="en" sz="1600">
                <a:solidFill>
                  <a:srgbClr val="FFFFFF"/>
                </a:solidFill>
                <a:latin typeface="Roboto Light"/>
                <a:ea typeface="Roboto Light"/>
                <a:cs typeface="Roboto Light"/>
                <a:sym typeface="Roboto Light"/>
              </a:rPr>
              <a:t> - research, SME interview, etc. - setting the stage </a:t>
            </a:r>
            <a:r>
              <a:rPr lang="en" sz="1600">
                <a:solidFill>
                  <a:srgbClr val="FFFFFF"/>
                </a:solidFill>
                <a:latin typeface="Roboto Light"/>
                <a:ea typeface="Roboto Light"/>
                <a:cs typeface="Roboto Light"/>
                <a:sym typeface="Roboto Light"/>
              </a:rPr>
              <a:t>- </a:t>
            </a:r>
            <a:r>
              <a:rPr b="1" lang="en" sz="1600">
                <a:solidFill>
                  <a:srgbClr val="FFFF00"/>
                </a:solidFill>
                <a:latin typeface="Roboto"/>
                <a:ea typeface="Roboto"/>
                <a:cs typeface="Roboto"/>
                <a:sym typeface="Roboto"/>
              </a:rPr>
              <a:t>Eljay</a:t>
            </a:r>
            <a:endParaRPr b="1" sz="1600">
              <a:solidFill>
                <a:srgbClr val="FFFF00"/>
              </a:solidFill>
              <a:latin typeface="Roboto"/>
              <a:ea typeface="Roboto"/>
              <a:cs typeface="Roboto"/>
              <a:sym typeface="Roboto"/>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BACKGROUND | </a:t>
            </a:r>
            <a:r>
              <a:rPr b="1" lang="en" sz="1600">
                <a:solidFill>
                  <a:srgbClr val="FFFFFF"/>
                </a:solidFill>
                <a:latin typeface="Roboto"/>
                <a:ea typeface="Roboto"/>
                <a:cs typeface="Roboto"/>
                <a:sym typeface="Roboto"/>
              </a:rPr>
              <a:t>Question</a:t>
            </a:r>
            <a:r>
              <a:rPr lang="en" sz="1600">
                <a:solidFill>
                  <a:srgbClr val="FFFFFF"/>
                </a:solidFill>
                <a:latin typeface="Roboto Light"/>
                <a:ea typeface="Roboto Light"/>
                <a:cs typeface="Roboto Light"/>
                <a:sym typeface="Roboto Light"/>
              </a:rPr>
              <a:t> - research, SME interview, etc. - setting the stage - </a:t>
            </a:r>
            <a:r>
              <a:rPr b="1" lang="en" sz="1600">
                <a:solidFill>
                  <a:srgbClr val="FFFF00"/>
                </a:solidFill>
                <a:latin typeface="Roboto"/>
                <a:ea typeface="Roboto"/>
                <a:cs typeface="Roboto"/>
                <a:sym typeface="Roboto"/>
              </a:rPr>
              <a:t>Eljay</a:t>
            </a:r>
            <a:endParaRPr b="1" sz="1600">
              <a:solidFill>
                <a:srgbClr val="FFFF00"/>
              </a:solidFill>
              <a:latin typeface="Roboto"/>
              <a:ea typeface="Roboto"/>
              <a:cs typeface="Roboto"/>
              <a:sym typeface="Roboto"/>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ASSESSMENT | </a:t>
            </a:r>
            <a:r>
              <a:rPr b="1" lang="en" sz="1600">
                <a:solidFill>
                  <a:srgbClr val="FFFFFF"/>
                </a:solidFill>
                <a:latin typeface="Roboto"/>
                <a:ea typeface="Roboto"/>
                <a:cs typeface="Roboto"/>
                <a:sym typeface="Roboto"/>
              </a:rPr>
              <a:t>Data Sources</a:t>
            </a:r>
            <a:r>
              <a:rPr lang="en" sz="1600">
                <a:solidFill>
                  <a:srgbClr val="FFFFFF"/>
                </a:solidFill>
                <a:latin typeface="Roboto Light"/>
                <a:ea typeface="Roboto Light"/>
                <a:cs typeface="Roboto Light"/>
                <a:sym typeface="Roboto Light"/>
              </a:rPr>
              <a:t> - what we found (the list you created) </a:t>
            </a:r>
            <a:r>
              <a:rPr lang="en" sz="1600">
                <a:solidFill>
                  <a:srgbClr val="FFFFFF"/>
                </a:solidFill>
                <a:latin typeface="Roboto Light"/>
                <a:ea typeface="Roboto Light"/>
                <a:cs typeface="Roboto Light"/>
                <a:sym typeface="Roboto Light"/>
              </a:rPr>
              <a:t>- </a:t>
            </a:r>
            <a:r>
              <a:rPr b="1" lang="en" sz="1600">
                <a:solidFill>
                  <a:srgbClr val="FFFF00"/>
                </a:solidFill>
                <a:latin typeface="Roboto"/>
                <a:ea typeface="Roboto"/>
                <a:cs typeface="Roboto"/>
                <a:sym typeface="Roboto"/>
              </a:rPr>
              <a:t>Celeste</a:t>
            </a:r>
            <a:endParaRPr sz="1600">
              <a:solidFill>
                <a:srgbClr val="FFFFFF"/>
              </a:solidFill>
              <a:latin typeface="Roboto Light"/>
              <a:ea typeface="Roboto Light"/>
              <a:cs typeface="Roboto Light"/>
              <a:sym typeface="Roboto Light"/>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ASSESSMENT | </a:t>
            </a:r>
            <a:r>
              <a:rPr b="1" lang="en" sz="1600">
                <a:solidFill>
                  <a:srgbClr val="FFFFFF"/>
                </a:solidFill>
                <a:latin typeface="Roboto"/>
                <a:ea typeface="Roboto"/>
                <a:cs typeface="Roboto"/>
                <a:sym typeface="Roboto"/>
              </a:rPr>
              <a:t>Selection</a:t>
            </a:r>
            <a:r>
              <a:rPr lang="en" sz="1600">
                <a:solidFill>
                  <a:srgbClr val="FFFFFF"/>
                </a:solidFill>
                <a:latin typeface="Roboto Light"/>
                <a:ea typeface="Roboto Light"/>
                <a:cs typeface="Roboto Light"/>
                <a:sym typeface="Roboto Light"/>
              </a:rPr>
              <a:t> - what we selected (variables of interest) - </a:t>
            </a:r>
            <a:r>
              <a:rPr b="1" lang="en" sz="1600">
                <a:solidFill>
                  <a:srgbClr val="FFFF00"/>
                </a:solidFill>
                <a:latin typeface="Roboto"/>
                <a:ea typeface="Roboto"/>
                <a:cs typeface="Roboto"/>
                <a:sym typeface="Roboto"/>
              </a:rPr>
              <a:t>Celeste</a:t>
            </a:r>
            <a:endParaRPr b="1" sz="1600">
              <a:solidFill>
                <a:srgbClr val="FFFF00"/>
              </a:solidFill>
              <a:latin typeface="Roboto"/>
              <a:ea typeface="Roboto"/>
              <a:cs typeface="Roboto"/>
              <a:sym typeface="Roboto"/>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ASSESSMENT | </a:t>
            </a:r>
            <a:r>
              <a:rPr b="1" lang="en" sz="1600">
                <a:solidFill>
                  <a:srgbClr val="FFFFFF"/>
                </a:solidFill>
                <a:latin typeface="Roboto"/>
                <a:ea typeface="Roboto"/>
                <a:cs typeface="Roboto"/>
                <a:sym typeface="Roboto"/>
              </a:rPr>
              <a:t>EDA</a:t>
            </a:r>
            <a:r>
              <a:rPr lang="en" sz="1600">
                <a:solidFill>
                  <a:srgbClr val="FFFFFF"/>
                </a:solidFill>
                <a:latin typeface="Roboto Light"/>
                <a:ea typeface="Roboto Light"/>
                <a:cs typeface="Roboto Light"/>
                <a:sym typeface="Roboto Light"/>
              </a:rPr>
              <a:t> - (gaps) limitations we discovered from EDA (our “oh shit” moment) - </a:t>
            </a:r>
            <a:r>
              <a:rPr b="1" lang="en" sz="1600">
                <a:solidFill>
                  <a:srgbClr val="FFFF00"/>
                </a:solidFill>
                <a:latin typeface="Roboto"/>
                <a:ea typeface="Roboto"/>
                <a:cs typeface="Roboto"/>
                <a:sym typeface="Roboto"/>
              </a:rPr>
              <a:t>Celeste</a:t>
            </a:r>
            <a:endParaRPr b="1" sz="1600">
              <a:solidFill>
                <a:srgbClr val="FFFFFF"/>
              </a:solidFill>
              <a:latin typeface="Roboto"/>
              <a:ea typeface="Roboto"/>
              <a:cs typeface="Roboto"/>
              <a:sym typeface="Roboto"/>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RECOMMENDATION | </a:t>
            </a:r>
            <a:r>
              <a:rPr b="1" lang="en" sz="1600">
                <a:solidFill>
                  <a:srgbClr val="FFFFFF"/>
                </a:solidFill>
                <a:latin typeface="Roboto"/>
                <a:ea typeface="Roboto"/>
                <a:cs typeface="Roboto"/>
                <a:sym typeface="Roboto"/>
              </a:rPr>
              <a:t>Visualizations</a:t>
            </a:r>
            <a:r>
              <a:rPr lang="en" sz="1600">
                <a:solidFill>
                  <a:srgbClr val="FFFFFF"/>
                </a:solidFill>
                <a:latin typeface="Roboto Light"/>
                <a:ea typeface="Roboto Light"/>
                <a:cs typeface="Roboto Light"/>
                <a:sym typeface="Roboto Light"/>
              </a:rPr>
              <a:t> - show map to demonstrate apples to oranges </a:t>
            </a:r>
            <a:r>
              <a:rPr lang="en" sz="1600">
                <a:solidFill>
                  <a:srgbClr val="FFFFFF"/>
                </a:solidFill>
                <a:latin typeface="Roboto Light"/>
                <a:ea typeface="Roboto Light"/>
                <a:cs typeface="Roboto Light"/>
                <a:sym typeface="Roboto Light"/>
              </a:rPr>
              <a:t>- </a:t>
            </a:r>
            <a:r>
              <a:rPr b="1" lang="en" sz="1600">
                <a:solidFill>
                  <a:srgbClr val="FFFF00"/>
                </a:solidFill>
                <a:latin typeface="Roboto"/>
                <a:ea typeface="Roboto"/>
                <a:cs typeface="Roboto"/>
                <a:sym typeface="Roboto"/>
              </a:rPr>
              <a:t>Raven</a:t>
            </a:r>
            <a:endParaRPr sz="1600">
              <a:solidFill>
                <a:srgbClr val="FFFFFF"/>
              </a:solidFill>
              <a:latin typeface="Roboto Light"/>
              <a:ea typeface="Roboto Light"/>
              <a:cs typeface="Roboto Light"/>
              <a:sym typeface="Roboto Light"/>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RECOMMENDATION | </a:t>
            </a:r>
            <a:r>
              <a:rPr b="1" lang="en" sz="1600">
                <a:solidFill>
                  <a:srgbClr val="FFFFFF"/>
                </a:solidFill>
                <a:latin typeface="Roboto"/>
                <a:ea typeface="Roboto"/>
                <a:cs typeface="Roboto"/>
                <a:sym typeface="Roboto"/>
              </a:rPr>
              <a:t>Solution</a:t>
            </a:r>
            <a:r>
              <a:rPr lang="en" sz="1600">
                <a:solidFill>
                  <a:srgbClr val="FFFFFF"/>
                </a:solidFill>
                <a:latin typeface="Roboto Light"/>
                <a:ea typeface="Roboto Light"/>
                <a:cs typeface="Roboto Light"/>
                <a:sym typeface="Roboto Light"/>
              </a:rPr>
              <a:t> - involve the audience, propose community effort </a:t>
            </a:r>
            <a:r>
              <a:rPr lang="en" sz="1600">
                <a:solidFill>
                  <a:srgbClr val="FFFFFF"/>
                </a:solidFill>
                <a:latin typeface="Roboto Light"/>
                <a:ea typeface="Roboto Light"/>
                <a:cs typeface="Roboto Light"/>
                <a:sym typeface="Roboto Light"/>
              </a:rPr>
              <a:t>- </a:t>
            </a:r>
            <a:r>
              <a:rPr b="1" lang="en" sz="1600">
                <a:solidFill>
                  <a:srgbClr val="FFFF00"/>
                </a:solidFill>
                <a:latin typeface="Roboto"/>
                <a:ea typeface="Roboto"/>
                <a:cs typeface="Roboto"/>
                <a:sym typeface="Roboto"/>
              </a:rPr>
              <a:t>Raven</a:t>
            </a:r>
            <a:endParaRPr sz="1600">
              <a:solidFill>
                <a:srgbClr val="FFFFFF"/>
              </a:solidFill>
              <a:latin typeface="Roboto Light"/>
              <a:ea typeface="Roboto Light"/>
              <a:cs typeface="Roboto Light"/>
              <a:sym typeface="Roboto Light"/>
            </a:endParaRPr>
          </a:p>
          <a:p>
            <a:pPr indent="-330200" lvl="0" marL="457200" rtl="0" algn="l">
              <a:spcBef>
                <a:spcPts val="0"/>
              </a:spcBef>
              <a:spcAft>
                <a:spcPts val="0"/>
              </a:spcAft>
              <a:buClr>
                <a:srgbClr val="FFFFFF"/>
              </a:buClr>
              <a:buSzPts val="1600"/>
              <a:buFont typeface="Roboto Light"/>
              <a:buAutoNum type="arabicPeriod"/>
            </a:pPr>
            <a:r>
              <a:rPr lang="en" sz="1600">
                <a:solidFill>
                  <a:srgbClr val="FFFFFF"/>
                </a:solidFill>
                <a:latin typeface="Roboto Light"/>
                <a:ea typeface="Roboto Light"/>
                <a:cs typeface="Roboto Light"/>
                <a:sym typeface="Roboto Light"/>
              </a:rPr>
              <a:t>RECOMMENDATION | </a:t>
            </a:r>
            <a:r>
              <a:rPr b="1" lang="en" sz="1600">
                <a:solidFill>
                  <a:srgbClr val="FFFFFF"/>
                </a:solidFill>
                <a:latin typeface="Roboto"/>
                <a:ea typeface="Roboto"/>
                <a:cs typeface="Roboto"/>
                <a:sym typeface="Roboto"/>
              </a:rPr>
              <a:t>Looking Ahead</a:t>
            </a:r>
            <a:r>
              <a:rPr lang="en" sz="1600">
                <a:solidFill>
                  <a:srgbClr val="FFFFFF"/>
                </a:solidFill>
                <a:latin typeface="Roboto Light"/>
                <a:ea typeface="Roboto Light"/>
                <a:cs typeface="Roboto Light"/>
                <a:sym typeface="Roboto Light"/>
              </a:rPr>
              <a:t> - what we can do WITH YOUR HELP!!!!!!!!</a:t>
            </a:r>
            <a:r>
              <a:rPr lang="en" sz="1600">
                <a:solidFill>
                  <a:srgbClr val="FFFFFF"/>
                </a:solidFill>
                <a:latin typeface="Roboto Light"/>
                <a:ea typeface="Roboto Light"/>
                <a:cs typeface="Roboto Light"/>
                <a:sym typeface="Roboto Light"/>
              </a:rPr>
              <a:t> - </a:t>
            </a:r>
            <a:r>
              <a:rPr b="1" lang="en" sz="1600">
                <a:solidFill>
                  <a:srgbClr val="FFFF00"/>
                </a:solidFill>
                <a:latin typeface="Roboto"/>
                <a:ea typeface="Roboto"/>
                <a:cs typeface="Roboto"/>
                <a:sym typeface="Roboto"/>
              </a:rPr>
              <a:t>Raven</a:t>
            </a:r>
            <a:endParaRPr sz="1600">
              <a:solidFill>
                <a:srgbClr val="FFFFFF"/>
              </a:solidFill>
              <a:latin typeface="Roboto Light"/>
              <a:ea typeface="Roboto Light"/>
              <a:cs typeface="Roboto Light"/>
              <a:sym typeface="Roboto Light"/>
            </a:endParaRPr>
          </a:p>
        </p:txBody>
      </p:sp>
      <p:sp>
        <p:nvSpPr>
          <p:cNvPr id="1013" name="Google Shape;1013;p75"/>
          <p:cNvSpPr txBox="1"/>
          <p:nvPr/>
        </p:nvSpPr>
        <p:spPr>
          <a:xfrm>
            <a:off x="416300" y="-867400"/>
            <a:ext cx="669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The “BAR” Team ;)</a:t>
            </a:r>
            <a:endParaRPr b="1"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b="1" lang="en" sz="1000">
                <a:solidFill>
                  <a:schemeClr val="lt1"/>
                </a:solidFill>
                <a:latin typeface="Roboto"/>
                <a:ea typeface="Roboto"/>
                <a:cs typeface="Roboto"/>
                <a:sym typeface="Roboto"/>
              </a:rPr>
              <a:t>BACKGROUND: INTRO, OUR TEAM, RESEARCH / INTERVIEW, QUESTION</a:t>
            </a:r>
            <a:endParaRPr b="1"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b="1" lang="en" sz="1000">
                <a:solidFill>
                  <a:schemeClr val="lt1"/>
                </a:solidFill>
                <a:latin typeface="Roboto"/>
                <a:ea typeface="Roboto"/>
                <a:cs typeface="Roboto"/>
                <a:sym typeface="Roboto"/>
              </a:rPr>
              <a:t>ASSESSMENT: DATA SOURCES, IDA / EDA, VISUALS</a:t>
            </a:r>
            <a:endParaRPr b="1" sz="1000">
              <a:solidFill>
                <a:schemeClr val="lt1"/>
              </a:solidFill>
              <a:latin typeface="Roboto"/>
              <a:ea typeface="Roboto"/>
              <a:cs typeface="Roboto"/>
              <a:sym typeface="Roboto"/>
            </a:endParaRPr>
          </a:p>
          <a:p>
            <a:pPr indent="-292100" lvl="0" marL="457200" rtl="0" algn="l">
              <a:spcBef>
                <a:spcPts val="0"/>
              </a:spcBef>
              <a:spcAft>
                <a:spcPts val="0"/>
              </a:spcAft>
              <a:buClr>
                <a:schemeClr val="lt1"/>
              </a:buClr>
              <a:buSzPts val="1000"/>
              <a:buFont typeface="Roboto"/>
              <a:buAutoNum type="arabicPeriod"/>
            </a:pPr>
            <a:r>
              <a:rPr b="1" lang="en" sz="1000">
                <a:solidFill>
                  <a:schemeClr val="lt1"/>
                </a:solidFill>
                <a:latin typeface="Roboto"/>
                <a:ea typeface="Roboto"/>
                <a:cs typeface="Roboto"/>
                <a:sym typeface="Roboto"/>
              </a:rPr>
              <a:t>RECOMMENDATION: RESULTS, PROPOSAL, FUTURE DEVELOPMENT</a:t>
            </a:r>
            <a:endParaRPr b="1" sz="1000">
              <a:solidFill>
                <a:schemeClr val="lt1"/>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017" name="Shape 1017"/>
        <p:cNvGrpSpPr/>
        <p:nvPr/>
      </p:nvGrpSpPr>
      <p:grpSpPr>
        <a:xfrm>
          <a:off x="0" y="0"/>
          <a:ext cx="0" cy="0"/>
          <a:chOff x="0" y="0"/>
          <a:chExt cx="0" cy="0"/>
        </a:xfrm>
      </p:grpSpPr>
      <p:sp>
        <p:nvSpPr>
          <p:cNvPr id="1018" name="Google Shape;1018;p76"/>
          <p:cNvSpPr/>
          <p:nvPr/>
        </p:nvSpPr>
        <p:spPr>
          <a:xfrm>
            <a:off x="779112" y="-9900"/>
            <a:ext cx="73332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19" name="Google Shape;1019;p76"/>
          <p:cNvSpPr/>
          <p:nvPr/>
        </p:nvSpPr>
        <p:spPr>
          <a:xfrm>
            <a:off x="779100" y="-9900"/>
            <a:ext cx="73332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0" name="Google Shape;1020;p76"/>
          <p:cNvSpPr/>
          <p:nvPr/>
        </p:nvSpPr>
        <p:spPr>
          <a:xfrm>
            <a:off x="260400" y="-5325"/>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21" name="Google Shape;1021;p76"/>
          <p:cNvSpPr/>
          <p:nvPr/>
        </p:nvSpPr>
        <p:spPr>
          <a:xfrm>
            <a:off x="7868225"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2" name="Google Shape;1022;p76"/>
          <p:cNvSpPr/>
          <p:nvPr/>
        </p:nvSpPr>
        <p:spPr>
          <a:xfrm>
            <a:off x="8121725" y="-5475"/>
            <a:ext cx="2604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3" name="Google Shape;1023;p76"/>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4" name="Google Shape;1024;p76"/>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5" name="Google Shape;1025;p76"/>
          <p:cNvSpPr/>
          <p:nvPr/>
        </p:nvSpPr>
        <p:spPr>
          <a:xfrm>
            <a:off x="8375200"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26" name="Google Shape;1026;p76"/>
          <p:cNvSpPr txBox="1"/>
          <p:nvPr>
            <p:ph idx="4" type="subTitle"/>
          </p:nvPr>
        </p:nvSpPr>
        <p:spPr>
          <a:xfrm>
            <a:off x="3367725" y="3182825"/>
            <a:ext cx="21414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data</a:t>
            </a:r>
            <a:endParaRPr sz="2400"/>
          </a:p>
        </p:txBody>
      </p:sp>
      <p:sp>
        <p:nvSpPr>
          <p:cNvPr id="1027" name="Google Shape;1027;p76"/>
          <p:cNvSpPr txBox="1"/>
          <p:nvPr>
            <p:ph idx="8"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1028" name="Google Shape;1028;p76"/>
          <p:cNvSpPr txBox="1"/>
          <p:nvPr>
            <p:ph idx="30"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1029" name="Google Shape;1029;p76"/>
          <p:cNvSpPr txBox="1"/>
          <p:nvPr>
            <p:ph idx="31"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APPROACH</a:t>
            </a:r>
            <a:endParaRPr/>
          </a:p>
        </p:txBody>
      </p:sp>
      <p:sp>
        <p:nvSpPr>
          <p:cNvPr id="1030" name="Google Shape;1030;p76"/>
          <p:cNvSpPr txBox="1"/>
          <p:nvPr>
            <p:ph idx="14"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1031" name="Google Shape;1031;p76"/>
          <p:cNvSpPr txBox="1"/>
          <p:nvPr>
            <p:ph idx="18" type="subTitle"/>
          </p:nvPr>
        </p:nvSpPr>
        <p:spPr>
          <a:xfrm rot="-5400000">
            <a:off x="7173022" y="2436750"/>
            <a:ext cx="1645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DATA</a:t>
            </a:r>
            <a:endParaRPr/>
          </a:p>
        </p:txBody>
      </p:sp>
      <p:sp>
        <p:nvSpPr>
          <p:cNvPr id="1032" name="Google Shape;1032;p76"/>
          <p:cNvSpPr txBox="1"/>
          <p:nvPr>
            <p:ph idx="19" type="subTitle"/>
          </p:nvPr>
        </p:nvSpPr>
        <p:spPr>
          <a:xfrm rot="-5400000">
            <a:off x="7548008"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04</a:t>
            </a:r>
            <a:endParaRPr/>
          </a:p>
        </p:txBody>
      </p:sp>
      <p:sp>
        <p:nvSpPr>
          <p:cNvPr id="1033" name="Google Shape;1033;p76"/>
          <p:cNvSpPr txBox="1"/>
          <p:nvPr>
            <p:ph idx="33" type="subTitle"/>
          </p:nvPr>
        </p:nvSpPr>
        <p:spPr>
          <a:xfrm rot="-5400000">
            <a:off x="7420888"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OBSTACLE</a:t>
            </a:r>
            <a:endParaRPr/>
          </a:p>
        </p:txBody>
      </p:sp>
      <p:sp>
        <p:nvSpPr>
          <p:cNvPr id="1034" name="Google Shape;1034;p76"/>
          <p:cNvSpPr txBox="1"/>
          <p:nvPr>
            <p:ph idx="21" type="subTitle"/>
          </p:nvPr>
        </p:nvSpPr>
        <p:spPr>
          <a:xfrm rot="-5400000">
            <a:off x="7801500"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05</a:t>
            </a:r>
            <a:endParaRPr/>
          </a:p>
        </p:txBody>
      </p:sp>
      <p:sp>
        <p:nvSpPr>
          <p:cNvPr id="1035" name="Google Shape;1035;p76"/>
          <p:cNvSpPr txBox="1"/>
          <p:nvPr>
            <p:ph idx="24"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08</a:t>
            </a:r>
            <a:endParaRPr/>
          </a:p>
        </p:txBody>
      </p:sp>
      <p:sp>
        <p:nvSpPr>
          <p:cNvPr id="1036" name="Google Shape;1036;p76"/>
          <p:cNvSpPr/>
          <p:nvPr/>
        </p:nvSpPr>
        <p:spPr>
          <a:xfrm>
            <a:off x="516300" y="1150"/>
            <a:ext cx="73659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37" name="Google Shape;1037;p76"/>
          <p:cNvSpPr txBox="1"/>
          <p:nvPr>
            <p:ph idx="26"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
        <p:nvSpPr>
          <p:cNvPr id="1038" name="Google Shape;1038;p76"/>
          <p:cNvSpPr txBox="1"/>
          <p:nvPr>
            <p:ph idx="27"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07</a:t>
            </a:r>
            <a:endParaRPr/>
          </a:p>
        </p:txBody>
      </p:sp>
      <p:sp>
        <p:nvSpPr>
          <p:cNvPr id="1039" name="Google Shape;1039;p76"/>
          <p:cNvSpPr txBox="1"/>
          <p:nvPr>
            <p:ph idx="34" type="subTitle"/>
          </p:nvPr>
        </p:nvSpPr>
        <p:spPr>
          <a:xfrm rot="-5400000">
            <a:off x="7684296"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MISSING PIECES</a:t>
            </a:r>
            <a:endParaRPr/>
          </a:p>
        </p:txBody>
      </p:sp>
      <p:sp>
        <p:nvSpPr>
          <p:cNvPr id="1040" name="Google Shape;1040;p76"/>
          <p:cNvSpPr txBox="1"/>
          <p:nvPr>
            <p:ph idx="29" type="subTitle"/>
          </p:nvPr>
        </p:nvSpPr>
        <p:spPr>
          <a:xfrm rot="-5400000">
            <a:off x="8054992" y="362375"/>
            <a:ext cx="896100" cy="255900"/>
          </a:xfrm>
          <a:prstGeom prst="rect">
            <a:avLst/>
          </a:prstGeom>
          <a:solidFill>
            <a:srgbClr val="EFEFEF"/>
          </a:solidFill>
        </p:spPr>
        <p:txBody>
          <a:bodyPr anchorCtr="0" anchor="t" bIns="73150" lIns="91425" spcFirstLastPara="1" rIns="91425" wrap="square" tIns="73150">
            <a:noAutofit/>
          </a:bodyPr>
          <a:lstStyle/>
          <a:p>
            <a:pPr indent="0" lvl="0" marL="0" rtl="0" algn="r">
              <a:spcBef>
                <a:spcPts val="0"/>
              </a:spcBef>
              <a:spcAft>
                <a:spcPts val="0"/>
              </a:spcAft>
              <a:buNone/>
            </a:pPr>
            <a:r>
              <a:rPr lang="en"/>
              <a:t>06</a:t>
            </a:r>
            <a:endParaRPr/>
          </a:p>
        </p:txBody>
      </p:sp>
      <p:sp>
        <p:nvSpPr>
          <p:cNvPr id="1041" name="Google Shape;1041;p76"/>
          <p:cNvSpPr txBox="1"/>
          <p:nvPr>
            <p:ph type="title"/>
          </p:nvPr>
        </p:nvSpPr>
        <p:spPr>
          <a:xfrm>
            <a:off x="900400" y="114300"/>
            <a:ext cx="6558600" cy="1416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6FA8AA"/>
                </a:solidFill>
              </a:rPr>
              <a:t>our approach</a:t>
            </a:r>
            <a:endParaRPr>
              <a:solidFill>
                <a:srgbClr val="6FA8AA"/>
              </a:solidFill>
            </a:endParaRPr>
          </a:p>
        </p:txBody>
      </p:sp>
      <p:sp>
        <p:nvSpPr>
          <p:cNvPr id="1042" name="Google Shape;1042;p76"/>
          <p:cNvSpPr txBox="1"/>
          <p:nvPr>
            <p:ph idx="1" type="subTitle"/>
          </p:nvPr>
        </p:nvSpPr>
        <p:spPr>
          <a:xfrm>
            <a:off x="900375" y="1273150"/>
            <a:ext cx="5849100" cy="164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We combined stakeholder input, literature review, and public-data assessment.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Project constraint: publicly accessible datasets only</a:t>
            </a:r>
            <a:r>
              <a:rPr lang="en"/>
              <a:t> </a:t>
            </a:r>
            <a:endParaRPr/>
          </a:p>
        </p:txBody>
      </p:sp>
      <p:sp>
        <p:nvSpPr>
          <p:cNvPr id="1043" name="Google Shape;1043;p76"/>
          <p:cNvSpPr txBox="1"/>
          <p:nvPr>
            <p:ph idx="2" type="subTitle"/>
          </p:nvPr>
        </p:nvSpPr>
        <p:spPr>
          <a:xfrm>
            <a:off x="5183460" y="3182825"/>
            <a:ext cx="230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goal</a:t>
            </a:r>
            <a:endParaRPr sz="2400"/>
          </a:p>
        </p:txBody>
      </p:sp>
      <p:sp>
        <p:nvSpPr>
          <p:cNvPr id="1044" name="Google Shape;1044;p76"/>
          <p:cNvSpPr txBox="1"/>
          <p:nvPr>
            <p:ph idx="4294967295" type="subTitle"/>
          </p:nvPr>
        </p:nvSpPr>
        <p:spPr>
          <a:xfrm>
            <a:off x="3300039" y="3600525"/>
            <a:ext cx="2080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45" name="Google Shape;1045;p76"/>
          <p:cNvSpPr txBox="1"/>
          <p:nvPr>
            <p:ph idx="3" type="subTitle"/>
          </p:nvPr>
        </p:nvSpPr>
        <p:spPr>
          <a:xfrm>
            <a:off x="5183461" y="3600525"/>
            <a:ext cx="2080200" cy="103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t>Identify measurable relationships and actionable insights</a:t>
            </a:r>
            <a:endParaRPr sz="1500"/>
          </a:p>
          <a:p>
            <a:pPr indent="0" lvl="0" marL="0" rtl="0" algn="l">
              <a:spcBef>
                <a:spcPts val="0"/>
              </a:spcBef>
              <a:spcAft>
                <a:spcPts val="0"/>
              </a:spcAft>
              <a:buNone/>
            </a:pPr>
            <a:r>
              <a:t/>
            </a:r>
            <a:endParaRPr/>
          </a:p>
        </p:txBody>
      </p:sp>
      <p:sp>
        <p:nvSpPr>
          <p:cNvPr id="1046" name="Google Shape;1046;p76"/>
          <p:cNvSpPr txBox="1"/>
          <p:nvPr>
            <p:ph idx="5" type="subTitle"/>
          </p:nvPr>
        </p:nvSpPr>
        <p:spPr>
          <a:xfrm>
            <a:off x="3041923" y="3600525"/>
            <a:ext cx="2080200" cy="13392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PIT counts</a:t>
            </a:r>
            <a:endParaRPr sz="1500"/>
          </a:p>
          <a:p>
            <a:pPr indent="-323850" lvl="0" marL="457200" rtl="0" algn="l">
              <a:spcBef>
                <a:spcPts val="0"/>
              </a:spcBef>
              <a:spcAft>
                <a:spcPts val="0"/>
              </a:spcAft>
              <a:buSzPts val="1500"/>
              <a:buChar char="●"/>
            </a:pPr>
            <a:r>
              <a:rPr lang="en" sz="1500"/>
              <a:t>County Health Rankings</a:t>
            </a:r>
            <a:endParaRPr sz="1500"/>
          </a:p>
          <a:p>
            <a:pPr indent="-323850" lvl="0" marL="457200" rtl="0" algn="l">
              <a:spcBef>
                <a:spcPts val="0"/>
              </a:spcBef>
              <a:spcAft>
                <a:spcPts val="0"/>
              </a:spcAft>
              <a:buSzPts val="1500"/>
              <a:buChar char="●"/>
            </a:pPr>
            <a:r>
              <a:rPr lang="en" sz="1500"/>
              <a:t>Provider Data</a:t>
            </a:r>
            <a:endParaRPr sz="1500"/>
          </a:p>
          <a:p>
            <a:pPr indent="-323850" lvl="0" marL="457200" rtl="0" algn="l">
              <a:spcBef>
                <a:spcPts val="0"/>
              </a:spcBef>
              <a:spcAft>
                <a:spcPts val="0"/>
              </a:spcAft>
              <a:buSzPts val="1500"/>
              <a:buChar char="●"/>
            </a:pPr>
            <a:r>
              <a:rPr lang="en" sz="1500"/>
              <a:t>Census Data</a:t>
            </a:r>
            <a:endParaRPr sz="1500"/>
          </a:p>
        </p:txBody>
      </p:sp>
      <p:sp>
        <p:nvSpPr>
          <p:cNvPr id="1047" name="Google Shape;1047;p76"/>
          <p:cNvSpPr txBox="1"/>
          <p:nvPr>
            <p:ph idx="6" type="subTitle"/>
          </p:nvPr>
        </p:nvSpPr>
        <p:spPr>
          <a:xfrm>
            <a:off x="900398" y="3182825"/>
            <a:ext cx="20802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question</a:t>
            </a:r>
            <a:endParaRPr sz="2400"/>
          </a:p>
        </p:txBody>
      </p:sp>
      <p:sp>
        <p:nvSpPr>
          <p:cNvPr id="1048" name="Google Shape;1048;p76"/>
          <p:cNvSpPr txBox="1"/>
          <p:nvPr>
            <p:ph idx="7" type="subTitle"/>
          </p:nvPr>
        </p:nvSpPr>
        <p:spPr>
          <a:xfrm>
            <a:off x="900386" y="3600525"/>
            <a:ext cx="2080200" cy="1262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t>Can healthcare access and housing stability be connected using public data?</a:t>
            </a:r>
            <a:endParaRPr sz="1500"/>
          </a:p>
          <a:p>
            <a:pPr indent="0" lvl="0" marL="0" rtl="0" algn="l">
              <a:spcBef>
                <a:spcPts val="0"/>
              </a:spcBef>
              <a:spcAft>
                <a:spcPts val="0"/>
              </a:spcAft>
              <a:buNone/>
            </a:pPr>
            <a:r>
              <a:t/>
            </a:r>
            <a:endParaRPr/>
          </a:p>
        </p:txBody>
      </p:sp>
      <p:sp>
        <p:nvSpPr>
          <p:cNvPr id="1049" name="Google Shape;1049;p76"/>
          <p:cNvSpPr txBox="1"/>
          <p:nvPr>
            <p:ph idx="6" type="subTitle"/>
          </p:nvPr>
        </p:nvSpPr>
        <p:spPr>
          <a:xfrm>
            <a:off x="3041923" y="3182825"/>
            <a:ext cx="20802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data</a:t>
            </a:r>
            <a:endParaRPr sz="2400"/>
          </a:p>
        </p:txBody>
      </p:sp>
      <p:sp>
        <p:nvSpPr>
          <p:cNvPr id="1050" name="Google Shape;1050;p76"/>
          <p:cNvSpPr/>
          <p:nvPr/>
        </p:nvSpPr>
        <p:spPr>
          <a:xfrm>
            <a:off x="7614725" y="75"/>
            <a:ext cx="260400" cy="5143500"/>
          </a:xfrm>
          <a:prstGeom prst="rect">
            <a:avLst/>
          </a:prstGeom>
          <a:solidFill>
            <a:srgbClr val="B7B7B7"/>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51" name="Google Shape;1051;p76"/>
          <p:cNvSpPr txBox="1"/>
          <p:nvPr>
            <p:ph idx="32" type="subTitle"/>
          </p:nvPr>
        </p:nvSpPr>
        <p:spPr>
          <a:xfrm rot="-5400000">
            <a:off x="6932746"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QUESTION</a:t>
            </a:r>
            <a:endParaRPr/>
          </a:p>
        </p:txBody>
      </p:sp>
      <p:sp>
        <p:nvSpPr>
          <p:cNvPr id="1052" name="Google Shape;1052;p76"/>
          <p:cNvSpPr txBox="1"/>
          <p:nvPr>
            <p:ph idx="16" type="subTitle"/>
          </p:nvPr>
        </p:nvSpPr>
        <p:spPr>
          <a:xfrm rot="-5400000">
            <a:off x="7294517"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1053" name="Google Shape;1053;p76"/>
          <p:cNvSpPr txBox="1"/>
          <p:nvPr>
            <p:ph idx="23"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1057" name="Shape 1057"/>
        <p:cNvGrpSpPr/>
        <p:nvPr/>
      </p:nvGrpSpPr>
      <p:grpSpPr>
        <a:xfrm>
          <a:off x="0" y="0"/>
          <a:ext cx="0" cy="0"/>
          <a:chOff x="0" y="0"/>
          <a:chExt cx="0" cy="0"/>
        </a:xfrm>
      </p:grpSpPr>
      <p:sp>
        <p:nvSpPr>
          <p:cNvPr id="1058" name="Google Shape;1058;p77"/>
          <p:cNvSpPr/>
          <p:nvPr/>
        </p:nvSpPr>
        <p:spPr>
          <a:xfrm>
            <a:off x="260400" y="5"/>
            <a:ext cx="260400" cy="5138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59" name="Google Shape;1059;p77"/>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60" name="Google Shape;1060;p77"/>
          <p:cNvSpPr txBox="1"/>
          <p:nvPr>
            <p:ph idx="3"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000000"/>
                </a:solidFill>
              </a:rPr>
              <a:t>01</a:t>
            </a:r>
            <a:endParaRPr b="1">
              <a:solidFill>
                <a:srgbClr val="000000"/>
              </a:solidFill>
            </a:endParaRPr>
          </a:p>
        </p:txBody>
      </p:sp>
      <p:sp>
        <p:nvSpPr>
          <p:cNvPr id="1061" name="Google Shape;1061;p77"/>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000000"/>
                </a:solidFill>
              </a:rPr>
              <a:t>BACKGROUND</a:t>
            </a:r>
            <a:endParaRPr>
              <a:solidFill>
                <a:srgbClr val="000000"/>
              </a:solidFill>
            </a:endParaRPr>
          </a:p>
        </p:txBody>
      </p:sp>
      <p:sp>
        <p:nvSpPr>
          <p:cNvPr id="1062" name="Google Shape;1062;p77"/>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ASSESSMENT</a:t>
            </a:r>
            <a:endParaRPr>
              <a:solidFill>
                <a:srgbClr val="FFFFFF"/>
              </a:solidFill>
            </a:endParaRPr>
          </a:p>
        </p:txBody>
      </p:sp>
      <p:sp>
        <p:nvSpPr>
          <p:cNvPr id="1063" name="Google Shape;1063;p77"/>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solidFill>
                  <a:srgbClr val="FFFFFF"/>
                </a:solidFill>
              </a:rPr>
              <a:t>02</a:t>
            </a:r>
            <a:endParaRPr b="1">
              <a:solidFill>
                <a:srgbClr val="FFFFFF"/>
              </a:solidFill>
            </a:endParaRPr>
          </a:p>
        </p:txBody>
      </p:sp>
      <p:sp>
        <p:nvSpPr>
          <p:cNvPr id="1064" name="Google Shape;1064;p77"/>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a:p>
            <a:pPr indent="0" lvl="0" marL="0" rtl="0" algn="ctr">
              <a:spcBef>
                <a:spcPts val="0"/>
              </a:spcBef>
              <a:spcAft>
                <a:spcPts val="0"/>
              </a:spcAft>
              <a:buNone/>
            </a:pPr>
            <a:r>
              <a:t/>
            </a:r>
            <a:endParaRPr/>
          </a:p>
        </p:txBody>
      </p:sp>
      <p:sp>
        <p:nvSpPr>
          <p:cNvPr id="1065" name="Google Shape;1065;p77"/>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1066" name="Google Shape;1066;p77"/>
          <p:cNvSpPr/>
          <p:nvPr/>
        </p:nvSpPr>
        <p:spPr>
          <a:xfrm>
            <a:off x="528225" y="-2850"/>
            <a:ext cx="83541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67" name="Google Shape;1067;p77"/>
          <p:cNvSpPr txBox="1"/>
          <p:nvPr>
            <p:ph idx="1" type="subTitle"/>
          </p:nvPr>
        </p:nvSpPr>
        <p:spPr>
          <a:xfrm>
            <a:off x="1661450" y="2231025"/>
            <a:ext cx="6220500" cy="23088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Different geographic units</a:t>
            </a:r>
            <a:endParaRPr sz="1700"/>
          </a:p>
          <a:p>
            <a:pPr indent="-336550" lvl="0" marL="457200" rtl="0" algn="l">
              <a:spcBef>
                <a:spcPts val="0"/>
              </a:spcBef>
              <a:spcAft>
                <a:spcPts val="0"/>
              </a:spcAft>
              <a:buSzPts val="1700"/>
              <a:buChar char="●"/>
            </a:pPr>
            <a:r>
              <a:rPr lang="en" sz="1700"/>
              <a:t>Different populations and time periods</a:t>
            </a:r>
            <a:endParaRPr sz="1700"/>
          </a:p>
          <a:p>
            <a:pPr indent="-336550" lvl="0" marL="457200" rtl="0" algn="l">
              <a:spcBef>
                <a:spcPts val="0"/>
              </a:spcBef>
              <a:spcAft>
                <a:spcPts val="0"/>
              </a:spcAft>
              <a:buSzPts val="1700"/>
              <a:buChar char="●"/>
            </a:pPr>
            <a:r>
              <a:rPr lang="en" sz="1700"/>
              <a:t>Provider availability did not equal actual access</a:t>
            </a:r>
            <a:endParaRPr sz="1700"/>
          </a:p>
          <a:p>
            <a:pPr indent="-336550" lvl="0" marL="457200" rtl="0" algn="l">
              <a:spcBef>
                <a:spcPts val="0"/>
              </a:spcBef>
              <a:spcAft>
                <a:spcPts val="0"/>
              </a:spcAft>
              <a:buSzPts val="1700"/>
              <a:buChar char="●"/>
            </a:pPr>
            <a:r>
              <a:rPr lang="en" sz="1700"/>
              <a:t>PIT counts measured visible homelessness on one night, not individual housing stability over time</a:t>
            </a:r>
            <a:endParaRPr sz="1700"/>
          </a:p>
          <a:p>
            <a:pPr indent="-336550" lvl="0" marL="457200" rtl="0" algn="l">
              <a:spcBef>
                <a:spcPts val="0"/>
              </a:spcBef>
              <a:spcAft>
                <a:spcPts val="0"/>
              </a:spcAft>
              <a:buSzPts val="1700"/>
              <a:buChar char="●"/>
            </a:pPr>
            <a:r>
              <a:rPr lang="en" sz="1700"/>
              <a:t>No link between healthcare use and later housing outcomes</a:t>
            </a:r>
            <a:endParaRPr sz="1700"/>
          </a:p>
          <a:p>
            <a:pPr indent="0" lvl="0" marL="0" rtl="0" algn="l">
              <a:spcBef>
                <a:spcPts val="0"/>
              </a:spcBef>
              <a:spcAft>
                <a:spcPts val="0"/>
              </a:spcAft>
              <a:buNone/>
            </a:pPr>
            <a:r>
              <a:t/>
            </a:r>
            <a:endParaRPr/>
          </a:p>
        </p:txBody>
      </p:sp>
      <p:sp>
        <p:nvSpPr>
          <p:cNvPr id="1068" name="Google Shape;1068;p77"/>
          <p:cNvSpPr txBox="1"/>
          <p:nvPr>
            <p:ph type="title"/>
          </p:nvPr>
        </p:nvSpPr>
        <p:spPr>
          <a:xfrm>
            <a:off x="1618225" y="114300"/>
            <a:ext cx="6685200" cy="1416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45F06"/>
                </a:solidFill>
              </a:rPr>
              <a:t>m</a:t>
            </a:r>
            <a:r>
              <a:rPr lang="en">
                <a:solidFill>
                  <a:srgbClr val="B45F06"/>
                </a:solidFill>
              </a:rPr>
              <a:t>ain obstacle</a:t>
            </a:r>
            <a:endParaRPr>
              <a:solidFill>
                <a:srgbClr val="B45F06"/>
              </a:solidFill>
            </a:endParaRPr>
          </a:p>
        </p:txBody>
      </p:sp>
      <p:sp>
        <p:nvSpPr>
          <p:cNvPr id="1069" name="Google Shape;1069;p77"/>
          <p:cNvSpPr txBox="1"/>
          <p:nvPr/>
        </p:nvSpPr>
        <p:spPr>
          <a:xfrm>
            <a:off x="1702950" y="1375050"/>
            <a:ext cx="6348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Roboto Light"/>
                <a:ea typeface="Roboto Light"/>
                <a:cs typeface="Roboto Light"/>
                <a:sym typeface="Roboto Light"/>
              </a:rPr>
              <a:t>The obstacle was not a total lack of public data. It was a lack of compatible, linkable, publicly accessible data.</a:t>
            </a:r>
            <a:endParaRPr sz="1700">
              <a:solidFill>
                <a:schemeClr val="lt1"/>
              </a:solidFill>
              <a:latin typeface="Roboto Light"/>
              <a:ea typeface="Roboto Light"/>
              <a:cs typeface="Roboto Light"/>
              <a:sym typeface="Roboto Light"/>
            </a:endParaRPr>
          </a:p>
        </p:txBody>
      </p:sp>
      <p:sp>
        <p:nvSpPr>
          <p:cNvPr id="1070" name="Google Shape;1070;p77"/>
          <p:cNvSpPr txBox="1"/>
          <p:nvPr/>
        </p:nvSpPr>
        <p:spPr>
          <a:xfrm>
            <a:off x="1597250" y="4239725"/>
            <a:ext cx="634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500">
                <a:solidFill>
                  <a:schemeClr val="lt1"/>
                </a:solidFill>
                <a:latin typeface="Roboto"/>
                <a:ea typeface="Roboto"/>
                <a:cs typeface="Roboto"/>
                <a:sym typeface="Roboto"/>
              </a:rPr>
              <a:t>We chose not to force incompatible data into a predictive or causal model</a:t>
            </a:r>
            <a:endParaRPr b="1" i="1" sz="1500">
              <a:solidFill>
                <a:schemeClr val="lt1"/>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074" name="Shape 1074"/>
        <p:cNvGrpSpPr/>
        <p:nvPr/>
      </p:nvGrpSpPr>
      <p:grpSpPr>
        <a:xfrm>
          <a:off x="0" y="0"/>
          <a:ext cx="0" cy="0"/>
          <a:chOff x="0" y="0"/>
          <a:chExt cx="0" cy="0"/>
        </a:xfrm>
      </p:grpSpPr>
      <p:sp>
        <p:nvSpPr>
          <p:cNvPr id="1075" name="Google Shape;1075;p78"/>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76" name="Google Shape;1076;p78"/>
          <p:cNvSpPr/>
          <p:nvPr/>
        </p:nvSpPr>
        <p:spPr>
          <a:xfrm>
            <a:off x="812250" y="-5475"/>
            <a:ext cx="71049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77" name="Google Shape;1077;p78"/>
          <p:cNvSpPr/>
          <p:nvPr/>
        </p:nvSpPr>
        <p:spPr>
          <a:xfrm>
            <a:off x="265650" y="1150"/>
            <a:ext cx="260400" cy="51492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78" name="Google Shape;1078;p78"/>
          <p:cNvSpPr/>
          <p:nvPr/>
        </p:nvSpPr>
        <p:spPr>
          <a:xfrm>
            <a:off x="7868225"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79" name="Google Shape;1079;p78"/>
          <p:cNvSpPr/>
          <p:nvPr/>
        </p:nvSpPr>
        <p:spPr>
          <a:xfrm>
            <a:off x="8121725" y="-5475"/>
            <a:ext cx="2604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80" name="Google Shape;1080;p78"/>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81" name="Google Shape;1081;p78"/>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82" name="Google Shape;1082;p78"/>
          <p:cNvSpPr/>
          <p:nvPr/>
        </p:nvSpPr>
        <p:spPr>
          <a:xfrm>
            <a:off x="8375200"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83" name="Google Shape;1083;p78"/>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1084" name="Google Shape;1084;p78"/>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1085" name="Google Shape;1085;p78"/>
          <p:cNvSpPr txBox="1"/>
          <p:nvPr>
            <p:ph idx="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1086" name="Google Shape;1086;p78"/>
          <p:cNvSpPr txBox="1"/>
          <p:nvPr>
            <p:ph idx="14" type="subTitle"/>
          </p:nvPr>
        </p:nvSpPr>
        <p:spPr>
          <a:xfrm rot="-5400000">
            <a:off x="7173022" y="2436750"/>
            <a:ext cx="1645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DATA</a:t>
            </a:r>
            <a:endParaRPr/>
          </a:p>
        </p:txBody>
      </p:sp>
      <p:sp>
        <p:nvSpPr>
          <p:cNvPr id="1087" name="Google Shape;1087;p78"/>
          <p:cNvSpPr txBox="1"/>
          <p:nvPr>
            <p:ph idx="15" type="subTitle"/>
          </p:nvPr>
        </p:nvSpPr>
        <p:spPr>
          <a:xfrm rot="-5400000">
            <a:off x="7548008"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04</a:t>
            </a:r>
            <a:endParaRPr/>
          </a:p>
        </p:txBody>
      </p:sp>
      <p:sp>
        <p:nvSpPr>
          <p:cNvPr id="1088" name="Google Shape;1088;p78"/>
          <p:cNvSpPr txBox="1"/>
          <p:nvPr>
            <p:ph idx="28" type="subTitle"/>
          </p:nvPr>
        </p:nvSpPr>
        <p:spPr>
          <a:xfrm rot="-5400000">
            <a:off x="7420888"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OBSTACLE</a:t>
            </a:r>
            <a:endParaRPr/>
          </a:p>
        </p:txBody>
      </p:sp>
      <p:sp>
        <p:nvSpPr>
          <p:cNvPr id="1089" name="Google Shape;1089;p78"/>
          <p:cNvSpPr txBox="1"/>
          <p:nvPr>
            <p:ph idx="17" type="subTitle"/>
          </p:nvPr>
        </p:nvSpPr>
        <p:spPr>
          <a:xfrm rot="-5400000">
            <a:off x="7801500"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05</a:t>
            </a:r>
            <a:endParaRPr/>
          </a:p>
        </p:txBody>
      </p:sp>
      <p:sp>
        <p:nvSpPr>
          <p:cNvPr id="1090" name="Google Shape;1090;p78"/>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08</a:t>
            </a:r>
            <a:endParaRPr/>
          </a:p>
        </p:txBody>
      </p:sp>
      <p:sp>
        <p:nvSpPr>
          <p:cNvPr id="1091" name="Google Shape;1091;p78"/>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
        <p:nvSpPr>
          <p:cNvPr id="1092" name="Google Shape;1092;p78"/>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07</a:t>
            </a:r>
            <a:endParaRPr/>
          </a:p>
        </p:txBody>
      </p:sp>
      <p:sp>
        <p:nvSpPr>
          <p:cNvPr id="1093" name="Google Shape;1093;p78"/>
          <p:cNvSpPr txBox="1"/>
          <p:nvPr>
            <p:ph idx="29" type="subTitle"/>
          </p:nvPr>
        </p:nvSpPr>
        <p:spPr>
          <a:xfrm rot="-5400000">
            <a:off x="7684296"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MISSING PIECES</a:t>
            </a:r>
            <a:endParaRPr/>
          </a:p>
        </p:txBody>
      </p:sp>
      <p:sp>
        <p:nvSpPr>
          <p:cNvPr id="1094" name="Google Shape;1094;p78"/>
          <p:cNvSpPr/>
          <p:nvPr/>
        </p:nvSpPr>
        <p:spPr>
          <a:xfrm>
            <a:off x="537873"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095" name="Google Shape;1095;p78"/>
          <p:cNvSpPr txBox="1"/>
          <p:nvPr>
            <p:ph idx="24"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06</a:t>
            </a:r>
            <a:endParaRPr/>
          </a:p>
        </p:txBody>
      </p:sp>
      <p:sp>
        <p:nvSpPr>
          <p:cNvPr id="1096" name="Google Shape;1096;p78"/>
          <p:cNvSpPr txBox="1"/>
          <p:nvPr>
            <p:ph idx="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1097" name="Google Shape;1097;p78"/>
          <p:cNvSpPr txBox="1"/>
          <p:nvPr>
            <p:ph idx="27"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QUESTION</a:t>
            </a:r>
            <a:endParaRPr/>
          </a:p>
        </p:txBody>
      </p:sp>
      <p:sp>
        <p:nvSpPr>
          <p:cNvPr id="1098" name="Google Shape;1098;p78"/>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LOOKING AHEAD</a:t>
            </a:r>
            <a:endParaRPr/>
          </a:p>
        </p:txBody>
      </p:sp>
      <p:sp>
        <p:nvSpPr>
          <p:cNvPr id="1099" name="Google Shape;1099;p78"/>
          <p:cNvSpPr txBox="1"/>
          <p:nvPr>
            <p:ph idx="2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APPROACH</a:t>
            </a:r>
            <a:endParaRPr/>
          </a:p>
        </p:txBody>
      </p:sp>
      <p:sp>
        <p:nvSpPr>
          <p:cNvPr id="1100" name="Google Shape;1100;p78"/>
          <p:cNvSpPr txBox="1"/>
          <p:nvPr>
            <p:ph idx="4294967295" type="subTitle"/>
          </p:nvPr>
        </p:nvSpPr>
        <p:spPr>
          <a:xfrm>
            <a:off x="5312936" y="2701300"/>
            <a:ext cx="20802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1101" name="Google Shape;1101;p78"/>
          <p:cNvSpPr txBox="1"/>
          <p:nvPr>
            <p:ph idx="2" type="subTitle"/>
          </p:nvPr>
        </p:nvSpPr>
        <p:spPr>
          <a:xfrm>
            <a:off x="3172525" y="2701300"/>
            <a:ext cx="2141400" cy="3693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t/>
            </a:r>
            <a:endParaRPr sz="1200"/>
          </a:p>
        </p:txBody>
      </p:sp>
      <p:sp>
        <p:nvSpPr>
          <p:cNvPr id="1102" name="Google Shape;1102;p78"/>
          <p:cNvSpPr txBox="1"/>
          <p:nvPr>
            <p:ph idx="4294967295" type="subTitle"/>
          </p:nvPr>
        </p:nvSpPr>
        <p:spPr>
          <a:xfrm>
            <a:off x="919050" y="2764200"/>
            <a:ext cx="23037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1103" name="Google Shape;1103;p78"/>
          <p:cNvSpPr txBox="1"/>
          <p:nvPr>
            <p:ph idx="4294967295" type="subTitle"/>
          </p:nvPr>
        </p:nvSpPr>
        <p:spPr>
          <a:xfrm>
            <a:off x="5312947" y="2148550"/>
            <a:ext cx="230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2400"/>
          </a:p>
        </p:txBody>
      </p:sp>
      <p:sp>
        <p:nvSpPr>
          <p:cNvPr id="1104" name="Google Shape;1104;p78"/>
          <p:cNvSpPr txBox="1"/>
          <p:nvPr>
            <p:ph idx="4294967295" type="subTitle"/>
          </p:nvPr>
        </p:nvSpPr>
        <p:spPr>
          <a:xfrm>
            <a:off x="946010" y="2148550"/>
            <a:ext cx="2080200" cy="507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100"/>
              <a:t>PICKUP</a:t>
            </a:r>
            <a:endParaRPr sz="2100"/>
          </a:p>
        </p:txBody>
      </p:sp>
      <p:sp>
        <p:nvSpPr>
          <p:cNvPr id="1105" name="Google Shape;1105;p78"/>
          <p:cNvSpPr txBox="1"/>
          <p:nvPr>
            <p:ph idx="4294967295" type="subTitle"/>
          </p:nvPr>
        </p:nvSpPr>
        <p:spPr>
          <a:xfrm>
            <a:off x="3171410" y="2148550"/>
            <a:ext cx="2080200" cy="507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100"/>
              <a:t>HOMES</a:t>
            </a:r>
            <a:endParaRPr sz="2100"/>
          </a:p>
        </p:txBody>
      </p:sp>
      <p:cxnSp>
        <p:nvCxnSpPr>
          <p:cNvPr id="1106" name="Google Shape;1106;p78"/>
          <p:cNvCxnSpPr/>
          <p:nvPr/>
        </p:nvCxnSpPr>
        <p:spPr>
          <a:xfrm flipH="1" rot="10800000">
            <a:off x="1049975" y="2679867"/>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1107" name="Google Shape;1107;p78"/>
          <p:cNvCxnSpPr/>
          <p:nvPr/>
        </p:nvCxnSpPr>
        <p:spPr>
          <a:xfrm flipH="1" rot="10800000">
            <a:off x="3226375" y="2675417"/>
            <a:ext cx="2033700" cy="6900"/>
          </a:xfrm>
          <a:prstGeom prst="straightConnector1">
            <a:avLst/>
          </a:prstGeom>
          <a:noFill/>
          <a:ln cap="flat" cmpd="sng" w="28575">
            <a:solidFill>
              <a:srgbClr val="B45F06"/>
            </a:solidFill>
            <a:prstDash val="solid"/>
            <a:round/>
            <a:headEnd len="med" w="med" type="none"/>
            <a:tailEnd len="med" w="med" type="none"/>
          </a:ln>
        </p:spPr>
      </p:cxnSp>
      <p:cxnSp>
        <p:nvCxnSpPr>
          <p:cNvPr id="1108" name="Google Shape;1108;p78"/>
          <p:cNvCxnSpPr/>
          <p:nvPr/>
        </p:nvCxnSpPr>
        <p:spPr>
          <a:xfrm flipH="1" rot="10800000">
            <a:off x="5336175" y="2665891"/>
            <a:ext cx="2033700" cy="6900"/>
          </a:xfrm>
          <a:prstGeom prst="straightConnector1">
            <a:avLst/>
          </a:prstGeom>
          <a:noFill/>
          <a:ln cap="flat" cmpd="sng" w="28575">
            <a:solidFill>
              <a:srgbClr val="B45F06"/>
            </a:solidFill>
            <a:prstDash val="solid"/>
            <a:round/>
            <a:headEnd len="med" w="med" type="none"/>
            <a:tailEnd len="med" w="med" type="none"/>
          </a:ln>
        </p:spPr>
      </p:cxnSp>
      <p:sp>
        <p:nvSpPr>
          <p:cNvPr id="1109" name="Google Shape;1109;p78"/>
          <p:cNvSpPr txBox="1"/>
          <p:nvPr>
            <p:ph idx="4294967295" type="title"/>
          </p:nvPr>
        </p:nvSpPr>
        <p:spPr>
          <a:xfrm>
            <a:off x="935425" y="157675"/>
            <a:ext cx="6615600" cy="1000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5300">
                <a:solidFill>
                  <a:srgbClr val="6FA8AA"/>
                </a:solidFill>
              </a:rPr>
              <a:t>p</a:t>
            </a:r>
            <a:r>
              <a:rPr lang="en" sz="5300">
                <a:solidFill>
                  <a:srgbClr val="6FA8AA"/>
                </a:solidFill>
              </a:rPr>
              <a:t>ieces, not pathways</a:t>
            </a:r>
            <a:endParaRPr sz="3500">
              <a:solidFill>
                <a:srgbClr val="6FA8AA"/>
              </a:solidFill>
            </a:endParaRPr>
          </a:p>
        </p:txBody>
      </p:sp>
      <p:sp>
        <p:nvSpPr>
          <p:cNvPr id="1110" name="Google Shape;1110;p78"/>
          <p:cNvSpPr txBox="1"/>
          <p:nvPr>
            <p:ph idx="1" type="subTitle"/>
          </p:nvPr>
        </p:nvSpPr>
        <p:spPr>
          <a:xfrm>
            <a:off x="1042650" y="1054950"/>
            <a:ext cx="6327300" cy="997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latin typeface="Roboto"/>
                <a:ea typeface="Roboto"/>
                <a:cs typeface="Roboto"/>
                <a:sym typeface="Roboto"/>
              </a:rPr>
              <a:t>PICKUP and HOMES provide important insight into homeless in New Mexico, but public data still cannot connect healthcare access, treatment, and housing outcomes over time. </a:t>
            </a:r>
            <a:endParaRPr sz="16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114" name="Shape 1114"/>
        <p:cNvGrpSpPr/>
        <p:nvPr/>
      </p:nvGrpSpPr>
      <p:grpSpPr>
        <a:xfrm>
          <a:off x="0" y="0"/>
          <a:ext cx="0" cy="0"/>
          <a:chOff x="0" y="0"/>
          <a:chExt cx="0" cy="0"/>
        </a:xfrm>
      </p:grpSpPr>
      <p:sp>
        <p:nvSpPr>
          <p:cNvPr id="1115" name="Google Shape;1115;p79"/>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16" name="Google Shape;1116;p79"/>
          <p:cNvSpPr/>
          <p:nvPr/>
        </p:nvSpPr>
        <p:spPr>
          <a:xfrm>
            <a:off x="812250" y="-5475"/>
            <a:ext cx="71049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17" name="Google Shape;1117;p79"/>
          <p:cNvSpPr/>
          <p:nvPr/>
        </p:nvSpPr>
        <p:spPr>
          <a:xfrm>
            <a:off x="3835300" y="472750"/>
            <a:ext cx="3955500" cy="4206000"/>
          </a:xfrm>
          <a:prstGeom prst="roundRect">
            <a:avLst>
              <a:gd fmla="val 8183" name="adj"/>
            </a:avLst>
          </a:prstGeom>
          <a:solidFill>
            <a:srgbClr val="FFFFFF"/>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b="1" lang="en" sz="2700">
                <a:solidFill>
                  <a:schemeClr val="lt1"/>
                </a:solidFill>
                <a:latin typeface="Roboto"/>
                <a:ea typeface="Roboto"/>
                <a:cs typeface="Roboto"/>
                <a:sym typeface="Roboto"/>
              </a:rPr>
              <a:t>Can public data help us understand the relationship between healthcare access and housing stability in New Mexico?</a:t>
            </a:r>
            <a:endParaRPr b="1" sz="5200">
              <a:solidFill>
                <a:schemeClr val="lt1"/>
              </a:solidFill>
              <a:latin typeface="Roboto"/>
              <a:ea typeface="Roboto"/>
              <a:cs typeface="Roboto"/>
              <a:sym typeface="Roboto"/>
            </a:endParaRPr>
          </a:p>
        </p:txBody>
      </p:sp>
      <p:sp>
        <p:nvSpPr>
          <p:cNvPr id="1118" name="Google Shape;1118;p79"/>
          <p:cNvSpPr/>
          <p:nvPr/>
        </p:nvSpPr>
        <p:spPr>
          <a:xfrm>
            <a:off x="265650" y="1150"/>
            <a:ext cx="260400" cy="51492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19" name="Google Shape;1119;p79"/>
          <p:cNvSpPr/>
          <p:nvPr/>
        </p:nvSpPr>
        <p:spPr>
          <a:xfrm>
            <a:off x="7868225"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20" name="Google Shape;1120;p79"/>
          <p:cNvSpPr/>
          <p:nvPr/>
        </p:nvSpPr>
        <p:spPr>
          <a:xfrm>
            <a:off x="8121725" y="-5475"/>
            <a:ext cx="2604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21" name="Google Shape;1121;p79"/>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22" name="Google Shape;1122;p79"/>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23" name="Google Shape;1123;p79"/>
          <p:cNvSpPr/>
          <p:nvPr/>
        </p:nvSpPr>
        <p:spPr>
          <a:xfrm>
            <a:off x="8375200"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24" name="Google Shape;1124;p79"/>
          <p:cNvSpPr txBox="1"/>
          <p:nvPr>
            <p:ph idx="1" type="subTitle"/>
          </p:nvPr>
        </p:nvSpPr>
        <p:spPr>
          <a:xfrm>
            <a:off x="923475" y="474825"/>
            <a:ext cx="3146100" cy="202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6FA8AA"/>
                </a:solidFill>
              </a:rPr>
              <a:t>the question</a:t>
            </a:r>
            <a:endParaRPr>
              <a:solidFill>
                <a:srgbClr val="6FA8AA"/>
              </a:solidFill>
            </a:endParaRPr>
          </a:p>
        </p:txBody>
      </p:sp>
      <p:sp>
        <p:nvSpPr>
          <p:cNvPr id="1125" name="Google Shape;1125;p79"/>
          <p:cNvSpPr txBox="1"/>
          <p:nvPr>
            <p:ph idx="2" type="subTitle"/>
          </p:nvPr>
        </p:nvSpPr>
        <p:spPr>
          <a:xfrm>
            <a:off x="923475" y="2455725"/>
            <a:ext cx="3146100" cy="12621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Char char="●"/>
            </a:pPr>
            <a:r>
              <a:rPr lang="en" sz="1900"/>
              <a:t>Healthcare access</a:t>
            </a:r>
            <a:endParaRPr sz="1900"/>
          </a:p>
          <a:p>
            <a:pPr indent="-349250" lvl="0" marL="457200" rtl="0" algn="l">
              <a:spcBef>
                <a:spcPts val="0"/>
              </a:spcBef>
              <a:spcAft>
                <a:spcPts val="0"/>
              </a:spcAft>
              <a:buSzPts val="1900"/>
              <a:buChar char="●"/>
            </a:pPr>
            <a:r>
              <a:rPr lang="en" sz="1900"/>
              <a:t>Housing stability</a:t>
            </a:r>
            <a:endParaRPr sz="1900"/>
          </a:p>
          <a:p>
            <a:pPr indent="-349250" lvl="0" marL="457200" rtl="0" algn="l">
              <a:spcBef>
                <a:spcPts val="0"/>
              </a:spcBef>
              <a:spcAft>
                <a:spcPts val="0"/>
              </a:spcAft>
              <a:buSzPts val="1900"/>
              <a:buChar char="●"/>
            </a:pPr>
            <a:r>
              <a:rPr lang="en" sz="1900"/>
              <a:t>New Mexico</a:t>
            </a:r>
            <a:endParaRPr sz="1900"/>
          </a:p>
          <a:p>
            <a:pPr indent="0" lvl="0" marL="0" rtl="0" algn="l">
              <a:spcBef>
                <a:spcPts val="0"/>
              </a:spcBef>
              <a:spcAft>
                <a:spcPts val="0"/>
              </a:spcAft>
              <a:buNone/>
            </a:pPr>
            <a:r>
              <a:t/>
            </a:r>
            <a:endParaRPr/>
          </a:p>
        </p:txBody>
      </p:sp>
      <p:sp>
        <p:nvSpPr>
          <p:cNvPr id="1126" name="Google Shape;1126;p79"/>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1127" name="Google Shape;1127;p79"/>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1128" name="Google Shape;1128;p79"/>
          <p:cNvSpPr txBox="1"/>
          <p:nvPr>
            <p:ph idx="7"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1129" name="Google Shape;1129;p79"/>
          <p:cNvSpPr txBox="1"/>
          <p:nvPr>
            <p:ph idx="14" type="subTitle"/>
          </p:nvPr>
        </p:nvSpPr>
        <p:spPr>
          <a:xfrm rot="-5400000">
            <a:off x="7173022" y="2436750"/>
            <a:ext cx="1645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DATA</a:t>
            </a:r>
            <a:endParaRPr/>
          </a:p>
        </p:txBody>
      </p:sp>
      <p:sp>
        <p:nvSpPr>
          <p:cNvPr id="1130" name="Google Shape;1130;p79"/>
          <p:cNvSpPr txBox="1"/>
          <p:nvPr>
            <p:ph idx="15" type="subTitle"/>
          </p:nvPr>
        </p:nvSpPr>
        <p:spPr>
          <a:xfrm rot="-5400000">
            <a:off x="7548008"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04</a:t>
            </a:r>
            <a:endParaRPr/>
          </a:p>
        </p:txBody>
      </p:sp>
      <p:sp>
        <p:nvSpPr>
          <p:cNvPr id="1131" name="Google Shape;1131;p79"/>
          <p:cNvSpPr txBox="1"/>
          <p:nvPr>
            <p:ph idx="28" type="subTitle"/>
          </p:nvPr>
        </p:nvSpPr>
        <p:spPr>
          <a:xfrm rot="-5400000">
            <a:off x="7420888"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OBSTACLE</a:t>
            </a:r>
            <a:endParaRPr/>
          </a:p>
        </p:txBody>
      </p:sp>
      <p:sp>
        <p:nvSpPr>
          <p:cNvPr id="1132" name="Google Shape;1132;p79"/>
          <p:cNvSpPr txBox="1"/>
          <p:nvPr>
            <p:ph idx="17" type="subTitle"/>
          </p:nvPr>
        </p:nvSpPr>
        <p:spPr>
          <a:xfrm rot="-5400000">
            <a:off x="7801500"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05</a:t>
            </a:r>
            <a:endParaRPr/>
          </a:p>
        </p:txBody>
      </p:sp>
      <p:sp>
        <p:nvSpPr>
          <p:cNvPr id="1133" name="Google Shape;1133;p79"/>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08</a:t>
            </a:r>
            <a:endParaRPr/>
          </a:p>
        </p:txBody>
      </p:sp>
      <p:sp>
        <p:nvSpPr>
          <p:cNvPr id="1134" name="Google Shape;1134;p79"/>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
        <p:nvSpPr>
          <p:cNvPr id="1135" name="Google Shape;1135;p79"/>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07</a:t>
            </a:r>
            <a:endParaRPr/>
          </a:p>
        </p:txBody>
      </p:sp>
      <p:sp>
        <p:nvSpPr>
          <p:cNvPr id="1136" name="Google Shape;1136;p79"/>
          <p:cNvSpPr txBox="1"/>
          <p:nvPr>
            <p:ph idx="29" type="subTitle"/>
          </p:nvPr>
        </p:nvSpPr>
        <p:spPr>
          <a:xfrm rot="-5400000">
            <a:off x="7684296"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MISSING PIECES</a:t>
            </a:r>
            <a:endParaRPr/>
          </a:p>
        </p:txBody>
      </p:sp>
      <p:sp>
        <p:nvSpPr>
          <p:cNvPr id="1137" name="Google Shape;1137;p79"/>
          <p:cNvSpPr/>
          <p:nvPr/>
        </p:nvSpPr>
        <p:spPr>
          <a:xfrm>
            <a:off x="537873"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38" name="Google Shape;1138;p79"/>
          <p:cNvSpPr txBox="1"/>
          <p:nvPr>
            <p:ph idx="24"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06</a:t>
            </a:r>
            <a:endParaRPr/>
          </a:p>
        </p:txBody>
      </p:sp>
      <p:sp>
        <p:nvSpPr>
          <p:cNvPr id="1139" name="Google Shape;1139;p79"/>
          <p:cNvSpPr txBox="1"/>
          <p:nvPr/>
        </p:nvSpPr>
        <p:spPr>
          <a:xfrm>
            <a:off x="6902379" y="3565705"/>
            <a:ext cx="5727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300">
                <a:solidFill>
                  <a:schemeClr val="lt1"/>
                </a:solidFill>
                <a:latin typeface="Roboto"/>
                <a:ea typeface="Roboto"/>
                <a:cs typeface="Roboto"/>
                <a:sym typeface="Roboto"/>
              </a:rPr>
              <a:t>”</a:t>
            </a:r>
            <a:endParaRPr sz="1000">
              <a:solidFill>
                <a:schemeClr val="lt1"/>
              </a:solidFill>
              <a:latin typeface="Roboto Light"/>
              <a:ea typeface="Roboto Light"/>
              <a:cs typeface="Roboto Light"/>
              <a:sym typeface="Roboto Light"/>
            </a:endParaRPr>
          </a:p>
        </p:txBody>
      </p:sp>
      <p:sp>
        <p:nvSpPr>
          <p:cNvPr id="1140" name="Google Shape;1140;p79"/>
          <p:cNvSpPr txBox="1"/>
          <p:nvPr>
            <p:ph idx="9"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1141" name="Google Shape;1141;p79"/>
          <p:cNvSpPr txBox="1"/>
          <p:nvPr>
            <p:ph idx="27"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QUESTION</a:t>
            </a:r>
            <a:endParaRPr/>
          </a:p>
        </p:txBody>
      </p:sp>
      <p:sp>
        <p:nvSpPr>
          <p:cNvPr id="1142" name="Google Shape;1142;p79"/>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LOOKING AHEAD</a:t>
            </a:r>
            <a:endParaRPr/>
          </a:p>
        </p:txBody>
      </p:sp>
      <p:sp>
        <p:nvSpPr>
          <p:cNvPr id="1143" name="Google Shape;1143;p79"/>
          <p:cNvSpPr txBox="1"/>
          <p:nvPr>
            <p:ph idx="2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APPROACH</a:t>
            </a:r>
            <a:endParaRPr/>
          </a:p>
        </p:txBody>
      </p:sp>
      <p:sp>
        <p:nvSpPr>
          <p:cNvPr id="1144" name="Google Shape;1144;p79"/>
          <p:cNvSpPr txBox="1"/>
          <p:nvPr/>
        </p:nvSpPr>
        <p:spPr>
          <a:xfrm>
            <a:off x="3835304" y="383530"/>
            <a:ext cx="572700" cy="48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300">
                <a:solidFill>
                  <a:schemeClr val="lt1"/>
                </a:solidFill>
                <a:latin typeface="Roboto"/>
                <a:ea typeface="Roboto"/>
                <a:cs typeface="Roboto"/>
                <a:sym typeface="Roboto"/>
              </a:rPr>
              <a:t>“</a:t>
            </a:r>
            <a:endParaRPr sz="1000">
              <a:solidFill>
                <a:schemeClr val="lt1"/>
              </a:solidFill>
              <a:latin typeface="Roboto Light"/>
              <a:ea typeface="Roboto Light"/>
              <a:cs typeface="Roboto Light"/>
              <a:sym typeface="Roboto Light"/>
            </a:endParaRPr>
          </a:p>
        </p:txBody>
      </p:sp>
      <p:sp>
        <p:nvSpPr>
          <p:cNvPr id="1145" name="Google Shape;1145;p79"/>
          <p:cNvSpPr txBox="1"/>
          <p:nvPr>
            <p:ph idx="2" type="subTitle"/>
          </p:nvPr>
        </p:nvSpPr>
        <p:spPr>
          <a:xfrm>
            <a:off x="4496698" y="4642361"/>
            <a:ext cx="31461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a:ea typeface="Roboto"/>
                <a:cs typeface="Roboto"/>
                <a:sym typeface="Roboto"/>
              </a:rPr>
              <a:t>*Exploratory - not a causal claim.</a:t>
            </a:r>
            <a:endParaRPr b="1">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149" name="Shape 1149"/>
        <p:cNvGrpSpPr/>
        <p:nvPr/>
      </p:nvGrpSpPr>
      <p:grpSpPr>
        <a:xfrm>
          <a:off x="0" y="0"/>
          <a:ext cx="0" cy="0"/>
          <a:chOff x="0" y="0"/>
          <a:chExt cx="0" cy="0"/>
        </a:xfrm>
      </p:grpSpPr>
      <p:sp>
        <p:nvSpPr>
          <p:cNvPr id="1150" name="Google Shape;1150;p80"/>
          <p:cNvSpPr/>
          <p:nvPr/>
        </p:nvSpPr>
        <p:spPr>
          <a:xfrm>
            <a:off x="1039350" y="-2850"/>
            <a:ext cx="73332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1" name="Google Shape;1151;p80"/>
          <p:cNvSpPr/>
          <p:nvPr/>
        </p:nvSpPr>
        <p:spPr>
          <a:xfrm>
            <a:off x="520557" y="5"/>
            <a:ext cx="260400" cy="51381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2" name="Google Shape;1152;p80"/>
          <p:cNvSpPr/>
          <p:nvPr/>
        </p:nvSpPr>
        <p:spPr>
          <a:xfrm>
            <a:off x="260400" y="5"/>
            <a:ext cx="260400" cy="51381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53" name="Google Shape;1153;p80"/>
          <p:cNvSpPr/>
          <p:nvPr/>
        </p:nvSpPr>
        <p:spPr>
          <a:xfrm>
            <a:off x="781201" y="-5475"/>
            <a:ext cx="260400" cy="51381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4" name="Google Shape;1154;p80"/>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5" name="Google Shape;1155;p80"/>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6" name="Google Shape;1156;p80"/>
          <p:cNvSpPr/>
          <p:nvPr/>
        </p:nvSpPr>
        <p:spPr>
          <a:xfrm>
            <a:off x="8375200"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57" name="Google Shape;1157;p80"/>
          <p:cNvSpPr txBox="1"/>
          <p:nvPr>
            <p:ph idx="3"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1158" name="Google Shape;1158;p80"/>
          <p:cNvSpPr txBox="1"/>
          <p:nvPr>
            <p:ph idx="1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1159" name="Google Shape;1159;p80"/>
          <p:cNvSpPr txBox="1"/>
          <p:nvPr>
            <p:ph idx="16" type="subTitle"/>
          </p:nvPr>
        </p:nvSpPr>
        <p:spPr>
          <a:xfrm rot="-5400000">
            <a:off x="-42112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APPROACH</a:t>
            </a:r>
            <a:endParaRPr/>
          </a:p>
        </p:txBody>
      </p:sp>
      <p:sp>
        <p:nvSpPr>
          <p:cNvPr id="1160" name="Google Shape;1160;p80"/>
          <p:cNvSpPr txBox="1"/>
          <p:nvPr>
            <p:ph idx="6" type="subTitle"/>
          </p:nvPr>
        </p:nvSpPr>
        <p:spPr>
          <a:xfrm rot="-5400000">
            <a:off x="-22800"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1161" name="Google Shape;1161;p80"/>
          <p:cNvSpPr txBox="1"/>
          <p:nvPr>
            <p:ph idx="8" type="subTitle"/>
          </p:nvPr>
        </p:nvSpPr>
        <p:spPr>
          <a:xfrm rot="-5400000">
            <a:off x="189642"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1162" name="Google Shape;1162;p80"/>
          <p:cNvSpPr txBox="1"/>
          <p:nvPr>
            <p:ph idx="13" type="subTitle"/>
          </p:nvPr>
        </p:nvSpPr>
        <p:spPr>
          <a:xfrm rot="-5400000">
            <a:off x="93229" y="2436750"/>
            <a:ext cx="1645800" cy="255900"/>
          </a:xfrm>
          <a:prstGeom prst="rect">
            <a:avLst/>
          </a:prstGeom>
          <a:solidFill>
            <a:srgbClr val="CCCCCC"/>
          </a:solidFill>
        </p:spPr>
        <p:txBody>
          <a:bodyPr anchorCtr="0" anchor="t" bIns="45700" lIns="45700" spcFirstLastPara="1" rIns="45700" wrap="square" tIns="45700">
            <a:noAutofit/>
          </a:bodyPr>
          <a:lstStyle/>
          <a:p>
            <a:pPr indent="0" lvl="0" marL="0" rtl="0" algn="ctr">
              <a:spcBef>
                <a:spcPts val="0"/>
              </a:spcBef>
              <a:spcAft>
                <a:spcPts val="0"/>
              </a:spcAft>
              <a:buNone/>
            </a:pPr>
            <a:r>
              <a:rPr lang="en"/>
              <a:t>DATA</a:t>
            </a:r>
            <a:endParaRPr/>
          </a:p>
        </p:txBody>
      </p:sp>
      <p:sp>
        <p:nvSpPr>
          <p:cNvPr id="1163" name="Google Shape;1163;p80"/>
          <p:cNvSpPr txBox="1"/>
          <p:nvPr>
            <p:ph idx="14" type="subTitle"/>
          </p:nvPr>
        </p:nvSpPr>
        <p:spPr>
          <a:xfrm rot="-5400000">
            <a:off x="476846"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04</a:t>
            </a:r>
            <a:endParaRPr/>
          </a:p>
        </p:txBody>
      </p:sp>
      <p:sp>
        <p:nvSpPr>
          <p:cNvPr id="1164" name="Google Shape;1164;p80"/>
          <p:cNvSpPr txBox="1"/>
          <p:nvPr>
            <p:ph idx="19" type="subTitle"/>
          </p:nvPr>
        </p:nvSpPr>
        <p:spPr>
          <a:xfrm rot="-5400000">
            <a:off x="8199475"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LOOKING AHEAD</a:t>
            </a:r>
            <a:endParaRPr/>
          </a:p>
          <a:p>
            <a:pPr indent="0" lvl="0" marL="0" rtl="0" algn="ctr">
              <a:spcBef>
                <a:spcPts val="0"/>
              </a:spcBef>
              <a:spcAft>
                <a:spcPts val="0"/>
              </a:spcAft>
              <a:buNone/>
            </a:pPr>
            <a:r>
              <a:t/>
            </a:r>
            <a:endParaRPr/>
          </a:p>
        </p:txBody>
      </p:sp>
      <p:sp>
        <p:nvSpPr>
          <p:cNvPr id="1165" name="Google Shape;1165;p80"/>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08</a:t>
            </a:r>
            <a:endParaRPr/>
          </a:p>
        </p:txBody>
      </p:sp>
      <p:sp>
        <p:nvSpPr>
          <p:cNvPr id="1166" name="Google Shape;1166;p80"/>
          <p:cNvSpPr/>
          <p:nvPr/>
        </p:nvSpPr>
        <p:spPr>
          <a:xfrm>
            <a:off x="1283325" y="-2850"/>
            <a:ext cx="71160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67" name="Google Shape;1167;p80"/>
          <p:cNvSpPr txBox="1"/>
          <p:nvPr>
            <p:ph idx="22"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
        <p:nvSpPr>
          <p:cNvPr id="1168" name="Google Shape;1168;p80"/>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07</a:t>
            </a:r>
            <a:endParaRPr/>
          </a:p>
        </p:txBody>
      </p:sp>
      <p:sp>
        <p:nvSpPr>
          <p:cNvPr id="1169" name="Google Shape;1169;p80"/>
          <p:cNvSpPr txBox="1"/>
          <p:nvPr>
            <p:ph idx="26" type="subTitle"/>
          </p:nvPr>
        </p:nvSpPr>
        <p:spPr>
          <a:xfrm rot="-5400000">
            <a:off x="7761250" y="2371650"/>
            <a:ext cx="1642800" cy="4002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MISSING PIECES</a:t>
            </a:r>
            <a:endParaRPr/>
          </a:p>
          <a:p>
            <a:pPr indent="0" lvl="0" marL="0" rtl="0" algn="ctr">
              <a:spcBef>
                <a:spcPts val="0"/>
              </a:spcBef>
              <a:spcAft>
                <a:spcPts val="0"/>
              </a:spcAft>
              <a:buNone/>
            </a:pPr>
            <a:r>
              <a:t/>
            </a:r>
            <a:endParaRPr/>
          </a:p>
        </p:txBody>
      </p:sp>
      <p:sp>
        <p:nvSpPr>
          <p:cNvPr id="1170" name="Google Shape;1170;p80"/>
          <p:cNvSpPr txBox="1"/>
          <p:nvPr>
            <p:ph idx="25"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06</a:t>
            </a:r>
            <a:endParaRPr/>
          </a:p>
        </p:txBody>
      </p:sp>
      <p:sp>
        <p:nvSpPr>
          <p:cNvPr id="1171" name="Google Shape;1171;p80"/>
          <p:cNvSpPr txBox="1"/>
          <p:nvPr>
            <p:ph idx="17" type="subTitle"/>
          </p:nvPr>
        </p:nvSpPr>
        <p:spPr>
          <a:xfrm rot="-5400000">
            <a:off x="-172129"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QUESTION</a:t>
            </a:r>
            <a:endParaRPr/>
          </a:p>
        </p:txBody>
      </p:sp>
      <p:sp>
        <p:nvSpPr>
          <p:cNvPr id="1172" name="Google Shape;1172;p80"/>
          <p:cNvSpPr txBox="1"/>
          <p:nvPr>
            <p:ph type="title"/>
          </p:nvPr>
        </p:nvSpPr>
        <p:spPr>
          <a:xfrm>
            <a:off x="1618225" y="114300"/>
            <a:ext cx="6685200" cy="1416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45F06"/>
                </a:solidFill>
              </a:rPr>
              <a:t>data</a:t>
            </a:r>
            <a:endParaRPr>
              <a:solidFill>
                <a:srgbClr val="B45F06"/>
              </a:solidFill>
            </a:endParaRPr>
          </a:p>
        </p:txBody>
      </p:sp>
      <p:sp>
        <p:nvSpPr>
          <p:cNvPr id="1173" name="Google Shape;1173;p80"/>
          <p:cNvSpPr txBox="1"/>
          <p:nvPr>
            <p:ph idx="28" type="subTitle"/>
          </p:nvPr>
        </p:nvSpPr>
        <p:spPr>
          <a:xfrm rot="-5400000">
            <a:off x="724200"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05</a:t>
            </a:r>
            <a:endParaRPr/>
          </a:p>
        </p:txBody>
      </p:sp>
      <p:sp>
        <p:nvSpPr>
          <p:cNvPr id="1174" name="Google Shape;1174;p80"/>
          <p:cNvSpPr txBox="1"/>
          <p:nvPr>
            <p:ph idx="29" type="subTitle"/>
          </p:nvPr>
        </p:nvSpPr>
        <p:spPr>
          <a:xfrm rot="-5400000">
            <a:off x="420538" y="2371650"/>
            <a:ext cx="1642800" cy="4002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OBSTACLE</a:t>
            </a:r>
            <a:endParaRPr/>
          </a:p>
          <a:p>
            <a:pPr indent="0" lvl="0" marL="0" rtl="0" algn="ctr">
              <a:spcBef>
                <a:spcPts val="0"/>
              </a:spcBef>
              <a:spcAft>
                <a:spcPts val="0"/>
              </a:spcAft>
              <a:buNone/>
            </a:pPr>
            <a:r>
              <a:t/>
            </a:r>
            <a:endParaRPr/>
          </a:p>
        </p:txBody>
      </p:sp>
      <p:sp>
        <p:nvSpPr>
          <p:cNvPr id="1175" name="Google Shape;1175;p80"/>
          <p:cNvSpPr txBox="1"/>
          <p:nvPr/>
        </p:nvSpPr>
        <p:spPr>
          <a:xfrm>
            <a:off x="1545450" y="-5475"/>
            <a:ext cx="580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Roboto Light"/>
                <a:ea typeface="Roboto Light"/>
                <a:cs typeface="Roboto Light"/>
                <a:sym typeface="Roboto Light"/>
              </a:rPr>
              <a:t>ACKNOWLEDGE that research papers confirmed this missing data. We are the only open-source study to investigate the link between homelessness and mental healthcare. That was a big discovery.</a:t>
            </a:r>
            <a:endParaRPr sz="1000">
              <a:solidFill>
                <a:srgbClr val="FF0000"/>
              </a:solidFill>
              <a:latin typeface="Roboto Light"/>
              <a:ea typeface="Roboto Light"/>
              <a:cs typeface="Roboto Light"/>
              <a:sym typeface="Roboto Light"/>
            </a:endParaRPr>
          </a:p>
        </p:txBody>
      </p:sp>
      <p:sp>
        <p:nvSpPr>
          <p:cNvPr id="1176" name="Google Shape;1176;p80"/>
          <p:cNvSpPr txBox="1"/>
          <p:nvPr>
            <p:ph idx="4294967295" type="subTitle"/>
          </p:nvPr>
        </p:nvSpPr>
        <p:spPr>
          <a:xfrm>
            <a:off x="1630326" y="2543375"/>
            <a:ext cx="23007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500"/>
              <a:t>homelessness</a:t>
            </a:r>
            <a:endParaRPr sz="2500"/>
          </a:p>
        </p:txBody>
      </p:sp>
      <p:sp>
        <p:nvSpPr>
          <p:cNvPr id="1177" name="Google Shape;1177;p80"/>
          <p:cNvSpPr txBox="1"/>
          <p:nvPr>
            <p:ph idx="2" type="subTitle"/>
          </p:nvPr>
        </p:nvSpPr>
        <p:spPr>
          <a:xfrm>
            <a:off x="3930950" y="2543375"/>
            <a:ext cx="2088000" cy="538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healthcare </a:t>
            </a:r>
            <a:endParaRPr/>
          </a:p>
        </p:txBody>
      </p:sp>
      <p:sp>
        <p:nvSpPr>
          <p:cNvPr id="1178" name="Google Shape;1178;p80"/>
          <p:cNvSpPr txBox="1"/>
          <p:nvPr>
            <p:ph idx="1" type="subTitle"/>
          </p:nvPr>
        </p:nvSpPr>
        <p:spPr>
          <a:xfrm>
            <a:off x="6231588" y="2543375"/>
            <a:ext cx="2088000" cy="4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geography</a:t>
            </a:r>
            <a:endParaRPr/>
          </a:p>
        </p:txBody>
      </p:sp>
      <p:sp>
        <p:nvSpPr>
          <p:cNvPr id="1179" name="Google Shape;1179;p80"/>
          <p:cNvSpPr txBox="1"/>
          <p:nvPr>
            <p:ph idx="4294967295" type="subTitle"/>
          </p:nvPr>
        </p:nvSpPr>
        <p:spPr>
          <a:xfrm>
            <a:off x="1630313" y="2998375"/>
            <a:ext cx="2223900" cy="1416000"/>
          </a:xfrm>
          <a:prstGeom prst="rect">
            <a:avLst/>
          </a:prstGeom>
        </p:spPr>
        <p:txBody>
          <a:bodyPr anchorCtr="0" anchor="t" bIns="91425" lIns="91425" spcFirstLastPara="1" rIns="91425" wrap="square" tIns="91425">
            <a:spAutoFit/>
          </a:bodyPr>
          <a:lstStyle/>
          <a:p>
            <a:pPr indent="-292100" lvl="0" marL="457200" rtl="0" algn="l">
              <a:spcBef>
                <a:spcPts val="0"/>
              </a:spcBef>
              <a:spcAft>
                <a:spcPts val="0"/>
              </a:spcAft>
              <a:buSzPts val="1000"/>
              <a:buChar char="●"/>
            </a:pPr>
            <a:r>
              <a:rPr lang="en"/>
              <a:t>HUD/New Mexico Coalition to End Homelessness Point-in-Time counts</a:t>
            </a:r>
            <a:endParaRPr/>
          </a:p>
          <a:p>
            <a:pPr indent="-292100" lvl="0" marL="457200" rtl="0" algn="l">
              <a:spcBef>
                <a:spcPts val="0"/>
              </a:spcBef>
              <a:spcAft>
                <a:spcPts val="0"/>
              </a:spcAft>
              <a:buSzPts val="1000"/>
              <a:buChar char="●"/>
            </a:pPr>
            <a:r>
              <a:rPr lang="en"/>
              <a:t>Albuquerque CoC and “Balance-of-State” CoC for PIT counts</a:t>
            </a:r>
            <a:endParaRPr/>
          </a:p>
          <a:p>
            <a:pPr indent="-292100" lvl="0" marL="457200" rtl="0" algn="l">
              <a:spcBef>
                <a:spcPts val="0"/>
              </a:spcBef>
              <a:spcAft>
                <a:spcPts val="0"/>
              </a:spcAft>
              <a:buSzPts val="1000"/>
              <a:buChar char="●"/>
            </a:pPr>
            <a:r>
              <a:rPr lang="en"/>
              <a:t>Aggregate counts, not individual outcomes</a:t>
            </a:r>
            <a:endParaRPr/>
          </a:p>
        </p:txBody>
      </p:sp>
      <p:sp>
        <p:nvSpPr>
          <p:cNvPr id="1180" name="Google Shape;1180;p80"/>
          <p:cNvSpPr txBox="1"/>
          <p:nvPr>
            <p:ph idx="27" type="subTitle"/>
          </p:nvPr>
        </p:nvSpPr>
        <p:spPr>
          <a:xfrm>
            <a:off x="3999500" y="3033300"/>
            <a:ext cx="2163600" cy="1108200"/>
          </a:xfrm>
          <a:prstGeom prst="rect">
            <a:avLst/>
          </a:prstGeom>
        </p:spPr>
        <p:txBody>
          <a:bodyPr anchorCtr="0" anchor="t" bIns="73150" lIns="91425" spcFirstLastPara="1" rIns="91425" wrap="square" tIns="73150">
            <a:noAutofit/>
          </a:bodyPr>
          <a:lstStyle/>
          <a:p>
            <a:pPr indent="-279400" lvl="0" marL="457200" rtl="0" algn="l">
              <a:spcBef>
                <a:spcPts val="0"/>
              </a:spcBef>
              <a:spcAft>
                <a:spcPts val="0"/>
              </a:spcAft>
              <a:buSzPts val="800"/>
              <a:buChar char="●"/>
            </a:pPr>
            <a:r>
              <a:rPr lang="en"/>
              <a:t>County Health Rankings</a:t>
            </a:r>
            <a:endParaRPr/>
          </a:p>
          <a:p>
            <a:pPr indent="-279400" lvl="0" marL="457200" rtl="0" algn="l">
              <a:spcBef>
                <a:spcPts val="0"/>
              </a:spcBef>
              <a:spcAft>
                <a:spcPts val="0"/>
              </a:spcAft>
              <a:buSzPts val="800"/>
              <a:buChar char="●"/>
            </a:pPr>
            <a:r>
              <a:rPr lang="en"/>
              <a:t>Provider locations and population measures</a:t>
            </a:r>
            <a:endParaRPr/>
          </a:p>
          <a:p>
            <a:pPr indent="-279400" lvl="0" marL="457200" rtl="0" algn="l">
              <a:spcBef>
                <a:spcPts val="0"/>
              </a:spcBef>
              <a:spcAft>
                <a:spcPts val="0"/>
              </a:spcAft>
              <a:buSzPts val="800"/>
              <a:buChar char="●"/>
            </a:pPr>
            <a:r>
              <a:rPr lang="en"/>
              <a:t>Availability, not actual service use</a:t>
            </a:r>
            <a:endParaRPr/>
          </a:p>
          <a:p>
            <a:pPr indent="0" lvl="0" marL="0" rtl="0" algn="l">
              <a:spcBef>
                <a:spcPts val="0"/>
              </a:spcBef>
              <a:spcAft>
                <a:spcPts val="0"/>
              </a:spcAft>
              <a:buNone/>
            </a:pPr>
            <a:r>
              <a:t/>
            </a:r>
            <a:endParaRPr/>
          </a:p>
        </p:txBody>
      </p:sp>
      <p:sp>
        <p:nvSpPr>
          <p:cNvPr id="1181" name="Google Shape;1181;p80"/>
          <p:cNvSpPr txBox="1"/>
          <p:nvPr>
            <p:ph idx="28" type="subTitle"/>
          </p:nvPr>
        </p:nvSpPr>
        <p:spPr>
          <a:xfrm>
            <a:off x="6231588" y="2998375"/>
            <a:ext cx="2060400" cy="954300"/>
          </a:xfrm>
          <a:prstGeom prst="rect">
            <a:avLst/>
          </a:prstGeom>
        </p:spPr>
        <p:txBody>
          <a:bodyPr anchorCtr="0" anchor="t" bIns="73150" lIns="91425" spcFirstLastPara="1" rIns="91425" wrap="square" tIns="73150">
            <a:noAutofit/>
          </a:bodyPr>
          <a:lstStyle/>
          <a:p>
            <a:pPr indent="-279400" lvl="0" marL="457200" rtl="0" algn="r">
              <a:spcBef>
                <a:spcPts val="0"/>
              </a:spcBef>
              <a:spcAft>
                <a:spcPts val="0"/>
              </a:spcAft>
              <a:buSzPts val="800"/>
              <a:buChar char="●"/>
            </a:pPr>
            <a:r>
              <a:rPr lang="en"/>
              <a:t>County vs. CoC reporting</a:t>
            </a:r>
            <a:endParaRPr/>
          </a:p>
          <a:p>
            <a:pPr indent="-279400" lvl="0" marL="457200" rtl="0" algn="r">
              <a:spcBef>
                <a:spcPts val="0"/>
              </a:spcBef>
              <a:spcAft>
                <a:spcPts val="0"/>
              </a:spcAft>
              <a:buSzPts val="800"/>
              <a:buChar char="●"/>
            </a:pPr>
            <a:r>
              <a:rPr lang="en"/>
              <a:t>Different boundaries and populations</a:t>
            </a:r>
            <a:endParaRPr/>
          </a:p>
          <a:p>
            <a:pPr indent="-279400" lvl="0" marL="457200" rtl="0" algn="r">
              <a:spcBef>
                <a:spcPts val="0"/>
              </a:spcBef>
              <a:spcAft>
                <a:spcPts val="0"/>
              </a:spcAft>
              <a:buSzPts val="800"/>
              <a:buChar char="●"/>
            </a:pPr>
            <a:r>
              <a:rPr lang="en"/>
              <a:t>No reliable direct linkage</a:t>
            </a:r>
            <a:endParaRPr/>
          </a:p>
          <a:p>
            <a:pPr indent="0" lvl="0" marL="0" rtl="0" algn="r">
              <a:spcBef>
                <a:spcPts val="0"/>
              </a:spcBef>
              <a:spcAft>
                <a:spcPts val="0"/>
              </a:spcAft>
              <a:buNone/>
            </a:pPr>
            <a:r>
              <a:t/>
            </a:r>
            <a:endParaRPr/>
          </a:p>
        </p:txBody>
      </p:sp>
      <p:sp>
        <p:nvSpPr>
          <p:cNvPr id="1182" name="Google Shape;1182;p80"/>
          <p:cNvSpPr txBox="1"/>
          <p:nvPr/>
        </p:nvSpPr>
        <p:spPr>
          <a:xfrm>
            <a:off x="1505011" y="1463100"/>
            <a:ext cx="6677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Roboto Light"/>
                <a:ea typeface="Roboto Light"/>
                <a:cs typeface="Roboto Light"/>
                <a:sym typeface="Roboto Light"/>
              </a:rPr>
              <a:t>Discovery, selection, and initial data analysis</a:t>
            </a:r>
            <a:endParaRPr sz="1900">
              <a:solidFill>
                <a:schemeClr val="lt1"/>
              </a:solidFill>
              <a:latin typeface="Roboto Light"/>
              <a:ea typeface="Roboto Light"/>
              <a:cs typeface="Roboto Light"/>
              <a:sym typeface="Roboto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1186" name="Shape 1186"/>
        <p:cNvGrpSpPr/>
        <p:nvPr/>
      </p:nvGrpSpPr>
      <p:grpSpPr>
        <a:xfrm>
          <a:off x="0" y="0"/>
          <a:ext cx="0" cy="0"/>
          <a:chOff x="0" y="0"/>
          <a:chExt cx="0" cy="0"/>
        </a:xfrm>
      </p:grpSpPr>
      <p:sp>
        <p:nvSpPr>
          <p:cNvPr id="1187" name="Google Shape;1187;p81"/>
          <p:cNvSpPr/>
          <p:nvPr/>
        </p:nvSpPr>
        <p:spPr>
          <a:xfrm>
            <a:off x="258475" y="-2850"/>
            <a:ext cx="73332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88" name="Google Shape;1188;p81"/>
          <p:cNvSpPr/>
          <p:nvPr/>
        </p:nvSpPr>
        <p:spPr>
          <a:xfrm>
            <a:off x="7361250" y="0"/>
            <a:ext cx="260400" cy="51435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89" name="Google Shape;1189;p81"/>
          <p:cNvSpPr/>
          <p:nvPr/>
        </p:nvSpPr>
        <p:spPr>
          <a:xfrm>
            <a:off x="7614725" y="75"/>
            <a:ext cx="260400" cy="5143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0" name="Google Shape;1190;p81"/>
          <p:cNvSpPr/>
          <p:nvPr/>
        </p:nvSpPr>
        <p:spPr>
          <a:xfrm>
            <a:off x="7868225" y="-5475"/>
            <a:ext cx="260400" cy="5149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1" name="Google Shape;1191;p81"/>
          <p:cNvSpPr/>
          <p:nvPr/>
        </p:nvSpPr>
        <p:spPr>
          <a:xfrm>
            <a:off x="8121725"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2" name="Google Shape;1192;p81"/>
          <p:cNvSpPr/>
          <p:nvPr/>
        </p:nvSpPr>
        <p:spPr>
          <a:xfrm>
            <a:off x="8882200" y="-5475"/>
            <a:ext cx="266700" cy="5149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3" name="Google Shape;1193;p81"/>
          <p:cNvSpPr/>
          <p:nvPr/>
        </p:nvSpPr>
        <p:spPr>
          <a:xfrm>
            <a:off x="8628700" y="-5475"/>
            <a:ext cx="2604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4" name="Google Shape;1194;p81"/>
          <p:cNvSpPr/>
          <p:nvPr/>
        </p:nvSpPr>
        <p:spPr>
          <a:xfrm>
            <a:off x="8375200" y="-5475"/>
            <a:ext cx="260400" cy="51492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195" name="Google Shape;1195;p81"/>
          <p:cNvSpPr txBox="1"/>
          <p:nvPr>
            <p:ph idx="2" type="subTitle"/>
          </p:nvPr>
        </p:nvSpPr>
        <p:spPr>
          <a:xfrm>
            <a:off x="571350" y="3157790"/>
            <a:ext cx="3272400" cy="446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700"/>
              <a:t>Stakeholder</a:t>
            </a:r>
            <a:r>
              <a:rPr lang="en" sz="1700"/>
              <a:t>-informed research</a:t>
            </a:r>
            <a:endParaRPr sz="1700"/>
          </a:p>
        </p:txBody>
      </p:sp>
      <p:sp>
        <p:nvSpPr>
          <p:cNvPr id="1196" name="Google Shape;1196;p81"/>
          <p:cNvSpPr txBox="1"/>
          <p:nvPr>
            <p:ph idx="1" type="subTitle"/>
          </p:nvPr>
        </p:nvSpPr>
        <p:spPr>
          <a:xfrm>
            <a:off x="571350" y="3519068"/>
            <a:ext cx="3575700" cy="985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Investigating what public data can—and cannot—tell us about healthcare access and housing stability in New Mexico. </a:t>
            </a:r>
            <a:r>
              <a:rPr lang="en"/>
              <a:t>  </a:t>
            </a:r>
            <a:endParaRPr/>
          </a:p>
          <a:p>
            <a:pPr indent="0" lvl="0" marL="0" rtl="0" algn="l">
              <a:spcBef>
                <a:spcPts val="0"/>
              </a:spcBef>
              <a:spcAft>
                <a:spcPts val="0"/>
              </a:spcAft>
              <a:buNone/>
            </a:pPr>
            <a:r>
              <a:t/>
            </a:r>
            <a:endParaRPr>
              <a:solidFill>
                <a:srgbClr val="0A2D27"/>
              </a:solidFill>
            </a:endParaRPr>
          </a:p>
        </p:txBody>
      </p:sp>
      <p:sp>
        <p:nvSpPr>
          <p:cNvPr id="1197" name="Google Shape;1197;p81"/>
          <p:cNvSpPr txBox="1"/>
          <p:nvPr>
            <p:ph idx="3" type="subTitle"/>
          </p:nvPr>
        </p:nvSpPr>
        <p:spPr>
          <a:xfrm>
            <a:off x="4478200" y="3121978"/>
            <a:ext cx="2665500" cy="178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CNM Ingenuity Deep Dive Data Science Bootcamp Capstone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Eljay Smith</a:t>
            </a:r>
            <a:endParaRPr/>
          </a:p>
          <a:p>
            <a:pPr indent="0" lvl="0" marL="0" rtl="0" algn="l">
              <a:spcBef>
                <a:spcPts val="0"/>
              </a:spcBef>
              <a:spcAft>
                <a:spcPts val="0"/>
              </a:spcAft>
              <a:buNone/>
            </a:pPr>
            <a:r>
              <a:rPr lang="en"/>
              <a:t>Raven Otero-Symphony</a:t>
            </a:r>
            <a:endParaRPr/>
          </a:p>
          <a:p>
            <a:pPr indent="0" lvl="0" marL="0" rtl="0" algn="l">
              <a:spcBef>
                <a:spcPts val="0"/>
              </a:spcBef>
              <a:spcAft>
                <a:spcPts val="0"/>
              </a:spcAft>
              <a:buNone/>
            </a:pPr>
            <a:r>
              <a:rPr lang="en"/>
              <a:t>Celeste Fischer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6.26.2026</a:t>
            </a:r>
            <a:endParaRPr/>
          </a:p>
        </p:txBody>
      </p:sp>
      <p:sp>
        <p:nvSpPr>
          <p:cNvPr id="1198" name="Google Shape;1198;p81"/>
          <p:cNvSpPr txBox="1"/>
          <p:nvPr>
            <p:ph type="title"/>
          </p:nvPr>
        </p:nvSpPr>
        <p:spPr>
          <a:xfrm>
            <a:off x="467225" y="304425"/>
            <a:ext cx="6615600" cy="1323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7400">
                <a:solidFill>
                  <a:srgbClr val="B45F06"/>
                </a:solidFill>
              </a:rPr>
              <a:t>homelessness,</a:t>
            </a:r>
            <a:endParaRPr sz="7400">
              <a:solidFill>
                <a:srgbClr val="B45F06"/>
              </a:solidFill>
            </a:endParaRPr>
          </a:p>
        </p:txBody>
      </p:sp>
      <p:sp>
        <p:nvSpPr>
          <p:cNvPr id="1199" name="Google Shape;1199;p81"/>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solidFill>
                  <a:srgbClr val="FDFAF3"/>
                </a:solidFill>
              </a:rPr>
              <a:t>01</a:t>
            </a:r>
            <a:endParaRPr>
              <a:solidFill>
                <a:srgbClr val="FDFAF3"/>
              </a:solidFill>
            </a:endParaRPr>
          </a:p>
        </p:txBody>
      </p:sp>
      <p:sp>
        <p:nvSpPr>
          <p:cNvPr id="1200" name="Google Shape;1200;p81"/>
          <p:cNvSpPr txBox="1"/>
          <p:nvPr>
            <p:ph idx="26" type="subTitle"/>
          </p:nvPr>
        </p:nvSpPr>
        <p:spPr>
          <a:xfrm rot="-5400000">
            <a:off x="-694050" y="2443800"/>
            <a:ext cx="1644000" cy="255900"/>
          </a:xfrm>
          <a:prstGeom prst="rect">
            <a:avLst/>
          </a:prstGeom>
          <a:ln cap="flat" cmpd="sng" w="9525">
            <a:solidFill>
              <a:srgbClr val="B45F06"/>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DFAF3"/>
                </a:solidFill>
              </a:rPr>
              <a:t>BACKGROUND</a:t>
            </a:r>
            <a:endParaRPr>
              <a:solidFill>
                <a:srgbClr val="FDFAF3"/>
              </a:solidFill>
            </a:endParaRPr>
          </a:p>
        </p:txBody>
      </p:sp>
      <p:sp>
        <p:nvSpPr>
          <p:cNvPr id="1201" name="Google Shape;1201;p81"/>
          <p:cNvSpPr txBox="1"/>
          <p:nvPr>
            <p:ph idx="27" type="subTitle"/>
          </p:nvPr>
        </p:nvSpPr>
        <p:spPr>
          <a:xfrm rot="-5400000">
            <a:off x="6668850" y="2448450"/>
            <a:ext cx="1642800" cy="2466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APPROACH</a:t>
            </a:r>
            <a:endParaRPr/>
          </a:p>
        </p:txBody>
      </p:sp>
      <p:sp>
        <p:nvSpPr>
          <p:cNvPr id="1202" name="Google Shape;1202;p81"/>
          <p:cNvSpPr txBox="1"/>
          <p:nvPr>
            <p:ph idx="7" type="subTitle"/>
          </p:nvPr>
        </p:nvSpPr>
        <p:spPr>
          <a:xfrm rot="-5400000">
            <a:off x="7071825" y="328625"/>
            <a:ext cx="8223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02</a:t>
            </a:r>
            <a:endParaRPr/>
          </a:p>
        </p:txBody>
      </p:sp>
      <p:sp>
        <p:nvSpPr>
          <p:cNvPr id="1203" name="Google Shape;1203;p81"/>
          <p:cNvSpPr txBox="1"/>
          <p:nvPr>
            <p:ph idx="28" type="subTitle"/>
          </p:nvPr>
        </p:nvSpPr>
        <p:spPr>
          <a:xfrm rot="-5400000">
            <a:off x="6930126" y="2447400"/>
            <a:ext cx="1642800" cy="2487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QUESTION</a:t>
            </a:r>
            <a:endParaRPr/>
          </a:p>
        </p:txBody>
      </p:sp>
      <p:sp>
        <p:nvSpPr>
          <p:cNvPr id="1204" name="Google Shape;1204;p81"/>
          <p:cNvSpPr txBox="1"/>
          <p:nvPr>
            <p:ph idx="9" type="subTitle"/>
          </p:nvPr>
        </p:nvSpPr>
        <p:spPr>
          <a:xfrm rot="-5400000">
            <a:off x="7294517"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03</a:t>
            </a:r>
            <a:endParaRPr/>
          </a:p>
        </p:txBody>
      </p:sp>
      <p:sp>
        <p:nvSpPr>
          <p:cNvPr id="1205" name="Google Shape;1205;p81"/>
          <p:cNvSpPr txBox="1"/>
          <p:nvPr>
            <p:ph idx="14" type="subTitle"/>
          </p:nvPr>
        </p:nvSpPr>
        <p:spPr>
          <a:xfrm rot="-5400000">
            <a:off x="7170763" y="2436750"/>
            <a:ext cx="1645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DATA</a:t>
            </a:r>
            <a:endParaRPr/>
          </a:p>
        </p:txBody>
      </p:sp>
      <p:sp>
        <p:nvSpPr>
          <p:cNvPr id="1206" name="Google Shape;1206;p81"/>
          <p:cNvSpPr txBox="1"/>
          <p:nvPr>
            <p:ph idx="15" type="subTitle"/>
          </p:nvPr>
        </p:nvSpPr>
        <p:spPr>
          <a:xfrm rot="-5400000">
            <a:off x="7548008"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04</a:t>
            </a:r>
            <a:endParaRPr/>
          </a:p>
        </p:txBody>
      </p:sp>
      <p:sp>
        <p:nvSpPr>
          <p:cNvPr id="1207" name="Google Shape;1207;p81"/>
          <p:cNvSpPr txBox="1"/>
          <p:nvPr>
            <p:ph idx="29" type="subTitle"/>
          </p:nvPr>
        </p:nvSpPr>
        <p:spPr>
          <a:xfrm rot="-5400000">
            <a:off x="7420888"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OBSTACLE</a:t>
            </a:r>
            <a:endParaRPr/>
          </a:p>
        </p:txBody>
      </p:sp>
      <p:sp>
        <p:nvSpPr>
          <p:cNvPr id="1208" name="Google Shape;1208;p81"/>
          <p:cNvSpPr txBox="1"/>
          <p:nvPr>
            <p:ph idx="17" type="subTitle"/>
          </p:nvPr>
        </p:nvSpPr>
        <p:spPr>
          <a:xfrm rot="-5400000">
            <a:off x="7801500"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05</a:t>
            </a:r>
            <a:endParaRPr/>
          </a:p>
        </p:txBody>
      </p:sp>
      <p:sp>
        <p:nvSpPr>
          <p:cNvPr id="1209" name="Google Shape;1209;p81"/>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LOOKING AHEAD</a:t>
            </a:r>
            <a:endParaRPr/>
          </a:p>
        </p:txBody>
      </p:sp>
      <p:sp>
        <p:nvSpPr>
          <p:cNvPr id="1210" name="Google Shape;1210;p81"/>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08</a:t>
            </a:r>
            <a:endParaRPr/>
          </a:p>
        </p:txBody>
      </p:sp>
      <p:sp>
        <p:nvSpPr>
          <p:cNvPr id="1211" name="Google Shape;1211;p81"/>
          <p:cNvSpPr txBox="1"/>
          <p:nvPr>
            <p:ph idx="22"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WHY IT MATTERS</a:t>
            </a:r>
            <a:endParaRPr/>
          </a:p>
        </p:txBody>
      </p:sp>
      <p:sp>
        <p:nvSpPr>
          <p:cNvPr id="1212" name="Google Shape;1212;p81"/>
          <p:cNvSpPr txBox="1"/>
          <p:nvPr>
            <p:ph idx="23" type="subTitle"/>
          </p:nvPr>
        </p:nvSpPr>
        <p:spPr>
          <a:xfrm rot="-5400000">
            <a:off x="8308483"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07</a:t>
            </a:r>
            <a:endParaRPr/>
          </a:p>
        </p:txBody>
      </p:sp>
      <p:sp>
        <p:nvSpPr>
          <p:cNvPr id="1213" name="Google Shape;1213;p81"/>
          <p:cNvSpPr txBox="1"/>
          <p:nvPr>
            <p:ph idx="30" type="subTitle"/>
          </p:nvPr>
        </p:nvSpPr>
        <p:spPr>
          <a:xfrm rot="-5400000">
            <a:off x="7684296" y="2448600"/>
            <a:ext cx="1642800" cy="246300"/>
          </a:xfrm>
          <a:prstGeom prst="rect">
            <a:avLst/>
          </a:prstGeom>
        </p:spPr>
        <p:txBody>
          <a:bodyPr anchorCtr="0" anchor="t" bIns="45700" lIns="45700" spcFirstLastPara="1" rIns="45700" wrap="square" tIns="45700">
            <a:spAutoFit/>
          </a:bodyPr>
          <a:lstStyle/>
          <a:p>
            <a:pPr indent="0" lvl="0" marL="0" rtl="0" algn="ctr">
              <a:spcBef>
                <a:spcPts val="0"/>
              </a:spcBef>
              <a:spcAft>
                <a:spcPts val="0"/>
              </a:spcAft>
              <a:buNone/>
            </a:pPr>
            <a:r>
              <a:rPr lang="en"/>
              <a:t>MISSING PIECES</a:t>
            </a:r>
            <a:endParaRPr/>
          </a:p>
        </p:txBody>
      </p:sp>
      <p:sp>
        <p:nvSpPr>
          <p:cNvPr id="1214" name="Google Shape;1214;p81"/>
          <p:cNvSpPr txBox="1"/>
          <p:nvPr>
            <p:ph idx="25" type="subTitle"/>
          </p:nvPr>
        </p:nvSpPr>
        <p:spPr>
          <a:xfrm rot="-5400000">
            <a:off x="8054992"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06</a:t>
            </a:r>
            <a:endParaRPr/>
          </a:p>
        </p:txBody>
      </p:sp>
      <p:sp>
        <p:nvSpPr>
          <p:cNvPr id="1215" name="Google Shape;1215;p81"/>
          <p:cNvSpPr txBox="1"/>
          <p:nvPr>
            <p:ph idx="2" type="subTitle"/>
          </p:nvPr>
        </p:nvSpPr>
        <p:spPr>
          <a:xfrm>
            <a:off x="467225" y="1369452"/>
            <a:ext cx="5110500" cy="10119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t>healthcare access,</a:t>
            </a:r>
            <a:endParaRPr sz="2500"/>
          </a:p>
          <a:p>
            <a:pPr indent="0" lvl="0" marL="0" rtl="0" algn="l">
              <a:lnSpc>
                <a:spcPct val="115000"/>
              </a:lnSpc>
              <a:spcBef>
                <a:spcPts val="0"/>
              </a:spcBef>
              <a:spcAft>
                <a:spcPts val="0"/>
              </a:spcAft>
              <a:buNone/>
            </a:pPr>
            <a:r>
              <a:rPr lang="en" sz="2500"/>
              <a:t>and the limits of public data.</a:t>
            </a:r>
            <a:endParaRPr sz="2500"/>
          </a:p>
        </p:txBody>
      </p:sp>
      <p:cxnSp>
        <p:nvCxnSpPr>
          <p:cNvPr id="1216" name="Google Shape;1216;p81"/>
          <p:cNvCxnSpPr/>
          <p:nvPr/>
        </p:nvCxnSpPr>
        <p:spPr>
          <a:xfrm>
            <a:off x="4566979" y="3689650"/>
            <a:ext cx="2433000" cy="6900"/>
          </a:xfrm>
          <a:prstGeom prst="straightConnector1">
            <a:avLst/>
          </a:prstGeom>
          <a:noFill/>
          <a:ln cap="flat" cmpd="sng" w="28575">
            <a:solidFill>
              <a:srgbClr val="B45F06"/>
            </a:solidFill>
            <a:prstDash val="solid"/>
            <a:round/>
            <a:headEnd len="med" w="med" type="none"/>
            <a:tailEnd len="med" w="med" type="none"/>
          </a:ln>
        </p:spPr>
      </p:cxnSp>
      <p:sp>
        <p:nvSpPr>
          <p:cNvPr id="1217" name="Google Shape;1217;p81"/>
          <p:cNvSpPr txBox="1"/>
          <p:nvPr/>
        </p:nvSpPr>
        <p:spPr>
          <a:xfrm>
            <a:off x="579700" y="-355925"/>
            <a:ext cx="6089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Roboto Light"/>
                <a:ea typeface="Roboto Light"/>
                <a:cs typeface="Roboto Light"/>
                <a:sym typeface="Roboto Light"/>
              </a:rPr>
              <a:t>Colors not final</a:t>
            </a:r>
            <a:endParaRPr sz="1000">
              <a:solidFill>
                <a:srgbClr val="FF0000"/>
              </a:solidFill>
              <a:latin typeface="Roboto Light"/>
              <a:ea typeface="Roboto Light"/>
              <a:cs typeface="Roboto Light"/>
              <a:sym typeface="Roboto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221" name="Shape 1221"/>
        <p:cNvGrpSpPr/>
        <p:nvPr/>
      </p:nvGrpSpPr>
      <p:grpSpPr>
        <a:xfrm>
          <a:off x="0" y="0"/>
          <a:ext cx="0" cy="0"/>
          <a:chOff x="0" y="0"/>
          <a:chExt cx="0" cy="0"/>
        </a:xfrm>
      </p:grpSpPr>
      <p:sp>
        <p:nvSpPr>
          <p:cNvPr id="1222" name="Google Shape;1222;p82"/>
          <p:cNvSpPr/>
          <p:nvPr/>
        </p:nvSpPr>
        <p:spPr>
          <a:xfrm>
            <a:off x="535800" y="-2775"/>
            <a:ext cx="7081200" cy="5149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223" name="Google Shape;1223;p82"/>
          <p:cNvSpPr/>
          <p:nvPr/>
        </p:nvSpPr>
        <p:spPr>
          <a:xfrm>
            <a:off x="270850" y="1150"/>
            <a:ext cx="8392500" cy="5149200"/>
          </a:xfrm>
          <a:prstGeom prst="rect">
            <a:avLst/>
          </a:prstGeom>
          <a:solidFill>
            <a:srgbClr val="FDFA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224" name="Google Shape;1224;p82"/>
          <p:cNvSpPr/>
          <p:nvPr/>
        </p:nvSpPr>
        <p:spPr>
          <a:xfrm>
            <a:off x="8882200" y="-5475"/>
            <a:ext cx="266700" cy="514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225" name="Google Shape;1225;p82"/>
          <p:cNvSpPr/>
          <p:nvPr/>
        </p:nvSpPr>
        <p:spPr>
          <a:xfrm>
            <a:off x="8628700" y="-5475"/>
            <a:ext cx="260400" cy="5149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226" name="Google Shape;1226;p82"/>
          <p:cNvSpPr txBox="1"/>
          <p:nvPr>
            <p:ph idx="4" type="subTitle"/>
          </p:nvPr>
        </p:nvSpPr>
        <p:spPr>
          <a:xfrm rot="-5400000">
            <a:off x="-283500" y="328925"/>
            <a:ext cx="8229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t>01</a:t>
            </a:r>
            <a:endParaRPr/>
          </a:p>
        </p:txBody>
      </p:sp>
      <p:sp>
        <p:nvSpPr>
          <p:cNvPr id="1227" name="Google Shape;1227;p82"/>
          <p:cNvSpPr txBox="1"/>
          <p:nvPr>
            <p:ph idx="25" type="subTitle"/>
          </p:nvPr>
        </p:nvSpPr>
        <p:spPr>
          <a:xfrm rot="-5400000">
            <a:off x="-694050" y="2443800"/>
            <a:ext cx="16440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INTRO</a:t>
            </a:r>
            <a:endParaRPr/>
          </a:p>
        </p:txBody>
      </p:sp>
      <p:sp>
        <p:nvSpPr>
          <p:cNvPr id="1228" name="Google Shape;1228;p82"/>
          <p:cNvSpPr txBox="1"/>
          <p:nvPr>
            <p:ph idx="20" type="subTitle"/>
          </p:nvPr>
        </p:nvSpPr>
        <p:spPr>
          <a:xfrm rot="-5400000">
            <a:off x="8572825" y="36237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03</a:t>
            </a:r>
            <a:endParaRPr b="1"/>
          </a:p>
        </p:txBody>
      </p:sp>
      <p:sp>
        <p:nvSpPr>
          <p:cNvPr id="1229" name="Google Shape;1229;p82"/>
          <p:cNvSpPr txBox="1"/>
          <p:nvPr>
            <p:ph idx="21" type="subTitle"/>
          </p:nvPr>
        </p:nvSpPr>
        <p:spPr>
          <a:xfrm rot="-5400000">
            <a:off x="793750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ASSESSMENT</a:t>
            </a:r>
            <a:endParaRPr/>
          </a:p>
        </p:txBody>
      </p:sp>
      <p:sp>
        <p:nvSpPr>
          <p:cNvPr id="1230" name="Google Shape;1230;p82"/>
          <p:cNvSpPr txBox="1"/>
          <p:nvPr>
            <p:ph idx="22" type="subTitle"/>
          </p:nvPr>
        </p:nvSpPr>
        <p:spPr>
          <a:xfrm rot="-5400000">
            <a:off x="8303720" y="366125"/>
            <a:ext cx="896100" cy="2484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b="1" lang="en"/>
              <a:t>02</a:t>
            </a:r>
            <a:endParaRPr b="1"/>
          </a:p>
        </p:txBody>
      </p:sp>
      <p:sp>
        <p:nvSpPr>
          <p:cNvPr id="1231" name="Google Shape;1231;p82"/>
          <p:cNvSpPr/>
          <p:nvPr/>
        </p:nvSpPr>
        <p:spPr>
          <a:xfrm>
            <a:off x="10446" y="1150"/>
            <a:ext cx="260400" cy="51492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endParaRPr>
          </a:p>
        </p:txBody>
      </p:sp>
      <p:sp>
        <p:nvSpPr>
          <p:cNvPr id="1232" name="Google Shape;1232;p82"/>
          <p:cNvSpPr txBox="1"/>
          <p:nvPr>
            <p:ph idx="9" type="subTitle"/>
          </p:nvPr>
        </p:nvSpPr>
        <p:spPr>
          <a:xfrm rot="-5400000">
            <a:off x="-337785" y="367925"/>
            <a:ext cx="896100" cy="255900"/>
          </a:xfrm>
          <a:prstGeom prst="rect">
            <a:avLst/>
          </a:prstGeom>
        </p:spPr>
        <p:txBody>
          <a:bodyPr anchorCtr="0" anchor="t" bIns="73150" lIns="91425" spcFirstLastPara="1" rIns="91425" wrap="square" tIns="73150">
            <a:noAutofit/>
          </a:bodyPr>
          <a:lstStyle/>
          <a:p>
            <a:pPr indent="0" lvl="0" marL="0" rtl="0" algn="r">
              <a:spcBef>
                <a:spcPts val="0"/>
              </a:spcBef>
              <a:spcAft>
                <a:spcPts val="0"/>
              </a:spcAft>
              <a:buNone/>
            </a:pPr>
            <a:r>
              <a:rPr lang="en">
                <a:solidFill>
                  <a:srgbClr val="FFFFFF"/>
                </a:solidFill>
              </a:rPr>
              <a:t>01</a:t>
            </a:r>
            <a:endParaRPr>
              <a:solidFill>
                <a:srgbClr val="FFFFFF"/>
              </a:solidFill>
            </a:endParaRPr>
          </a:p>
        </p:txBody>
      </p:sp>
      <p:sp>
        <p:nvSpPr>
          <p:cNvPr id="1233" name="Google Shape;1233;p82"/>
          <p:cNvSpPr txBox="1"/>
          <p:nvPr>
            <p:ph idx="27" type="subTitle"/>
          </p:nvPr>
        </p:nvSpPr>
        <p:spPr>
          <a:xfrm rot="-5400000">
            <a:off x="-678594" y="2443800"/>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solidFill>
                  <a:srgbClr val="FFFFFF"/>
                </a:solidFill>
              </a:rPr>
              <a:t>BACKGROUND</a:t>
            </a:r>
            <a:endParaRPr>
              <a:solidFill>
                <a:srgbClr val="FFFFFF"/>
              </a:solidFill>
            </a:endParaRPr>
          </a:p>
        </p:txBody>
      </p:sp>
      <p:sp>
        <p:nvSpPr>
          <p:cNvPr id="1234" name="Google Shape;1234;p82"/>
          <p:cNvSpPr txBox="1"/>
          <p:nvPr>
            <p:ph idx="19" type="subTitle"/>
          </p:nvPr>
        </p:nvSpPr>
        <p:spPr>
          <a:xfrm rot="-5400000">
            <a:off x="8188725" y="2443875"/>
            <a:ext cx="1642800" cy="255900"/>
          </a:xfrm>
          <a:prstGeom prst="rect">
            <a:avLst/>
          </a:prstGeom>
        </p:spPr>
        <p:txBody>
          <a:bodyPr anchorCtr="0" anchor="t" bIns="45700" lIns="45700" spcFirstLastPara="1" rIns="45700" wrap="square" tIns="45700">
            <a:noAutofit/>
          </a:bodyPr>
          <a:lstStyle/>
          <a:p>
            <a:pPr indent="0" lvl="0" marL="0" rtl="0" algn="ctr">
              <a:spcBef>
                <a:spcPts val="0"/>
              </a:spcBef>
              <a:spcAft>
                <a:spcPts val="0"/>
              </a:spcAft>
              <a:buNone/>
            </a:pPr>
            <a:r>
              <a:rPr lang="en"/>
              <a:t>RECOMMENDATIONS</a:t>
            </a:r>
            <a:endParaRPr/>
          </a:p>
        </p:txBody>
      </p:sp>
      <p:sp>
        <p:nvSpPr>
          <p:cNvPr id="1235" name="Google Shape;1235;p82"/>
          <p:cNvSpPr txBox="1"/>
          <p:nvPr>
            <p:ph idx="4294967295" type="subTitle"/>
          </p:nvPr>
        </p:nvSpPr>
        <p:spPr>
          <a:xfrm>
            <a:off x="919050" y="2764200"/>
            <a:ext cx="2303700" cy="56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1236" name="Google Shape;1236;p82"/>
          <p:cNvSpPr txBox="1"/>
          <p:nvPr>
            <p:ph idx="4294967295" type="title"/>
          </p:nvPr>
        </p:nvSpPr>
        <p:spPr>
          <a:xfrm>
            <a:off x="535823" y="47825"/>
            <a:ext cx="6064200" cy="1138500"/>
          </a:xfrm>
          <a:prstGeom prst="rect">
            <a:avLst/>
          </a:prstGeom>
        </p:spPr>
        <p:txBody>
          <a:bodyPr anchorCtr="0" anchor="t" bIns="84550" lIns="84550" spcFirstLastPara="1" rIns="84550" wrap="square" tIns="84550">
            <a:spAutoFit/>
          </a:bodyPr>
          <a:lstStyle/>
          <a:p>
            <a:pPr indent="0" lvl="0" marL="0" rtl="0" algn="l">
              <a:spcBef>
                <a:spcPts val="0"/>
              </a:spcBef>
              <a:spcAft>
                <a:spcPts val="0"/>
              </a:spcAft>
              <a:buNone/>
            </a:pPr>
            <a:r>
              <a:rPr lang="en" sz="6287">
                <a:solidFill>
                  <a:srgbClr val="B45F06"/>
                </a:solidFill>
              </a:rPr>
              <a:t>the context</a:t>
            </a:r>
            <a:endParaRPr sz="5455">
              <a:solidFill>
                <a:srgbClr val="B45F06"/>
              </a:solidFill>
            </a:endParaRPr>
          </a:p>
        </p:txBody>
      </p:sp>
      <p:sp>
        <p:nvSpPr>
          <p:cNvPr id="1237" name="Google Shape;1237;p82"/>
          <p:cNvSpPr txBox="1"/>
          <p:nvPr>
            <p:ph idx="4294967295" type="subTitle"/>
          </p:nvPr>
        </p:nvSpPr>
        <p:spPr>
          <a:xfrm>
            <a:off x="535800" y="933809"/>
            <a:ext cx="7081200" cy="437700"/>
          </a:xfrm>
          <a:prstGeom prst="rect">
            <a:avLst/>
          </a:prstGeom>
        </p:spPr>
        <p:txBody>
          <a:bodyPr anchorCtr="0" anchor="t" bIns="84550" lIns="84550" spcFirstLastPara="1" rIns="84550" wrap="square" tIns="84550">
            <a:spAutoFit/>
          </a:bodyPr>
          <a:lstStyle/>
          <a:p>
            <a:pPr indent="0" lvl="0" marL="0" rtl="0" algn="l">
              <a:spcBef>
                <a:spcPts val="0"/>
              </a:spcBef>
              <a:spcAft>
                <a:spcPts val="0"/>
              </a:spcAft>
              <a:buNone/>
            </a:pPr>
            <a:r>
              <a:rPr lang="en" sz="1734"/>
              <a:t>o</a:t>
            </a:r>
            <a:r>
              <a:rPr lang="en" sz="1734"/>
              <a:t>ur question focused on one relationship within a larger system</a:t>
            </a:r>
            <a:endParaRPr sz="1734"/>
          </a:p>
        </p:txBody>
      </p:sp>
      <p:sp>
        <p:nvSpPr>
          <p:cNvPr id="1238" name="Google Shape;1238;p82"/>
          <p:cNvSpPr/>
          <p:nvPr/>
        </p:nvSpPr>
        <p:spPr>
          <a:xfrm>
            <a:off x="6682412" y="1186325"/>
            <a:ext cx="1669200" cy="1119300"/>
          </a:xfrm>
          <a:prstGeom prst="ellipse">
            <a:avLst/>
          </a:prstGeom>
          <a:solidFill>
            <a:srgbClr val="EFEFEF"/>
          </a:solidFill>
          <a:ln cap="flat" cmpd="sng" w="952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999999"/>
                </a:solidFill>
                <a:latin typeface="Roboto"/>
                <a:ea typeface="Roboto"/>
                <a:cs typeface="Roboto"/>
                <a:sym typeface="Roboto"/>
              </a:rPr>
              <a:t>Housing Services</a:t>
            </a:r>
            <a:endParaRPr b="1" sz="1435">
              <a:solidFill>
                <a:srgbClr val="999999"/>
              </a:solidFill>
              <a:latin typeface="Roboto"/>
              <a:ea typeface="Roboto"/>
              <a:cs typeface="Roboto"/>
              <a:sym typeface="Roboto"/>
            </a:endParaRPr>
          </a:p>
        </p:txBody>
      </p:sp>
      <p:sp>
        <p:nvSpPr>
          <p:cNvPr id="1239" name="Google Shape;1239;p82"/>
          <p:cNvSpPr/>
          <p:nvPr/>
        </p:nvSpPr>
        <p:spPr>
          <a:xfrm>
            <a:off x="6682405" y="2517521"/>
            <a:ext cx="1669200" cy="1119300"/>
          </a:xfrm>
          <a:prstGeom prst="ellipse">
            <a:avLst/>
          </a:prstGeom>
          <a:solidFill>
            <a:srgbClr val="EFEFEF"/>
          </a:solidFill>
          <a:ln cap="flat" cmpd="sng" w="952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999999"/>
                </a:solidFill>
                <a:latin typeface="Roboto"/>
                <a:ea typeface="Roboto"/>
                <a:cs typeface="Roboto"/>
                <a:sym typeface="Roboto"/>
              </a:rPr>
              <a:t>Justice &amp; reentry</a:t>
            </a:r>
            <a:endParaRPr b="1" sz="1435">
              <a:solidFill>
                <a:srgbClr val="999999"/>
              </a:solidFill>
              <a:latin typeface="Roboto"/>
              <a:ea typeface="Roboto"/>
              <a:cs typeface="Roboto"/>
              <a:sym typeface="Roboto"/>
            </a:endParaRPr>
          </a:p>
        </p:txBody>
      </p:sp>
      <p:sp>
        <p:nvSpPr>
          <p:cNvPr id="1240" name="Google Shape;1240;p82"/>
          <p:cNvSpPr/>
          <p:nvPr/>
        </p:nvSpPr>
        <p:spPr>
          <a:xfrm>
            <a:off x="3600513" y="1820725"/>
            <a:ext cx="2234400" cy="2142000"/>
          </a:xfrm>
          <a:prstGeom prst="ellipse">
            <a:avLst/>
          </a:prstGeom>
          <a:solidFill>
            <a:srgbClr val="B45F06"/>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FFFF"/>
                </a:solidFill>
                <a:latin typeface="Roboto"/>
                <a:ea typeface="Roboto"/>
                <a:cs typeface="Roboto"/>
                <a:sym typeface="Roboto"/>
              </a:rPr>
              <a:t>HOUSING STABILITY</a:t>
            </a:r>
            <a:endParaRPr b="1" sz="2200">
              <a:solidFill>
                <a:srgbClr val="FFFFFF"/>
              </a:solidFill>
              <a:latin typeface="Roboto"/>
              <a:ea typeface="Roboto"/>
              <a:cs typeface="Roboto"/>
              <a:sym typeface="Roboto"/>
            </a:endParaRPr>
          </a:p>
        </p:txBody>
      </p:sp>
      <p:sp>
        <p:nvSpPr>
          <p:cNvPr id="1241" name="Google Shape;1241;p82"/>
          <p:cNvSpPr/>
          <p:nvPr/>
        </p:nvSpPr>
        <p:spPr>
          <a:xfrm>
            <a:off x="5902479" y="3823775"/>
            <a:ext cx="1617000" cy="1084500"/>
          </a:xfrm>
          <a:prstGeom prst="ellipse">
            <a:avLst/>
          </a:prstGeom>
          <a:solidFill>
            <a:srgbClr val="EFEFEF"/>
          </a:solidFill>
          <a:ln cap="flat" cmpd="sng" w="952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999999"/>
                </a:solidFill>
                <a:latin typeface="Roboto"/>
                <a:ea typeface="Roboto"/>
                <a:cs typeface="Roboto"/>
                <a:sym typeface="Roboto"/>
              </a:rPr>
              <a:t>Primary</a:t>
            </a:r>
            <a:endParaRPr b="1" sz="1435">
              <a:solidFill>
                <a:srgbClr val="999999"/>
              </a:solidFill>
              <a:latin typeface="Roboto"/>
              <a:ea typeface="Roboto"/>
              <a:cs typeface="Roboto"/>
              <a:sym typeface="Roboto"/>
            </a:endParaRPr>
          </a:p>
          <a:p>
            <a:pPr indent="0" lvl="0" marL="0" rtl="0" algn="ctr">
              <a:spcBef>
                <a:spcPts val="0"/>
              </a:spcBef>
              <a:spcAft>
                <a:spcPts val="0"/>
              </a:spcAft>
              <a:buNone/>
            </a:pPr>
            <a:r>
              <a:rPr b="1" lang="en" sz="1435">
                <a:solidFill>
                  <a:srgbClr val="999999"/>
                </a:solidFill>
                <a:latin typeface="Roboto"/>
                <a:ea typeface="Roboto"/>
                <a:cs typeface="Roboto"/>
                <a:sym typeface="Roboto"/>
              </a:rPr>
              <a:t>Healthcare</a:t>
            </a:r>
            <a:endParaRPr b="1" sz="1435">
              <a:solidFill>
                <a:srgbClr val="999999"/>
              </a:solidFill>
              <a:latin typeface="Roboto"/>
              <a:ea typeface="Roboto"/>
              <a:cs typeface="Roboto"/>
              <a:sym typeface="Roboto"/>
            </a:endParaRPr>
          </a:p>
        </p:txBody>
      </p:sp>
      <p:sp>
        <p:nvSpPr>
          <p:cNvPr id="1242" name="Google Shape;1242;p82"/>
          <p:cNvSpPr/>
          <p:nvPr/>
        </p:nvSpPr>
        <p:spPr>
          <a:xfrm>
            <a:off x="535800" y="1481150"/>
            <a:ext cx="1955100" cy="1084500"/>
          </a:xfrm>
          <a:prstGeom prst="ellipse">
            <a:avLst/>
          </a:prstGeom>
          <a:solidFill>
            <a:srgbClr val="EFEFEF"/>
          </a:solidFill>
          <a:ln cap="flat" cmpd="sng" w="952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999999"/>
                </a:solidFill>
                <a:latin typeface="Roboto"/>
                <a:ea typeface="Roboto"/>
                <a:cs typeface="Roboto"/>
                <a:sym typeface="Roboto"/>
              </a:rPr>
              <a:t>Transportation</a:t>
            </a:r>
            <a:endParaRPr b="1" sz="1435">
              <a:solidFill>
                <a:srgbClr val="999999"/>
              </a:solidFill>
              <a:latin typeface="Roboto"/>
              <a:ea typeface="Roboto"/>
              <a:cs typeface="Roboto"/>
              <a:sym typeface="Roboto"/>
            </a:endParaRPr>
          </a:p>
        </p:txBody>
      </p:sp>
      <p:sp>
        <p:nvSpPr>
          <p:cNvPr id="1243" name="Google Shape;1243;p82"/>
          <p:cNvSpPr/>
          <p:nvPr/>
        </p:nvSpPr>
        <p:spPr>
          <a:xfrm>
            <a:off x="408925" y="2660025"/>
            <a:ext cx="1734900" cy="1119300"/>
          </a:xfrm>
          <a:prstGeom prst="ellipse">
            <a:avLst/>
          </a:prstGeom>
          <a:solidFill>
            <a:srgbClr val="EFEFEF"/>
          </a:solidFill>
          <a:ln cap="flat" cmpd="sng" w="952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999999"/>
                </a:solidFill>
                <a:latin typeface="Roboto"/>
                <a:ea typeface="Roboto"/>
                <a:cs typeface="Roboto"/>
                <a:sym typeface="Roboto"/>
              </a:rPr>
              <a:t>Income &amp;  Benefits</a:t>
            </a:r>
            <a:endParaRPr b="1" sz="1435">
              <a:solidFill>
                <a:srgbClr val="999999"/>
              </a:solidFill>
              <a:latin typeface="Roboto"/>
              <a:ea typeface="Roboto"/>
              <a:cs typeface="Roboto"/>
              <a:sym typeface="Roboto"/>
            </a:endParaRPr>
          </a:p>
        </p:txBody>
      </p:sp>
      <p:sp>
        <p:nvSpPr>
          <p:cNvPr id="1244" name="Google Shape;1244;p82"/>
          <p:cNvSpPr/>
          <p:nvPr/>
        </p:nvSpPr>
        <p:spPr>
          <a:xfrm>
            <a:off x="1361675" y="3662075"/>
            <a:ext cx="2856300" cy="1407900"/>
          </a:xfrm>
          <a:prstGeom prst="ellipse">
            <a:avLst/>
          </a:prstGeom>
          <a:solidFill>
            <a:srgbClr val="FFFFFF"/>
          </a:solidFill>
          <a:ln cap="flat" cmpd="sng" w="28575">
            <a:solidFill>
              <a:srgbClr val="B45F06"/>
            </a:solidFill>
            <a:prstDash val="solid"/>
            <a:round/>
            <a:headEnd len="sm" w="sm" type="none"/>
            <a:tailEnd len="sm" w="sm" type="none"/>
          </a:ln>
        </p:spPr>
        <p:txBody>
          <a:bodyPr anchorCtr="0" anchor="ctr" bIns="54625" lIns="54625" spcFirstLastPara="1" rIns="54625" wrap="square" tIns="54625">
            <a:noAutofit/>
          </a:bodyPr>
          <a:lstStyle/>
          <a:p>
            <a:pPr indent="0" lvl="0" marL="0" rtl="0" algn="ctr">
              <a:spcBef>
                <a:spcPts val="0"/>
              </a:spcBef>
              <a:spcAft>
                <a:spcPts val="0"/>
              </a:spcAft>
              <a:buNone/>
            </a:pPr>
            <a:r>
              <a:rPr b="1" lang="en" sz="1435">
                <a:solidFill>
                  <a:srgbClr val="434343"/>
                </a:solidFill>
                <a:latin typeface="Roboto"/>
                <a:ea typeface="Roboto"/>
                <a:cs typeface="Roboto"/>
                <a:sym typeface="Roboto"/>
              </a:rPr>
              <a:t>Behavioral, Psychiatric</a:t>
            </a:r>
            <a:r>
              <a:rPr b="1" lang="en" sz="1435">
                <a:solidFill>
                  <a:srgbClr val="434343"/>
                </a:solidFill>
                <a:latin typeface="Roboto"/>
                <a:ea typeface="Roboto"/>
                <a:cs typeface="Roboto"/>
                <a:sym typeface="Roboto"/>
              </a:rPr>
              <a:t> &amp; Substance Use Treatment Access</a:t>
            </a:r>
            <a:endParaRPr b="1" sz="1435">
              <a:solidFill>
                <a:srgbClr val="434343"/>
              </a:solidFill>
              <a:latin typeface="Roboto"/>
              <a:ea typeface="Roboto"/>
              <a:cs typeface="Roboto"/>
              <a:sym typeface="Roboto"/>
            </a:endParaRPr>
          </a:p>
        </p:txBody>
      </p:sp>
      <p:cxnSp>
        <p:nvCxnSpPr>
          <p:cNvPr id="1245" name="Google Shape;1245;p82"/>
          <p:cNvCxnSpPr>
            <a:stCxn id="1242" idx="6"/>
            <a:endCxn id="1240" idx="1"/>
          </p:cNvCxnSpPr>
          <p:nvPr/>
        </p:nvCxnSpPr>
        <p:spPr>
          <a:xfrm>
            <a:off x="2490900" y="2023400"/>
            <a:ext cx="1436700" cy="111000"/>
          </a:xfrm>
          <a:prstGeom prst="straightConnector1">
            <a:avLst/>
          </a:prstGeom>
          <a:noFill/>
          <a:ln cap="flat" cmpd="sng" w="19050">
            <a:solidFill>
              <a:srgbClr val="666666"/>
            </a:solidFill>
            <a:prstDash val="solid"/>
            <a:round/>
            <a:headEnd len="med" w="med" type="none"/>
            <a:tailEnd len="med" w="med" type="none"/>
          </a:ln>
        </p:spPr>
      </p:cxnSp>
      <p:cxnSp>
        <p:nvCxnSpPr>
          <p:cNvPr id="1246" name="Google Shape;1246;p82"/>
          <p:cNvCxnSpPr>
            <a:stCxn id="1243" idx="6"/>
            <a:endCxn id="1240" idx="2"/>
          </p:cNvCxnSpPr>
          <p:nvPr/>
        </p:nvCxnSpPr>
        <p:spPr>
          <a:xfrm flipH="1" rot="10800000">
            <a:off x="2143825" y="2891775"/>
            <a:ext cx="1456800" cy="327900"/>
          </a:xfrm>
          <a:prstGeom prst="straightConnector1">
            <a:avLst/>
          </a:prstGeom>
          <a:noFill/>
          <a:ln cap="flat" cmpd="sng" w="19050">
            <a:solidFill>
              <a:srgbClr val="666666"/>
            </a:solidFill>
            <a:prstDash val="solid"/>
            <a:round/>
            <a:headEnd len="med" w="med" type="none"/>
            <a:tailEnd len="med" w="med" type="none"/>
          </a:ln>
        </p:spPr>
      </p:cxnSp>
      <p:cxnSp>
        <p:nvCxnSpPr>
          <p:cNvPr id="1247" name="Google Shape;1247;p82"/>
          <p:cNvCxnSpPr>
            <a:stCxn id="1240" idx="7"/>
            <a:endCxn id="1238" idx="2"/>
          </p:cNvCxnSpPr>
          <p:nvPr/>
        </p:nvCxnSpPr>
        <p:spPr>
          <a:xfrm flipH="1" rot="10800000">
            <a:off x="5507692" y="1745914"/>
            <a:ext cx="1174800" cy="388500"/>
          </a:xfrm>
          <a:prstGeom prst="straightConnector1">
            <a:avLst/>
          </a:prstGeom>
          <a:noFill/>
          <a:ln cap="flat" cmpd="sng" w="19050">
            <a:solidFill>
              <a:srgbClr val="666666"/>
            </a:solidFill>
            <a:prstDash val="solid"/>
            <a:round/>
            <a:headEnd len="med" w="med" type="none"/>
            <a:tailEnd len="med" w="med" type="none"/>
          </a:ln>
        </p:spPr>
      </p:cxnSp>
      <p:cxnSp>
        <p:nvCxnSpPr>
          <p:cNvPr id="1248" name="Google Shape;1248;p82"/>
          <p:cNvCxnSpPr>
            <a:stCxn id="1244" idx="7"/>
            <a:endCxn id="1240" idx="3"/>
          </p:cNvCxnSpPr>
          <p:nvPr/>
        </p:nvCxnSpPr>
        <p:spPr>
          <a:xfrm flipH="1" rot="10800000">
            <a:off x="3799680" y="3648957"/>
            <a:ext cx="128100" cy="219300"/>
          </a:xfrm>
          <a:prstGeom prst="straightConnector1">
            <a:avLst/>
          </a:prstGeom>
          <a:noFill/>
          <a:ln cap="flat" cmpd="sng" w="76200">
            <a:solidFill>
              <a:srgbClr val="B45F06"/>
            </a:solidFill>
            <a:prstDash val="solid"/>
            <a:round/>
            <a:headEnd len="med" w="med" type="none"/>
            <a:tailEnd len="med" w="med" type="none"/>
          </a:ln>
        </p:spPr>
      </p:cxnSp>
      <p:cxnSp>
        <p:nvCxnSpPr>
          <p:cNvPr id="1249" name="Google Shape;1249;p82"/>
          <p:cNvCxnSpPr>
            <a:stCxn id="1240" idx="6"/>
            <a:endCxn id="1239" idx="2"/>
          </p:cNvCxnSpPr>
          <p:nvPr/>
        </p:nvCxnSpPr>
        <p:spPr>
          <a:xfrm>
            <a:off x="5834913" y="2891725"/>
            <a:ext cx="847500" cy="185400"/>
          </a:xfrm>
          <a:prstGeom prst="straightConnector1">
            <a:avLst/>
          </a:prstGeom>
          <a:noFill/>
          <a:ln cap="flat" cmpd="sng" w="19050">
            <a:solidFill>
              <a:srgbClr val="666666"/>
            </a:solidFill>
            <a:prstDash val="solid"/>
            <a:round/>
            <a:headEnd len="med" w="med" type="none"/>
            <a:tailEnd len="med" w="med" type="none"/>
          </a:ln>
        </p:spPr>
      </p:cxnSp>
      <p:cxnSp>
        <p:nvCxnSpPr>
          <p:cNvPr id="1250" name="Google Shape;1250;p82"/>
          <p:cNvCxnSpPr>
            <a:stCxn id="1240" idx="5"/>
            <a:endCxn id="1241" idx="1"/>
          </p:cNvCxnSpPr>
          <p:nvPr/>
        </p:nvCxnSpPr>
        <p:spPr>
          <a:xfrm>
            <a:off x="5507692" y="3649036"/>
            <a:ext cx="631500" cy="3336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Event Facilitation">
  <a:themeElements>
    <a:clrScheme name="Simple Light">
      <a:dk1>
        <a:srgbClr val="F0EBD9"/>
      </a:dk1>
      <a:lt1>
        <a:srgbClr val="0E101A"/>
      </a:lt1>
      <a:dk2>
        <a:srgbClr val="FEFFAA"/>
      </a:dk2>
      <a:lt2>
        <a:srgbClr val="799B7A"/>
      </a:lt2>
      <a:accent1>
        <a:srgbClr val="B9E1DB"/>
      </a:accent1>
      <a:accent2>
        <a:srgbClr val="F55802"/>
      </a:accent2>
      <a:accent3>
        <a:srgbClr val="EFA3B1"/>
      </a:accent3>
      <a:accent4>
        <a:srgbClr val="F2D519"/>
      </a:accent4>
      <a:accent5>
        <a:srgbClr val="B6D5C6"/>
      </a:accent5>
      <a:accent6>
        <a:srgbClr val="41658A"/>
      </a:accent6>
      <a:hlink>
        <a:srgbClr val="6F259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